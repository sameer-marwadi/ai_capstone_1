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22"/>
  </p:notesMasterIdLst>
  <p:sldIdLst>
    <p:sldId id="256" r:id="rId7"/>
    <p:sldId id="4418" r:id="rId8"/>
    <p:sldId id="4387" r:id="rId9"/>
    <p:sldId id="4389" r:id="rId10"/>
    <p:sldId id="4440" r:id="rId11"/>
    <p:sldId id="4379" r:id="rId12"/>
    <p:sldId id="4439" r:id="rId13"/>
    <p:sldId id="4437" r:id="rId14"/>
    <p:sldId id="4444" r:id="rId15"/>
    <p:sldId id="4442" r:id="rId16"/>
    <p:sldId id="4443" r:id="rId17"/>
    <p:sldId id="4441" r:id="rId18"/>
    <p:sldId id="4436" r:id="rId19"/>
    <p:sldId id="4394" r:id="rId20"/>
    <p:sldId id="444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D3BCF-1652-4C84-921F-49B27197C18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BA4BD-EFF5-4F28-B5B1-DAE91D676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38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6BE02D-20C0-F840-AFAC-BEA99C74FD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Light" charset="0"/>
                <a:ea typeface="+mn-ea"/>
                <a:cs typeface="+mn-cs"/>
              </a:rPr>
              <a:pPr marL="0" marR="0" lvl="0" indent="0" algn="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Light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970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1D7F-3E5D-BA26-5278-D2B4A2734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CC6B3-5DFA-E001-5D89-B083B0CD0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114D6-119D-9EEC-B2BE-A8D0B79E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18FDC-734A-CAF3-F7BF-C9AE368B7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3A5BD-57B1-D6FE-2EB8-581006BC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54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EA25-205A-5F6D-0B64-7DDE1B85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A7B1C-2967-E04B-FD38-27E558450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F5F2F-AEE6-4C65-4C13-4762B51D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06B84-9926-4626-1475-F1924348A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08B8A-6038-2793-79F8-B4FE6956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1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9079-FC6D-5F4C-77F2-C2028093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D94AF-B814-557B-9F85-DEEA75175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EB9D1-D298-9BB4-AC8E-A88D6A3B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78D5D-91AA-387A-10CC-F075FC617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D0064-3505-F7BB-15AE-8C913625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9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38CC-591A-817A-DF9B-F64ADA13A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43313-2992-881E-95D9-575DB7B7B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839F0-7A6A-EFB8-1256-2B62C7184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882FC-A6EF-42DA-98BF-A80320AA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AAB3A-E8F7-FBC8-3E8F-9E19F936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1E4EC-C278-78D0-CBB5-8CDC4B08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2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11DE-78A7-A8B7-540D-95D4E134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FD10B-DB19-AC86-3425-FBFDEF2B4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45BDE-D933-5FFC-EA55-16F187432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69850-DE4F-56F5-53D0-91CEA22EC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2FA3C9-7436-B3D7-8061-761D420F3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00CF7-B406-8DFC-2E76-4FC5031B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083EF-0F2B-6E25-71B9-D126F1E0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6CCEA-F98A-461E-C6B2-84F10556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3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3DAF-D7AC-0A7C-301A-C3DE4B5FA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F6DCE-2C20-5BA9-3B14-23885E7D4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1155-0776-61B6-7CCC-6DF46FAA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CA37B-6C00-339D-5F72-6EB9AF15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8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524E7-DA6D-206E-562B-6013AAB4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33B729-DA77-466A-185D-B6970D51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BFCFB-3A23-4A24-1CA6-1DCABBED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AA291-3853-A2A0-1A7F-8EFACC9E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58787-244E-6433-991A-6137D13F9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DB7FC-E49B-BFDC-351B-69C62BB29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BD92C-E62B-335C-91F5-57D58518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07E6D-93DC-54DE-A950-2DFE4086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0FA5F-25DE-13D4-45CA-AB35CE15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62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A85E-0CE4-B245-1A74-5F0251D70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70515-FD0A-6584-0F58-98C7EB98A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74886-FD0E-EE85-AFD0-2A334E0AB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EAD06-6FA8-7282-109D-06F945BE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4E6C9-802A-8DE2-7BFB-367508A0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5AAD0-4B5D-DD1F-F5EE-10652261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6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84BC-FAEB-2CB8-1BB4-2212B259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9729C-C349-5495-248E-63E89F0AA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E3B20-9245-08BE-F06D-0E4275BA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BFFD1-793F-2568-1FBF-6B4962C5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7701C-5735-676F-F1C5-7A45F415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8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7EE37-EAF4-A73D-1943-9FC8788F3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9B935-B9DD-869D-D812-71155430D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37D80-0DA5-81E2-A2A4-AE090E38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1F667-75C4-7ECF-B373-040EE6C2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5065C-9E90-A573-AF20-F9E4A0E6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87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163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637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557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834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35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DEB16B-231C-220A-9B98-9CA0E081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3FE32-2475-DD88-C55E-D9884FF11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CCCAE-61B9-ECC8-508C-23A35CFCB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E4781-6B38-49C9-BB7E-89B669075F0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77D5-B7FE-2CAB-F176-41B9F142B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8F12A-C13C-28B0-326F-691C6865E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704C6-433F-4DBA-AB08-D7F167BE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6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92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3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665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70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Lato Light" panose="020F0302020204030203" pitchFamily="34" charset="77"/>
              </a:defRPr>
            </a:lvl1pPr>
          </a:lstStyle>
          <a:p>
            <a:fld id="{C764DE79-268F-4C1A-8933-263129D2AF90}" type="datetimeFigureOut">
              <a:rPr lang="en-US" smtClean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Lato Light" panose="020F030202020403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Lato Light" panose="020F0302020204030203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3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b="0" i="0" kern="1200">
          <a:solidFill>
            <a:schemeClr val="tx1"/>
          </a:solidFill>
          <a:latin typeface="Lato Light" panose="020F0302020204030203" pitchFamily="34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302020204030203" pitchFamily="34" charset="77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302020204030203" pitchFamily="34" charset="77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302020204030203" pitchFamily="34" charset="77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302020204030203" pitchFamily="34" charset="77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302020204030203" pitchFamily="34" charset="77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obhanmoosavi/us-accidents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views/US_Accidents_SM_12122025/Main?:language=en-US&amp;:sid=&amp;:redirect=auth&amp;:display_count=n&amp;:origin=viz_share_link" TargetMode="External"/><Relationship Id="rId2" Type="http://schemas.openxmlformats.org/officeDocument/2006/relationships/hyperlink" Target="https://www.kaggle.com/datasets/sobhanmoosavi/us-accidents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sameer-marwadi/AI_Capstone_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5465B-A0CD-B910-921C-7AC0A3E99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7810"/>
            <a:ext cx="9144000" cy="896189"/>
          </a:xfrm>
          <a:solidFill>
            <a:srgbClr val="FF0000"/>
          </a:solidFill>
        </p:spPr>
        <p:txBody>
          <a:bodyPr>
            <a:normAutofit fontScale="90000"/>
          </a:bodyPr>
          <a:lstStyle/>
          <a:p>
            <a:r>
              <a:rPr lang="en-US" dirty="0"/>
              <a:t>US Accident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D639D-CD5B-4B29-7EFD-1C740EF6F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48995"/>
            <a:ext cx="9144000" cy="803185"/>
          </a:xfrm>
          <a:solidFill>
            <a:schemeClr val="accent1"/>
          </a:solidFill>
        </p:spPr>
        <p:txBody>
          <a:bodyPr>
            <a:normAutofit fontScale="92500" lnSpcReduction="10000"/>
          </a:bodyPr>
          <a:lstStyle/>
          <a:p>
            <a:r>
              <a:rPr lang="en-US" dirty="0"/>
              <a:t>SMU Capstone 1 </a:t>
            </a:r>
          </a:p>
          <a:p>
            <a:r>
              <a:rPr lang="en-US" dirty="0"/>
              <a:t>Presented by- Sameer Marwadi – 12/13/2025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835E0-F514-4CD5-120E-5C6A30D49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975" y="183565"/>
            <a:ext cx="1580350" cy="133999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D38D3DC-997A-3729-5646-1A431320B4D8}"/>
              </a:ext>
            </a:extLst>
          </p:cNvPr>
          <p:cNvSpPr txBox="1">
            <a:spLocks/>
          </p:cNvSpPr>
          <p:nvPr/>
        </p:nvSpPr>
        <p:spPr>
          <a:xfrm>
            <a:off x="1524000" y="4795357"/>
            <a:ext cx="9144000" cy="8031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Analysis Conducted via Python(Multiple Libraries) &amp;  Tableau- Frontend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93847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4422342" y="511095"/>
            <a:ext cx="33473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b="1" dirty="0">
                <a:solidFill>
                  <a:srgbClr val="364556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Our Agenda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1335742" y="1191656"/>
            <a:ext cx="952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US Accidents Analysis</a:t>
            </a:r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CBA02708-E3F0-7442-AC74-F3BA16FA6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448" y="11255360"/>
            <a:ext cx="362868" cy="447986"/>
          </a:xfrm>
          <a:custGeom>
            <a:avLst/>
            <a:gdLst>
              <a:gd name="T0" fmla="*/ 174 w 358"/>
              <a:gd name="T1" fmla="*/ 0 h 442"/>
              <a:gd name="T2" fmla="*/ 357 w 358"/>
              <a:gd name="T3" fmla="*/ 441 h 442"/>
              <a:gd name="T4" fmla="*/ 174 w 358"/>
              <a:gd name="T5" fmla="*/ 341 h 442"/>
              <a:gd name="T6" fmla="*/ 0 w 358"/>
              <a:gd name="T7" fmla="*/ 441 h 442"/>
              <a:gd name="T8" fmla="*/ 174 w 358"/>
              <a:gd name="T9" fmla="*/ 0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8" h="442">
                <a:moveTo>
                  <a:pt x="174" y="0"/>
                </a:moveTo>
                <a:lnTo>
                  <a:pt x="357" y="441"/>
                </a:lnTo>
                <a:lnTo>
                  <a:pt x="174" y="341"/>
                </a:lnTo>
                <a:lnTo>
                  <a:pt x="0" y="441"/>
                </a:lnTo>
                <a:lnTo>
                  <a:pt x="174" y="0"/>
                </a:ln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>
              <a:solidFill>
                <a:srgbClr val="999999"/>
              </a:solidFill>
              <a:latin typeface="Calibri" panose="020F0502020204030204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2E6C5D-7F64-E148-B87C-35E638C97F83}"/>
              </a:ext>
            </a:extLst>
          </p:cNvPr>
          <p:cNvGrpSpPr/>
          <p:nvPr/>
        </p:nvGrpSpPr>
        <p:grpSpPr>
          <a:xfrm>
            <a:off x="739452" y="2089605"/>
            <a:ext cx="10508219" cy="3057597"/>
            <a:chOff x="1635739" y="5715479"/>
            <a:chExt cx="21016438" cy="611519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45D1037-6001-3848-A1D3-05940545FC81}"/>
                </a:ext>
              </a:extLst>
            </p:cNvPr>
            <p:cNvGrpSpPr/>
            <p:nvPr/>
          </p:nvGrpSpPr>
          <p:grpSpPr>
            <a:xfrm>
              <a:off x="1635739" y="5835348"/>
              <a:ext cx="13638128" cy="5995323"/>
              <a:chOff x="1635739" y="5835348"/>
              <a:chExt cx="13638128" cy="599532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B1A035B-232F-C840-A93F-684BD29F46F5}"/>
                  </a:ext>
                </a:extLst>
              </p:cNvPr>
              <p:cNvGrpSpPr/>
              <p:nvPr/>
            </p:nvGrpSpPr>
            <p:grpSpPr>
              <a:xfrm>
                <a:off x="1635739" y="5835348"/>
                <a:ext cx="1406769" cy="1406769"/>
                <a:chOff x="1664677" y="5158154"/>
                <a:chExt cx="1406769" cy="1406769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3C324A91-DDA5-C34D-AB32-C413E2A4A8BD}"/>
                    </a:ext>
                  </a:extLst>
                </p:cNvPr>
                <p:cNvSpPr/>
                <p:nvPr/>
              </p:nvSpPr>
              <p:spPr>
                <a:xfrm>
                  <a:off x="1664677" y="5158154"/>
                  <a:ext cx="1406769" cy="1406769"/>
                </a:xfrm>
                <a:prstGeom prst="ellipse">
                  <a:avLst/>
                </a:prstGeom>
                <a:noFill/>
                <a:ln w="889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9B364BE-A51C-7847-9CC7-A5E846910B05}"/>
                    </a:ext>
                  </a:extLst>
                </p:cNvPr>
                <p:cNvSpPr/>
                <p:nvPr/>
              </p:nvSpPr>
              <p:spPr>
                <a:xfrm>
                  <a:off x="1876190" y="5369669"/>
                  <a:ext cx="983742" cy="98374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F9ED7C39-1290-284E-BB98-7C1FF0949926}"/>
                  </a:ext>
                </a:extLst>
              </p:cNvPr>
              <p:cNvGrpSpPr/>
              <p:nvPr/>
            </p:nvGrpSpPr>
            <p:grpSpPr>
              <a:xfrm>
                <a:off x="1635739" y="8075698"/>
                <a:ext cx="1406769" cy="1406769"/>
                <a:chOff x="1664677" y="5158154"/>
                <a:chExt cx="1406769" cy="1406769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F30C616-9052-2C4D-8FA6-033E1EDFE590}"/>
                    </a:ext>
                  </a:extLst>
                </p:cNvPr>
                <p:cNvSpPr/>
                <p:nvPr/>
              </p:nvSpPr>
              <p:spPr>
                <a:xfrm>
                  <a:off x="1664677" y="5158154"/>
                  <a:ext cx="1406769" cy="1406769"/>
                </a:xfrm>
                <a:prstGeom prst="ellipse">
                  <a:avLst/>
                </a:prstGeom>
                <a:noFill/>
                <a:ln w="889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06A2453-2FBE-124A-9BF3-AF35DFF9AAA1}"/>
                    </a:ext>
                  </a:extLst>
                </p:cNvPr>
                <p:cNvSpPr/>
                <p:nvPr/>
              </p:nvSpPr>
              <p:spPr>
                <a:xfrm>
                  <a:off x="1876190" y="5369669"/>
                  <a:ext cx="983742" cy="983740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36BD02C-EFE5-8F4D-9647-CF167972747A}"/>
                  </a:ext>
                </a:extLst>
              </p:cNvPr>
              <p:cNvGrpSpPr/>
              <p:nvPr/>
            </p:nvGrpSpPr>
            <p:grpSpPr>
              <a:xfrm>
                <a:off x="1635739" y="10316048"/>
                <a:ext cx="1406769" cy="1406769"/>
                <a:chOff x="1664677" y="5158154"/>
                <a:chExt cx="1406769" cy="1406769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CE3671C-0147-D24D-BA00-C66E1AD4A9A1}"/>
                    </a:ext>
                  </a:extLst>
                </p:cNvPr>
                <p:cNvSpPr/>
                <p:nvPr/>
              </p:nvSpPr>
              <p:spPr>
                <a:xfrm>
                  <a:off x="1664677" y="5158154"/>
                  <a:ext cx="1406769" cy="1406769"/>
                </a:xfrm>
                <a:prstGeom prst="ellipse">
                  <a:avLst/>
                </a:prstGeom>
                <a:noFill/>
                <a:ln w="889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1EBB1E5A-C6D8-7E45-9E89-F152B8EFAC19}"/>
                    </a:ext>
                  </a:extLst>
                </p:cNvPr>
                <p:cNvSpPr/>
                <p:nvPr/>
              </p:nvSpPr>
              <p:spPr>
                <a:xfrm>
                  <a:off x="1876190" y="5369669"/>
                  <a:ext cx="983742" cy="983740"/>
                </a:xfrm>
                <a:prstGeom prst="ellipse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2702231-54DA-894D-84E3-304993EB79D8}"/>
                  </a:ext>
                </a:extLst>
              </p:cNvPr>
              <p:cNvGrpSpPr/>
              <p:nvPr/>
            </p:nvGrpSpPr>
            <p:grpSpPr>
              <a:xfrm>
                <a:off x="3179505" y="5845491"/>
                <a:ext cx="12094362" cy="5985180"/>
                <a:chOff x="3179505" y="5769291"/>
                <a:chExt cx="12094362" cy="5985180"/>
              </a:xfrm>
            </p:grpSpPr>
            <p:sp>
              <p:nvSpPr>
                <p:cNvPr id="63" name="CuadroTexto 395">
                  <a:extLst>
                    <a:ext uri="{FF2B5EF4-FFF2-40B4-BE49-F238E27FC236}">
                      <a16:creationId xmlns:a16="http://schemas.microsoft.com/office/drawing/2014/main" id="{D9CC4AFD-6C01-5E4E-8ACA-081D2A0BFF86}"/>
                    </a:ext>
                  </a:extLst>
                </p:cNvPr>
                <p:cNvSpPr txBox="1"/>
                <p:nvPr/>
              </p:nvSpPr>
              <p:spPr>
                <a:xfrm flipH="1">
                  <a:off x="3462251" y="5769291"/>
                  <a:ext cx="4565148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1600" dirty="0">
                      <a:solidFill>
                        <a:srgbClr val="364556"/>
                      </a:solidFill>
                      <a:latin typeface="Roboto Medium" panose="02000000000000000000" pitchFamily="2" charset="0"/>
                      <a:ea typeface="Roboto Medium" panose="02000000000000000000" pitchFamily="2" charset="0"/>
                      <a:cs typeface="Lato Semibold" panose="020F0502020204030203" pitchFamily="34" charset="0"/>
                    </a:rPr>
                    <a:t>Brief Introduction </a:t>
                  </a:r>
                </a:p>
              </p:txBody>
            </p:sp>
            <p:sp>
              <p:nvSpPr>
                <p:cNvPr id="64" name="Rectangle 56">
                  <a:extLst>
                    <a:ext uri="{FF2B5EF4-FFF2-40B4-BE49-F238E27FC236}">
                      <a16:creationId xmlns:a16="http://schemas.microsoft.com/office/drawing/2014/main" id="{3A9A5119-E5AC-C841-AFA5-2C24ED75AB94}"/>
                    </a:ext>
                  </a:extLst>
                </p:cNvPr>
                <p:cNvSpPr/>
                <p:nvPr/>
              </p:nvSpPr>
              <p:spPr>
                <a:xfrm flipH="1">
                  <a:off x="3462251" y="6354067"/>
                  <a:ext cx="4514040" cy="5539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defTabSz="914217"/>
                  <a:r>
                    <a:rPr lang="en-US" sz="1200" dirty="0">
                      <a:solidFill>
                        <a:schemeClr val="tx2"/>
                      </a:solidFill>
                      <a:ea typeface="Lato Light" panose="020F0502020204030203" pitchFamily="34" charset="0"/>
                      <a:cs typeface="Lato Light" panose="020F0502020204030203" pitchFamily="34" charset="0"/>
                    </a:rPr>
                    <a:t>Business Problem, Dataset</a:t>
                  </a:r>
                </a:p>
              </p:txBody>
            </p:sp>
            <p:sp>
              <p:nvSpPr>
                <p:cNvPr id="66" name="CuadroTexto 395">
                  <a:extLst>
                    <a:ext uri="{FF2B5EF4-FFF2-40B4-BE49-F238E27FC236}">
                      <a16:creationId xmlns:a16="http://schemas.microsoft.com/office/drawing/2014/main" id="{547AF9E0-823D-1C48-8A60-E37A0B18D14E}"/>
                    </a:ext>
                  </a:extLst>
                </p:cNvPr>
                <p:cNvSpPr txBox="1"/>
                <p:nvPr/>
              </p:nvSpPr>
              <p:spPr>
                <a:xfrm flipH="1">
                  <a:off x="3179505" y="7730829"/>
                  <a:ext cx="5079530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1600" dirty="0">
                      <a:solidFill>
                        <a:srgbClr val="364556"/>
                      </a:solidFill>
                      <a:latin typeface="Roboto Medium" panose="02000000000000000000" pitchFamily="2" charset="0"/>
                      <a:ea typeface="Roboto Medium" panose="02000000000000000000" pitchFamily="2" charset="0"/>
                      <a:cs typeface="Lato Semibold" panose="020F0502020204030203" pitchFamily="34" charset="0"/>
                    </a:rPr>
                    <a:t>Business Understanding</a:t>
                  </a:r>
                </a:p>
              </p:txBody>
            </p:sp>
            <p:sp>
              <p:nvSpPr>
                <p:cNvPr id="67" name="Rectangle 56">
                  <a:extLst>
                    <a:ext uri="{FF2B5EF4-FFF2-40B4-BE49-F238E27FC236}">
                      <a16:creationId xmlns:a16="http://schemas.microsoft.com/office/drawing/2014/main" id="{EF2375EE-16E3-BD41-95F8-EB54CDE6AE87}"/>
                    </a:ext>
                  </a:extLst>
                </p:cNvPr>
                <p:cNvSpPr/>
                <p:nvPr/>
              </p:nvSpPr>
              <p:spPr>
                <a:xfrm flipH="1">
                  <a:off x="10441015" y="6281501"/>
                  <a:ext cx="4832852" cy="9233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defTabSz="914217"/>
                  <a:r>
                    <a:rPr lang="en-US" sz="1200" dirty="0">
                      <a:solidFill>
                        <a:schemeClr val="tx2"/>
                      </a:solidFill>
                      <a:ea typeface="Lato Light" panose="020F0502020204030203" pitchFamily="34" charset="0"/>
                      <a:cs typeface="Lato Light" panose="020F0502020204030203" pitchFamily="34" charset="0"/>
                    </a:rPr>
                    <a:t>Data Preparation Approach, Key Decisions</a:t>
                  </a:r>
                </a:p>
              </p:txBody>
            </p:sp>
            <p:sp>
              <p:nvSpPr>
                <p:cNvPr id="69" name="CuadroTexto 395">
                  <a:extLst>
                    <a:ext uri="{FF2B5EF4-FFF2-40B4-BE49-F238E27FC236}">
                      <a16:creationId xmlns:a16="http://schemas.microsoft.com/office/drawing/2014/main" id="{3D9FEE6D-4BA5-2A4E-B05E-C908AED01E2C}"/>
                    </a:ext>
                  </a:extLst>
                </p:cNvPr>
                <p:cNvSpPr txBox="1"/>
                <p:nvPr/>
              </p:nvSpPr>
              <p:spPr>
                <a:xfrm flipH="1">
                  <a:off x="3280767" y="10111663"/>
                  <a:ext cx="4721294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1600" dirty="0">
                      <a:solidFill>
                        <a:srgbClr val="364556"/>
                      </a:solidFill>
                      <a:latin typeface="Roboto Medium" panose="02000000000000000000" pitchFamily="2" charset="0"/>
                      <a:ea typeface="Roboto Medium" panose="02000000000000000000" pitchFamily="2" charset="0"/>
                      <a:cs typeface="Lato Semibold" panose="020F0502020204030203" pitchFamily="34" charset="0"/>
                    </a:rPr>
                    <a:t>Actionable Insight Plan</a:t>
                  </a:r>
                </a:p>
              </p:txBody>
            </p:sp>
            <p:sp>
              <p:nvSpPr>
                <p:cNvPr id="70" name="Rectangle 56">
                  <a:extLst>
                    <a:ext uri="{FF2B5EF4-FFF2-40B4-BE49-F238E27FC236}">
                      <a16:creationId xmlns:a16="http://schemas.microsoft.com/office/drawing/2014/main" id="{79B27EF6-236F-7D4E-82AB-A438F1BD13CD}"/>
                    </a:ext>
                  </a:extLst>
                </p:cNvPr>
                <p:cNvSpPr/>
                <p:nvPr/>
              </p:nvSpPr>
              <p:spPr>
                <a:xfrm flipH="1">
                  <a:off x="3381043" y="10831141"/>
                  <a:ext cx="4514040" cy="9233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defTabSz="914217"/>
                  <a:r>
                    <a:rPr lang="en-US" sz="1200" dirty="0">
                      <a:solidFill>
                        <a:schemeClr val="tx2"/>
                      </a:solidFill>
                      <a:ea typeface="Lato Light" panose="020F0502020204030203" pitchFamily="34" charset="0"/>
                      <a:cs typeface="Lato Light" panose="020F0502020204030203" pitchFamily="34" charset="0"/>
                    </a:rPr>
                    <a:t>Goals, Key Considerations and Success</a:t>
                  </a:r>
                </a:p>
              </p:txBody>
            </p:sp>
          </p:grpSp>
          <p:sp>
            <p:nvSpPr>
              <p:cNvPr id="109" name="CuadroTexto 395">
                <a:extLst>
                  <a:ext uri="{FF2B5EF4-FFF2-40B4-BE49-F238E27FC236}">
                    <a16:creationId xmlns:a16="http://schemas.microsoft.com/office/drawing/2014/main" id="{B526D1D4-FE00-7D43-90DE-22794B188309}"/>
                  </a:ext>
                </a:extLst>
              </p:cNvPr>
              <p:cNvSpPr txBox="1"/>
              <p:nvPr/>
            </p:nvSpPr>
            <p:spPr>
              <a:xfrm flipH="1">
                <a:off x="1954233" y="6166216"/>
                <a:ext cx="7697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2200" dirty="0">
                    <a:solidFill>
                      <a:srgbClr val="1E81CA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Lato Semibold" panose="020F0502020204030203" pitchFamily="34" charset="0"/>
                  </a:rPr>
                  <a:t>1</a:t>
                </a:r>
              </a:p>
            </p:txBody>
          </p:sp>
          <p:sp>
            <p:nvSpPr>
              <p:cNvPr id="110" name="CuadroTexto 395">
                <a:extLst>
                  <a:ext uri="{FF2B5EF4-FFF2-40B4-BE49-F238E27FC236}">
                    <a16:creationId xmlns:a16="http://schemas.microsoft.com/office/drawing/2014/main" id="{1C7351DD-10AF-C444-A71F-61D6FB2E2A2D}"/>
                  </a:ext>
                </a:extLst>
              </p:cNvPr>
              <p:cNvSpPr txBox="1"/>
              <p:nvPr/>
            </p:nvSpPr>
            <p:spPr>
              <a:xfrm flipH="1">
                <a:off x="1954233" y="8413470"/>
                <a:ext cx="7697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2200" dirty="0">
                    <a:solidFill>
                      <a:srgbClr val="4BDCED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Lato Semibold" panose="020F0502020204030203" pitchFamily="34" charset="0"/>
                  </a:rPr>
                  <a:t>2</a:t>
                </a:r>
              </a:p>
            </p:txBody>
          </p:sp>
          <p:sp>
            <p:nvSpPr>
              <p:cNvPr id="111" name="CuadroTexto 395">
                <a:extLst>
                  <a:ext uri="{FF2B5EF4-FFF2-40B4-BE49-F238E27FC236}">
                    <a16:creationId xmlns:a16="http://schemas.microsoft.com/office/drawing/2014/main" id="{28532FBD-34AE-F044-A9FA-AC853F7EFF01}"/>
                  </a:ext>
                </a:extLst>
              </p:cNvPr>
              <p:cNvSpPr txBox="1"/>
              <p:nvPr/>
            </p:nvSpPr>
            <p:spPr>
              <a:xfrm flipH="1">
                <a:off x="1954233" y="10634711"/>
                <a:ext cx="7697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2200" dirty="0">
                    <a:solidFill>
                      <a:srgbClr val="06548F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Lato Semibold" panose="020F0502020204030203" pitchFamily="34" charset="0"/>
                  </a:rPr>
                  <a:t>3</a:t>
                </a: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D61D629-9E7A-B546-9555-E86B31BE48F1}"/>
                </a:ext>
              </a:extLst>
            </p:cNvPr>
            <p:cNvGrpSpPr/>
            <p:nvPr/>
          </p:nvGrpSpPr>
          <p:grpSpPr>
            <a:xfrm>
              <a:off x="8853957" y="5715479"/>
              <a:ext cx="13798220" cy="6007338"/>
              <a:chOff x="1635739" y="5715479"/>
              <a:chExt cx="13798220" cy="6007338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4C9888E9-AE5E-BA45-958B-7054848A0C64}"/>
                  </a:ext>
                </a:extLst>
              </p:cNvPr>
              <p:cNvGrpSpPr/>
              <p:nvPr/>
            </p:nvGrpSpPr>
            <p:grpSpPr>
              <a:xfrm>
                <a:off x="1635739" y="5835348"/>
                <a:ext cx="1406769" cy="1406769"/>
                <a:chOff x="1664677" y="5158154"/>
                <a:chExt cx="1406769" cy="1406769"/>
              </a:xfrm>
            </p:grpSpPr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E2958691-365D-BF45-B218-BEABBBF07666}"/>
                    </a:ext>
                  </a:extLst>
                </p:cNvPr>
                <p:cNvSpPr/>
                <p:nvPr/>
              </p:nvSpPr>
              <p:spPr>
                <a:xfrm>
                  <a:off x="1664677" y="5158154"/>
                  <a:ext cx="1406769" cy="1406769"/>
                </a:xfrm>
                <a:prstGeom prst="ellipse">
                  <a:avLst/>
                </a:prstGeom>
                <a:noFill/>
                <a:ln w="889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EB0A7E34-0862-A54A-875A-35FFCE03F5AD}"/>
                    </a:ext>
                  </a:extLst>
                </p:cNvPr>
                <p:cNvSpPr/>
                <p:nvPr/>
              </p:nvSpPr>
              <p:spPr>
                <a:xfrm>
                  <a:off x="1876190" y="5369669"/>
                  <a:ext cx="983742" cy="98374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1697374F-9DFF-1A42-AFBE-9CE98FF66985}"/>
                  </a:ext>
                </a:extLst>
              </p:cNvPr>
              <p:cNvGrpSpPr/>
              <p:nvPr/>
            </p:nvGrpSpPr>
            <p:grpSpPr>
              <a:xfrm>
                <a:off x="1635739" y="8075698"/>
                <a:ext cx="1406769" cy="1406769"/>
                <a:chOff x="1664677" y="5158154"/>
                <a:chExt cx="1406769" cy="1406769"/>
              </a:xfrm>
            </p:grpSpPr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4D011FF0-7417-394D-BF5D-9F706477962D}"/>
                    </a:ext>
                  </a:extLst>
                </p:cNvPr>
                <p:cNvSpPr/>
                <p:nvPr/>
              </p:nvSpPr>
              <p:spPr>
                <a:xfrm>
                  <a:off x="1664677" y="5158154"/>
                  <a:ext cx="1406769" cy="1406769"/>
                </a:xfrm>
                <a:prstGeom prst="ellipse">
                  <a:avLst/>
                </a:prstGeom>
                <a:noFill/>
                <a:ln w="889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B47218E6-EE41-CF4A-8D30-38488936FD84}"/>
                    </a:ext>
                  </a:extLst>
                </p:cNvPr>
                <p:cNvSpPr/>
                <p:nvPr/>
              </p:nvSpPr>
              <p:spPr>
                <a:xfrm>
                  <a:off x="1876190" y="5369669"/>
                  <a:ext cx="983742" cy="983740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819EF64-DE5D-B449-807A-1D3DD917DA5C}"/>
                  </a:ext>
                </a:extLst>
              </p:cNvPr>
              <p:cNvGrpSpPr/>
              <p:nvPr/>
            </p:nvGrpSpPr>
            <p:grpSpPr>
              <a:xfrm>
                <a:off x="1635739" y="10316048"/>
                <a:ext cx="1406769" cy="1406769"/>
                <a:chOff x="1664677" y="5158154"/>
                <a:chExt cx="1406769" cy="1406769"/>
              </a:xfrm>
            </p:grpSpPr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DB314E81-0DC7-5440-94E3-A26AE031149D}"/>
                    </a:ext>
                  </a:extLst>
                </p:cNvPr>
                <p:cNvSpPr/>
                <p:nvPr/>
              </p:nvSpPr>
              <p:spPr>
                <a:xfrm>
                  <a:off x="1664677" y="5158154"/>
                  <a:ext cx="1406769" cy="1406769"/>
                </a:xfrm>
                <a:prstGeom prst="ellipse">
                  <a:avLst/>
                </a:prstGeom>
                <a:noFill/>
                <a:ln w="889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CDD17026-21F3-6B49-B1C2-CED80479AD76}"/>
                    </a:ext>
                  </a:extLst>
                </p:cNvPr>
                <p:cNvSpPr/>
                <p:nvPr/>
              </p:nvSpPr>
              <p:spPr>
                <a:xfrm>
                  <a:off x="1876190" y="5369669"/>
                  <a:ext cx="983742" cy="983740"/>
                </a:xfrm>
                <a:prstGeom prst="ellipse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C109F5DC-EBF8-374D-ADC0-605EB6134EA2}"/>
                  </a:ext>
                </a:extLst>
              </p:cNvPr>
              <p:cNvGrpSpPr/>
              <p:nvPr/>
            </p:nvGrpSpPr>
            <p:grpSpPr>
              <a:xfrm>
                <a:off x="3070759" y="5715479"/>
                <a:ext cx="12363200" cy="3766990"/>
                <a:chOff x="3070759" y="5639279"/>
                <a:chExt cx="12363200" cy="3766990"/>
              </a:xfrm>
            </p:grpSpPr>
            <p:sp>
              <p:nvSpPr>
                <p:cNvPr id="120" name="CuadroTexto 395">
                  <a:extLst>
                    <a:ext uri="{FF2B5EF4-FFF2-40B4-BE49-F238E27FC236}">
                      <a16:creationId xmlns:a16="http://schemas.microsoft.com/office/drawing/2014/main" id="{F4E713DE-39D3-7641-8DA5-2C14DA0C90A7}"/>
                    </a:ext>
                  </a:extLst>
                </p:cNvPr>
                <p:cNvSpPr txBox="1"/>
                <p:nvPr/>
              </p:nvSpPr>
              <p:spPr>
                <a:xfrm flipH="1">
                  <a:off x="3070759" y="5723125"/>
                  <a:ext cx="5314892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1600" dirty="0">
                      <a:solidFill>
                        <a:srgbClr val="364556"/>
                      </a:solidFill>
                      <a:latin typeface="Roboto Medium" panose="02000000000000000000" pitchFamily="2" charset="0"/>
                      <a:ea typeface="Roboto Medium" panose="02000000000000000000" pitchFamily="2" charset="0"/>
                      <a:cs typeface="Lato Semibold" panose="020F0502020204030203" pitchFamily="34" charset="0"/>
                    </a:rPr>
                    <a:t>Data Preparation Approach</a:t>
                  </a:r>
                </a:p>
              </p:txBody>
            </p:sp>
            <p:sp>
              <p:nvSpPr>
                <p:cNvPr id="121" name="Rectangle 56">
                  <a:extLst>
                    <a:ext uri="{FF2B5EF4-FFF2-40B4-BE49-F238E27FC236}">
                      <a16:creationId xmlns:a16="http://schemas.microsoft.com/office/drawing/2014/main" id="{4E5ED005-9E20-5A4E-B4B7-601ADF6B8B72}"/>
                    </a:ext>
                  </a:extLst>
                </p:cNvPr>
                <p:cNvSpPr/>
                <p:nvPr/>
              </p:nvSpPr>
              <p:spPr>
                <a:xfrm flipH="1">
                  <a:off x="10518047" y="8675824"/>
                  <a:ext cx="4514040" cy="5539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defTabSz="914217"/>
                  <a:r>
                    <a:rPr lang="en-US" sz="1200" dirty="0">
                      <a:solidFill>
                        <a:schemeClr val="tx2"/>
                      </a:solidFill>
                      <a:ea typeface="Lato Light" panose="020F0502020204030203" pitchFamily="34" charset="0"/>
                      <a:cs typeface="Lato Light" panose="020F0502020204030203" pitchFamily="34" charset="0"/>
                    </a:rPr>
                    <a:t>Can be used by DOT</a:t>
                  </a:r>
                </a:p>
              </p:txBody>
            </p:sp>
            <p:sp>
              <p:nvSpPr>
                <p:cNvPr id="122" name="CuadroTexto 395">
                  <a:extLst>
                    <a:ext uri="{FF2B5EF4-FFF2-40B4-BE49-F238E27FC236}">
                      <a16:creationId xmlns:a16="http://schemas.microsoft.com/office/drawing/2014/main" id="{E3BEE4EE-5D57-2A46-B9F9-310CA24B632C}"/>
                    </a:ext>
                  </a:extLst>
                </p:cNvPr>
                <p:cNvSpPr txBox="1"/>
                <p:nvPr/>
              </p:nvSpPr>
              <p:spPr>
                <a:xfrm flipH="1">
                  <a:off x="10441017" y="7998717"/>
                  <a:ext cx="4992942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1600" dirty="0">
                      <a:solidFill>
                        <a:srgbClr val="364556"/>
                      </a:solidFill>
                      <a:latin typeface="Roboto Medium" panose="02000000000000000000" pitchFamily="2" charset="0"/>
                      <a:ea typeface="Roboto Medium" panose="02000000000000000000" pitchFamily="2" charset="0"/>
                      <a:cs typeface="Lato Semibold" panose="020F0502020204030203" pitchFamily="34" charset="0"/>
                    </a:rPr>
                    <a:t>Key Findings</a:t>
                  </a:r>
                </a:p>
              </p:txBody>
            </p:sp>
            <p:sp>
              <p:nvSpPr>
                <p:cNvPr id="124" name="CuadroTexto 395">
                  <a:extLst>
                    <a:ext uri="{FF2B5EF4-FFF2-40B4-BE49-F238E27FC236}">
                      <a16:creationId xmlns:a16="http://schemas.microsoft.com/office/drawing/2014/main" id="{AF96B179-F5EC-5148-99B0-2E9306ADF742}"/>
                    </a:ext>
                  </a:extLst>
                </p:cNvPr>
                <p:cNvSpPr txBox="1"/>
                <p:nvPr/>
              </p:nvSpPr>
              <p:spPr>
                <a:xfrm flipH="1">
                  <a:off x="10492493" y="5639279"/>
                  <a:ext cx="4565148" cy="11695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1600" dirty="0">
                      <a:solidFill>
                        <a:srgbClr val="364556"/>
                      </a:solidFill>
                      <a:latin typeface="Roboto Medium" panose="02000000000000000000" pitchFamily="2" charset="0"/>
                      <a:ea typeface="Roboto Medium" panose="02000000000000000000" pitchFamily="2" charset="0"/>
                      <a:cs typeface="Lato Semibold" panose="020F0502020204030203" pitchFamily="34" charset="0"/>
                    </a:rPr>
                    <a:t>Data Driven Recommendations</a:t>
                  </a:r>
                </a:p>
              </p:txBody>
            </p:sp>
            <p:sp>
              <p:nvSpPr>
                <p:cNvPr id="125" name="Rectangle 56">
                  <a:extLst>
                    <a:ext uri="{FF2B5EF4-FFF2-40B4-BE49-F238E27FC236}">
                      <a16:creationId xmlns:a16="http://schemas.microsoft.com/office/drawing/2014/main" id="{AA9A2EB2-64F1-5A4F-ACDE-E8081E5BEDA8}"/>
                    </a:ext>
                  </a:extLst>
                </p:cNvPr>
                <p:cNvSpPr/>
                <p:nvPr/>
              </p:nvSpPr>
              <p:spPr>
                <a:xfrm flipH="1">
                  <a:off x="3090331" y="8482939"/>
                  <a:ext cx="4907336" cy="9233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defTabSz="914217"/>
                  <a:r>
                    <a:rPr lang="en-US" sz="1200" dirty="0">
                      <a:solidFill>
                        <a:schemeClr val="tx2"/>
                      </a:solidFill>
                      <a:ea typeface="Lato Light" panose="020F0502020204030203" pitchFamily="34" charset="0"/>
                      <a:cs typeface="Lato Light" panose="020F0502020204030203" pitchFamily="34" charset="0"/>
                    </a:rPr>
                    <a:t>Navigable Items &amp; Dashboard Overview</a:t>
                  </a:r>
                </a:p>
              </p:txBody>
            </p:sp>
          </p:grpSp>
          <p:sp>
            <p:nvSpPr>
              <p:cNvPr id="117" name="CuadroTexto 395">
                <a:extLst>
                  <a:ext uri="{FF2B5EF4-FFF2-40B4-BE49-F238E27FC236}">
                    <a16:creationId xmlns:a16="http://schemas.microsoft.com/office/drawing/2014/main" id="{AADF0E52-097C-294E-A925-06F0075E3D01}"/>
                  </a:ext>
                </a:extLst>
              </p:cNvPr>
              <p:cNvSpPr txBox="1"/>
              <p:nvPr/>
            </p:nvSpPr>
            <p:spPr>
              <a:xfrm flipH="1">
                <a:off x="1954233" y="6166216"/>
                <a:ext cx="7697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2200" dirty="0">
                    <a:solidFill>
                      <a:srgbClr val="1E81CA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Lato Semibold" panose="020F0502020204030203" pitchFamily="34" charset="0"/>
                  </a:rPr>
                  <a:t>4</a:t>
                </a:r>
              </a:p>
            </p:txBody>
          </p:sp>
          <p:sp>
            <p:nvSpPr>
              <p:cNvPr id="118" name="CuadroTexto 395">
                <a:extLst>
                  <a:ext uri="{FF2B5EF4-FFF2-40B4-BE49-F238E27FC236}">
                    <a16:creationId xmlns:a16="http://schemas.microsoft.com/office/drawing/2014/main" id="{E8FE8E97-AE32-C249-8CB3-B06999179F2D}"/>
                  </a:ext>
                </a:extLst>
              </p:cNvPr>
              <p:cNvSpPr txBox="1"/>
              <p:nvPr/>
            </p:nvSpPr>
            <p:spPr>
              <a:xfrm flipH="1">
                <a:off x="1954233" y="8413470"/>
                <a:ext cx="7697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2200" dirty="0">
                    <a:solidFill>
                      <a:srgbClr val="4BDCED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Lato Semibold" panose="020F0502020204030203" pitchFamily="34" charset="0"/>
                  </a:rPr>
                  <a:t>5</a:t>
                </a:r>
              </a:p>
            </p:txBody>
          </p:sp>
          <p:sp>
            <p:nvSpPr>
              <p:cNvPr id="119" name="CuadroTexto 395">
                <a:extLst>
                  <a:ext uri="{FF2B5EF4-FFF2-40B4-BE49-F238E27FC236}">
                    <a16:creationId xmlns:a16="http://schemas.microsoft.com/office/drawing/2014/main" id="{B8A48BCE-DFD5-F14C-B25C-44FC8A192237}"/>
                  </a:ext>
                </a:extLst>
              </p:cNvPr>
              <p:cNvSpPr txBox="1"/>
              <p:nvPr/>
            </p:nvSpPr>
            <p:spPr>
              <a:xfrm flipH="1">
                <a:off x="1954233" y="10634711"/>
                <a:ext cx="7697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2200" dirty="0">
                    <a:solidFill>
                      <a:srgbClr val="06548F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Lato Semibold" panose="020F0502020204030203" pitchFamily="34" charset="0"/>
                  </a:rPr>
                  <a:t>6</a:t>
                </a: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D29B4BE7-8E23-7F47-8777-8EE4725C8832}"/>
                </a:ext>
              </a:extLst>
            </p:cNvPr>
            <p:cNvGrpSpPr/>
            <p:nvPr/>
          </p:nvGrpSpPr>
          <p:grpSpPr>
            <a:xfrm>
              <a:off x="10260945" y="5835348"/>
              <a:ext cx="12151782" cy="5887469"/>
              <a:chOff x="-4175491" y="5835348"/>
              <a:chExt cx="12151782" cy="5887469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A5FC4A1C-7363-0545-AFDD-D790CD5617C3}"/>
                  </a:ext>
                </a:extLst>
              </p:cNvPr>
              <p:cNvGrpSpPr/>
              <p:nvPr/>
            </p:nvGrpSpPr>
            <p:grpSpPr>
              <a:xfrm>
                <a:off x="1635739" y="5835348"/>
                <a:ext cx="1406769" cy="1406769"/>
                <a:chOff x="1664677" y="5158154"/>
                <a:chExt cx="1406769" cy="1406769"/>
              </a:xfrm>
            </p:grpSpPr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98888348-3704-294A-B7D8-1434C7B2094A}"/>
                    </a:ext>
                  </a:extLst>
                </p:cNvPr>
                <p:cNvSpPr/>
                <p:nvPr/>
              </p:nvSpPr>
              <p:spPr>
                <a:xfrm>
                  <a:off x="1664677" y="5158154"/>
                  <a:ext cx="1406769" cy="1406769"/>
                </a:xfrm>
                <a:prstGeom prst="ellipse">
                  <a:avLst/>
                </a:prstGeom>
                <a:noFill/>
                <a:ln w="889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218BFDEB-A262-B64A-A199-ED465E92D6EB}"/>
                    </a:ext>
                  </a:extLst>
                </p:cNvPr>
                <p:cNvSpPr/>
                <p:nvPr/>
              </p:nvSpPr>
              <p:spPr>
                <a:xfrm>
                  <a:off x="1876190" y="5369669"/>
                  <a:ext cx="983742" cy="98374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FAD35DA3-7704-184C-AEE8-8E3BD7923743}"/>
                  </a:ext>
                </a:extLst>
              </p:cNvPr>
              <p:cNvGrpSpPr/>
              <p:nvPr/>
            </p:nvGrpSpPr>
            <p:grpSpPr>
              <a:xfrm>
                <a:off x="1635739" y="8075698"/>
                <a:ext cx="1406769" cy="1406769"/>
                <a:chOff x="1664677" y="5158154"/>
                <a:chExt cx="1406769" cy="1406769"/>
              </a:xfrm>
            </p:grpSpPr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22E49BBC-2D26-7044-9D5A-39F8B0FC8D00}"/>
                    </a:ext>
                  </a:extLst>
                </p:cNvPr>
                <p:cNvSpPr/>
                <p:nvPr/>
              </p:nvSpPr>
              <p:spPr>
                <a:xfrm>
                  <a:off x="1664677" y="5158154"/>
                  <a:ext cx="1406769" cy="1406769"/>
                </a:xfrm>
                <a:prstGeom prst="ellipse">
                  <a:avLst/>
                </a:prstGeom>
                <a:noFill/>
                <a:ln w="889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847B9152-3ED9-8743-A22C-1DA8458107FB}"/>
                    </a:ext>
                  </a:extLst>
                </p:cNvPr>
                <p:cNvSpPr/>
                <p:nvPr/>
              </p:nvSpPr>
              <p:spPr>
                <a:xfrm>
                  <a:off x="1876190" y="5369669"/>
                  <a:ext cx="983742" cy="983740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0F0E0A4B-636B-AD46-97FB-AEC5D1948599}"/>
                  </a:ext>
                </a:extLst>
              </p:cNvPr>
              <p:cNvGrpSpPr/>
              <p:nvPr/>
            </p:nvGrpSpPr>
            <p:grpSpPr>
              <a:xfrm>
                <a:off x="1635739" y="10316048"/>
                <a:ext cx="1406769" cy="1406769"/>
                <a:chOff x="1664677" y="5158154"/>
                <a:chExt cx="1406769" cy="1406769"/>
              </a:xfrm>
            </p:grpSpPr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F2668535-C09B-0C4C-8F77-AF71BF84ADF6}"/>
                    </a:ext>
                  </a:extLst>
                </p:cNvPr>
                <p:cNvSpPr/>
                <p:nvPr/>
              </p:nvSpPr>
              <p:spPr>
                <a:xfrm>
                  <a:off x="1664677" y="5158154"/>
                  <a:ext cx="1406769" cy="1406769"/>
                </a:xfrm>
                <a:prstGeom prst="ellipse">
                  <a:avLst/>
                </a:prstGeom>
                <a:noFill/>
                <a:ln w="889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E7F5D01B-1CB1-3D41-8603-B9DBEE8F4064}"/>
                    </a:ext>
                  </a:extLst>
                </p:cNvPr>
                <p:cNvSpPr/>
                <p:nvPr/>
              </p:nvSpPr>
              <p:spPr>
                <a:xfrm>
                  <a:off x="1876190" y="5369669"/>
                  <a:ext cx="983742" cy="983740"/>
                </a:xfrm>
                <a:prstGeom prst="ellipse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17"/>
                  <a:endParaRPr lang="en-US">
                    <a:solidFill>
                      <a:srgbClr val="FFFFFF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D4F903A6-7280-BE40-ABC4-35BFD75748A8}"/>
                  </a:ext>
                </a:extLst>
              </p:cNvPr>
              <p:cNvGrpSpPr/>
              <p:nvPr/>
            </p:nvGrpSpPr>
            <p:grpSpPr>
              <a:xfrm>
                <a:off x="-4175491" y="6769278"/>
                <a:ext cx="12151782" cy="4734905"/>
                <a:chOff x="-4175491" y="6693078"/>
                <a:chExt cx="12151782" cy="4734905"/>
              </a:xfrm>
            </p:grpSpPr>
            <p:sp>
              <p:nvSpPr>
                <p:cNvPr id="140" name="CuadroTexto 395">
                  <a:extLst>
                    <a:ext uri="{FF2B5EF4-FFF2-40B4-BE49-F238E27FC236}">
                      <a16:creationId xmlns:a16="http://schemas.microsoft.com/office/drawing/2014/main" id="{D1C1C13D-12C6-384F-8DD4-D32E1401B5CF}"/>
                    </a:ext>
                  </a:extLst>
                </p:cNvPr>
                <p:cNvSpPr txBox="1"/>
                <p:nvPr/>
              </p:nvSpPr>
              <p:spPr>
                <a:xfrm flipH="1">
                  <a:off x="-4175491" y="7871314"/>
                  <a:ext cx="4877910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1600" dirty="0">
                      <a:solidFill>
                        <a:srgbClr val="364556"/>
                      </a:solidFill>
                      <a:latin typeface="Roboto Medium" panose="02000000000000000000" pitchFamily="2" charset="0"/>
                      <a:ea typeface="Roboto Medium" panose="02000000000000000000" pitchFamily="2" charset="0"/>
                      <a:cs typeface="Lato Semibold" panose="020F0502020204030203" pitchFamily="34" charset="0"/>
                    </a:rPr>
                    <a:t>Dashboard Introduction</a:t>
                  </a:r>
                </a:p>
              </p:txBody>
            </p:sp>
            <p:sp>
              <p:nvSpPr>
                <p:cNvPr id="141" name="Rectangle 56">
                  <a:extLst>
                    <a:ext uri="{FF2B5EF4-FFF2-40B4-BE49-F238E27FC236}">
                      <a16:creationId xmlns:a16="http://schemas.microsoft.com/office/drawing/2014/main" id="{8C451894-7574-AA41-88E1-56F1E3A0DB33}"/>
                    </a:ext>
                  </a:extLst>
                </p:cNvPr>
                <p:cNvSpPr/>
                <p:nvPr/>
              </p:nvSpPr>
              <p:spPr>
                <a:xfrm flipH="1">
                  <a:off x="3462249" y="6693078"/>
                  <a:ext cx="4514040" cy="5539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defTabSz="914217"/>
                  <a:r>
                    <a:rPr lang="en-US" sz="1200" dirty="0">
                      <a:solidFill>
                        <a:schemeClr val="tx2"/>
                      </a:solidFill>
                      <a:ea typeface="Lato Light" panose="020F0502020204030203" pitchFamily="34" charset="0"/>
                      <a:cs typeface="Lato Light" panose="020F0502020204030203" pitchFamily="34" charset="0"/>
                    </a:rPr>
                    <a:t>Can be used by DOT</a:t>
                  </a:r>
                </a:p>
              </p:txBody>
            </p:sp>
            <p:sp>
              <p:nvSpPr>
                <p:cNvPr id="142" name="CuadroTexto 395">
                  <a:extLst>
                    <a:ext uri="{FF2B5EF4-FFF2-40B4-BE49-F238E27FC236}">
                      <a16:creationId xmlns:a16="http://schemas.microsoft.com/office/drawing/2014/main" id="{7879E57D-A87F-4C41-90C2-272A825A278E}"/>
                    </a:ext>
                  </a:extLst>
                </p:cNvPr>
                <p:cNvSpPr txBox="1"/>
                <p:nvPr/>
              </p:nvSpPr>
              <p:spPr>
                <a:xfrm flipH="1">
                  <a:off x="-4070217" y="10177051"/>
                  <a:ext cx="4565148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1600" dirty="0">
                      <a:solidFill>
                        <a:srgbClr val="364556"/>
                      </a:solidFill>
                      <a:latin typeface="Roboto Medium" panose="02000000000000000000" pitchFamily="2" charset="0"/>
                      <a:ea typeface="Roboto Medium" panose="02000000000000000000" pitchFamily="2" charset="0"/>
                      <a:cs typeface="Lato Semibold" panose="020F0502020204030203" pitchFamily="34" charset="0"/>
                    </a:rPr>
                    <a:t>Dashboard Demo</a:t>
                  </a:r>
                </a:p>
              </p:txBody>
            </p:sp>
            <p:sp>
              <p:nvSpPr>
                <p:cNvPr id="143" name="Rectangle 56">
                  <a:extLst>
                    <a:ext uri="{FF2B5EF4-FFF2-40B4-BE49-F238E27FC236}">
                      <a16:creationId xmlns:a16="http://schemas.microsoft.com/office/drawing/2014/main" id="{18E85370-27C4-4249-B61B-DCF11056ED12}"/>
                    </a:ext>
                  </a:extLst>
                </p:cNvPr>
                <p:cNvSpPr/>
                <p:nvPr/>
              </p:nvSpPr>
              <p:spPr>
                <a:xfrm flipH="1">
                  <a:off x="-3834307" y="10831141"/>
                  <a:ext cx="4514040" cy="5539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defTabSz="914217"/>
                  <a:r>
                    <a:rPr lang="en-US" sz="1200" dirty="0">
                      <a:solidFill>
                        <a:schemeClr val="tx2"/>
                      </a:solidFill>
                      <a:ea typeface="Lato Light" panose="020F0502020204030203" pitchFamily="34" charset="0"/>
                      <a:cs typeface="Lato Light" panose="020F0502020204030203" pitchFamily="34" charset="0"/>
                    </a:rPr>
                    <a:t>Live Demo</a:t>
                  </a:r>
                </a:p>
              </p:txBody>
            </p:sp>
            <p:sp>
              <p:nvSpPr>
                <p:cNvPr id="144" name="CuadroTexto 395">
                  <a:extLst>
                    <a:ext uri="{FF2B5EF4-FFF2-40B4-BE49-F238E27FC236}">
                      <a16:creationId xmlns:a16="http://schemas.microsoft.com/office/drawing/2014/main" id="{787ACF85-FACB-D040-B7A8-177555528F92}"/>
                    </a:ext>
                  </a:extLst>
                </p:cNvPr>
                <p:cNvSpPr txBox="1"/>
                <p:nvPr/>
              </p:nvSpPr>
              <p:spPr>
                <a:xfrm flipH="1">
                  <a:off x="3250737" y="10258461"/>
                  <a:ext cx="4565148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217"/>
                  <a:r>
                    <a:rPr lang="en-US" sz="1600" dirty="0">
                      <a:solidFill>
                        <a:srgbClr val="364556"/>
                      </a:solidFill>
                      <a:latin typeface="Roboto Medium" panose="02000000000000000000" pitchFamily="2" charset="0"/>
                      <a:ea typeface="Roboto Medium" panose="02000000000000000000" pitchFamily="2" charset="0"/>
                      <a:cs typeface="Lato Semibold" panose="020F0502020204030203" pitchFamily="34" charset="0"/>
                    </a:rPr>
                    <a:t> Reference Links</a:t>
                  </a:r>
                </a:p>
              </p:txBody>
            </p:sp>
            <p:sp>
              <p:nvSpPr>
                <p:cNvPr id="145" name="Rectangle 56">
                  <a:extLst>
                    <a:ext uri="{FF2B5EF4-FFF2-40B4-BE49-F238E27FC236}">
                      <a16:creationId xmlns:a16="http://schemas.microsoft.com/office/drawing/2014/main" id="{3D221FA1-07E4-7847-9994-42189A93B6D2}"/>
                    </a:ext>
                  </a:extLst>
                </p:cNvPr>
                <p:cNvSpPr/>
                <p:nvPr/>
              </p:nvSpPr>
              <p:spPr>
                <a:xfrm flipH="1">
                  <a:off x="3462251" y="10873985"/>
                  <a:ext cx="4514040" cy="5539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defTabSz="914217"/>
                  <a:r>
                    <a:rPr lang="en-US" sz="1200" dirty="0">
                      <a:solidFill>
                        <a:schemeClr val="tx2"/>
                      </a:solidFill>
                      <a:ea typeface="Lato Light" panose="020F0502020204030203" pitchFamily="34" charset="0"/>
                      <a:cs typeface="Lato Light" panose="020F0502020204030203" pitchFamily="34" charset="0"/>
                    </a:rPr>
                    <a:t>Public Links</a:t>
                  </a:r>
                </a:p>
              </p:txBody>
            </p:sp>
          </p:grpSp>
          <p:sp>
            <p:nvSpPr>
              <p:cNvPr id="137" name="CuadroTexto 395">
                <a:extLst>
                  <a:ext uri="{FF2B5EF4-FFF2-40B4-BE49-F238E27FC236}">
                    <a16:creationId xmlns:a16="http://schemas.microsoft.com/office/drawing/2014/main" id="{8DA4E45F-9766-D54A-95CD-E58581682FD6}"/>
                  </a:ext>
                </a:extLst>
              </p:cNvPr>
              <p:cNvSpPr txBox="1"/>
              <p:nvPr/>
            </p:nvSpPr>
            <p:spPr>
              <a:xfrm flipH="1">
                <a:off x="1954233" y="6166216"/>
                <a:ext cx="7697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2200" dirty="0">
                    <a:solidFill>
                      <a:srgbClr val="1E81CA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Lato Semibold" panose="020F0502020204030203" pitchFamily="34" charset="0"/>
                  </a:rPr>
                  <a:t>7</a:t>
                </a:r>
              </a:p>
            </p:txBody>
          </p:sp>
          <p:sp>
            <p:nvSpPr>
              <p:cNvPr id="138" name="CuadroTexto 395">
                <a:extLst>
                  <a:ext uri="{FF2B5EF4-FFF2-40B4-BE49-F238E27FC236}">
                    <a16:creationId xmlns:a16="http://schemas.microsoft.com/office/drawing/2014/main" id="{DBF89312-74EE-DB48-A635-11E614C09425}"/>
                  </a:ext>
                </a:extLst>
              </p:cNvPr>
              <p:cNvSpPr txBox="1"/>
              <p:nvPr/>
            </p:nvSpPr>
            <p:spPr>
              <a:xfrm flipH="1">
                <a:off x="1954233" y="8413470"/>
                <a:ext cx="7697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2200" dirty="0">
                    <a:solidFill>
                      <a:srgbClr val="4BDCED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Lato Semibold" panose="020F0502020204030203" pitchFamily="34" charset="0"/>
                  </a:rPr>
                  <a:t>8</a:t>
                </a:r>
              </a:p>
            </p:txBody>
          </p:sp>
          <p:sp>
            <p:nvSpPr>
              <p:cNvPr id="139" name="CuadroTexto 395">
                <a:extLst>
                  <a:ext uri="{FF2B5EF4-FFF2-40B4-BE49-F238E27FC236}">
                    <a16:creationId xmlns:a16="http://schemas.microsoft.com/office/drawing/2014/main" id="{EB9FA71C-0430-5F48-93DD-A9593B46BC01}"/>
                  </a:ext>
                </a:extLst>
              </p:cNvPr>
              <p:cNvSpPr txBox="1"/>
              <p:nvPr/>
            </p:nvSpPr>
            <p:spPr>
              <a:xfrm flipH="1">
                <a:off x="1954233" y="10634711"/>
                <a:ext cx="76978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217"/>
                <a:r>
                  <a:rPr lang="en-US" sz="2200" dirty="0">
                    <a:solidFill>
                      <a:srgbClr val="06548F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Lato Semibold" panose="020F0502020204030203" pitchFamily="34" charset="0"/>
                  </a:rPr>
                  <a:t>9</a:t>
                </a:r>
              </a:p>
            </p:txBody>
          </p:sp>
        </p:grpSp>
      </p:grpSp>
      <p:sp>
        <p:nvSpPr>
          <p:cNvPr id="2" name="Rectangle 56">
            <a:extLst>
              <a:ext uri="{FF2B5EF4-FFF2-40B4-BE49-F238E27FC236}">
                <a16:creationId xmlns:a16="http://schemas.microsoft.com/office/drawing/2014/main" id="{B17AB58B-F3D7-EF83-76E6-2083842499A9}"/>
              </a:ext>
            </a:extLst>
          </p:cNvPr>
          <p:cNvSpPr/>
          <p:nvPr/>
        </p:nvSpPr>
        <p:spPr>
          <a:xfrm flipH="1">
            <a:off x="1722029" y="3414607"/>
            <a:ext cx="22570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/>
            <a:r>
              <a:rPr lang="en-US" sz="12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Key Elements</a:t>
            </a:r>
          </a:p>
        </p:txBody>
      </p:sp>
    </p:spTree>
    <p:extLst>
      <p:ext uri="{BB962C8B-B14F-4D97-AF65-F5344CB8AC3E}">
        <p14:creationId xmlns:p14="http://schemas.microsoft.com/office/powerpoint/2010/main" val="1892948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4358986" y="-38377"/>
            <a:ext cx="3474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b="1" dirty="0">
                <a:solidFill>
                  <a:srgbClr val="353E49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Introduction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1335741" y="910788"/>
            <a:ext cx="10045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Diving into the US Accidents Dataset to conduct Data Driven Analysis and derive Business insights by employing Data Science Skills</a:t>
            </a:r>
          </a:p>
        </p:txBody>
      </p:sp>
      <p:sp>
        <p:nvSpPr>
          <p:cNvPr id="58" name="Freeform 22880">
            <a:extLst>
              <a:ext uri="{FF2B5EF4-FFF2-40B4-BE49-F238E27FC236}">
                <a16:creationId xmlns:a16="http://schemas.microsoft.com/office/drawing/2014/main" id="{B8672ED7-A09D-8349-A294-BEBFC733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311" y="3576008"/>
            <a:ext cx="1299880" cy="1356809"/>
          </a:xfrm>
          <a:custGeom>
            <a:avLst/>
            <a:gdLst>
              <a:gd name="T0" fmla="*/ 217128 w 604"/>
              <a:gd name="T1" fmla="*/ 159484 h 632"/>
              <a:gd name="T2" fmla="*/ 217128 w 604"/>
              <a:gd name="T3" fmla="*/ 159484 h 632"/>
              <a:gd name="T4" fmla="*/ 0 w 604"/>
              <a:gd name="T5" fmla="*/ 159484 h 632"/>
              <a:gd name="T6" fmla="*/ 0 w 604"/>
              <a:gd name="T7" fmla="*/ 0 h 632"/>
              <a:gd name="T8" fmla="*/ 0 w 604"/>
              <a:gd name="T9" fmla="*/ 0 h 632"/>
              <a:gd name="T10" fmla="*/ 217128 w 604"/>
              <a:gd name="T11" fmla="*/ 0 h 632"/>
              <a:gd name="T12" fmla="*/ 217128 w 604"/>
              <a:gd name="T13" fmla="*/ 159484 h 6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04" h="632">
                <a:moveTo>
                  <a:pt x="603" y="444"/>
                </a:moveTo>
                <a:lnTo>
                  <a:pt x="603" y="444"/>
                </a:lnTo>
                <a:cubicBezTo>
                  <a:pt x="603" y="631"/>
                  <a:pt x="0" y="631"/>
                  <a:pt x="0" y="444"/>
                </a:cubicBezTo>
                <a:lnTo>
                  <a:pt x="0" y="0"/>
                </a:lnTo>
                <a:cubicBezTo>
                  <a:pt x="0" y="187"/>
                  <a:pt x="603" y="187"/>
                  <a:pt x="603" y="0"/>
                </a:cubicBezTo>
                <a:lnTo>
                  <a:pt x="603" y="444"/>
                </a:ln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>
              <a:defRPr/>
            </a:pPr>
            <a:endParaRPr lang="en-US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9" name="Freeform 22881">
            <a:extLst>
              <a:ext uri="{FF2B5EF4-FFF2-40B4-BE49-F238E27FC236}">
                <a16:creationId xmlns:a16="http://schemas.microsoft.com/office/drawing/2014/main" id="{87824500-3BFF-7E45-901E-2D84A78A7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863" y="3576008"/>
            <a:ext cx="1299879" cy="977283"/>
          </a:xfrm>
          <a:custGeom>
            <a:avLst/>
            <a:gdLst>
              <a:gd name="T0" fmla="*/ 158390 w 441"/>
              <a:gd name="T1" fmla="*/ 0 h 453"/>
              <a:gd name="T2" fmla="*/ 0 w 441"/>
              <a:gd name="T3" fmla="*/ 0 h 453"/>
              <a:gd name="T4" fmla="*/ 30598 w 441"/>
              <a:gd name="T5" fmla="*/ 79771 h 453"/>
              <a:gd name="T6" fmla="*/ 0 w 441"/>
              <a:gd name="T7" fmla="*/ 163152 h 453"/>
              <a:gd name="T8" fmla="*/ 158390 w 441"/>
              <a:gd name="T9" fmla="*/ 163152 h 453"/>
              <a:gd name="T10" fmla="*/ 158390 w 441"/>
              <a:gd name="T11" fmla="*/ 163152 h 453"/>
              <a:gd name="T12" fmla="*/ 158390 w 441"/>
              <a:gd name="T13" fmla="*/ 160264 h 453"/>
              <a:gd name="T14" fmla="*/ 158390 w 441"/>
              <a:gd name="T15" fmla="*/ 0 h 45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41" h="453">
                <a:moveTo>
                  <a:pt x="440" y="0"/>
                </a:moveTo>
                <a:lnTo>
                  <a:pt x="0" y="0"/>
                </a:lnTo>
                <a:lnTo>
                  <a:pt x="85" y="221"/>
                </a:lnTo>
                <a:lnTo>
                  <a:pt x="0" y="452"/>
                </a:lnTo>
                <a:lnTo>
                  <a:pt x="440" y="452"/>
                </a:lnTo>
                <a:cubicBezTo>
                  <a:pt x="440" y="449"/>
                  <a:pt x="440" y="447"/>
                  <a:pt x="440" y="444"/>
                </a:cubicBezTo>
                <a:lnTo>
                  <a:pt x="44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defTabSz="914217">
              <a:defRPr/>
            </a:pPr>
            <a:endParaRPr lang="en-US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0" name="Pentagon 59">
            <a:extLst>
              <a:ext uri="{FF2B5EF4-FFF2-40B4-BE49-F238E27FC236}">
                <a16:creationId xmlns:a16="http://schemas.microsoft.com/office/drawing/2014/main" id="{D9649E5C-BCB9-774E-9882-D7C40AFFEDD9}"/>
              </a:ext>
            </a:extLst>
          </p:cNvPr>
          <p:cNvSpPr/>
          <p:nvPr/>
        </p:nvSpPr>
        <p:spPr>
          <a:xfrm>
            <a:off x="5545761" y="3576008"/>
            <a:ext cx="5177167" cy="977283"/>
          </a:xfrm>
          <a:prstGeom prst="homePlate">
            <a:avLst>
              <a:gd name="adj" fmla="val 2855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951B637-6F9C-1B45-82C4-F40B62D39D16}"/>
              </a:ext>
            </a:extLst>
          </p:cNvPr>
          <p:cNvSpPr/>
          <p:nvPr/>
        </p:nvSpPr>
        <p:spPr>
          <a:xfrm>
            <a:off x="1655781" y="3509302"/>
            <a:ext cx="1146157" cy="114615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SV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2" name="Freeform 22880">
            <a:extLst>
              <a:ext uri="{FF2B5EF4-FFF2-40B4-BE49-F238E27FC236}">
                <a16:creationId xmlns:a16="http://schemas.microsoft.com/office/drawing/2014/main" id="{1A648C71-4067-1B40-9E64-D744496D1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311" y="5022383"/>
            <a:ext cx="1299880" cy="1356809"/>
          </a:xfrm>
          <a:custGeom>
            <a:avLst/>
            <a:gdLst>
              <a:gd name="T0" fmla="*/ 217128 w 604"/>
              <a:gd name="T1" fmla="*/ 159484 h 632"/>
              <a:gd name="T2" fmla="*/ 217128 w 604"/>
              <a:gd name="T3" fmla="*/ 159484 h 632"/>
              <a:gd name="T4" fmla="*/ 0 w 604"/>
              <a:gd name="T5" fmla="*/ 159484 h 632"/>
              <a:gd name="T6" fmla="*/ 0 w 604"/>
              <a:gd name="T7" fmla="*/ 0 h 632"/>
              <a:gd name="T8" fmla="*/ 0 w 604"/>
              <a:gd name="T9" fmla="*/ 0 h 632"/>
              <a:gd name="T10" fmla="*/ 217128 w 604"/>
              <a:gd name="T11" fmla="*/ 0 h 632"/>
              <a:gd name="T12" fmla="*/ 217128 w 604"/>
              <a:gd name="T13" fmla="*/ 159484 h 6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04" h="632">
                <a:moveTo>
                  <a:pt x="603" y="444"/>
                </a:moveTo>
                <a:lnTo>
                  <a:pt x="603" y="444"/>
                </a:lnTo>
                <a:cubicBezTo>
                  <a:pt x="603" y="631"/>
                  <a:pt x="0" y="631"/>
                  <a:pt x="0" y="444"/>
                </a:cubicBezTo>
                <a:lnTo>
                  <a:pt x="0" y="0"/>
                </a:lnTo>
                <a:cubicBezTo>
                  <a:pt x="0" y="187"/>
                  <a:pt x="603" y="187"/>
                  <a:pt x="603" y="0"/>
                </a:cubicBezTo>
                <a:lnTo>
                  <a:pt x="603" y="444"/>
                </a:lnTo>
              </a:path>
            </a:pathLst>
          </a:custGeom>
          <a:solidFill>
            <a:schemeClr val="accent2">
              <a:lumMod val="9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>
              <a:defRPr/>
            </a:pPr>
            <a:endParaRPr lang="en-US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3" name="Freeform 22881">
            <a:extLst>
              <a:ext uri="{FF2B5EF4-FFF2-40B4-BE49-F238E27FC236}">
                <a16:creationId xmlns:a16="http://schemas.microsoft.com/office/drawing/2014/main" id="{4AC18A0D-6532-3A44-AFF7-8824CD378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863" y="5022383"/>
            <a:ext cx="1299879" cy="977283"/>
          </a:xfrm>
          <a:custGeom>
            <a:avLst/>
            <a:gdLst>
              <a:gd name="T0" fmla="*/ 158390 w 441"/>
              <a:gd name="T1" fmla="*/ 0 h 453"/>
              <a:gd name="T2" fmla="*/ 0 w 441"/>
              <a:gd name="T3" fmla="*/ 0 h 453"/>
              <a:gd name="T4" fmla="*/ 30598 w 441"/>
              <a:gd name="T5" fmla="*/ 79771 h 453"/>
              <a:gd name="T6" fmla="*/ 0 w 441"/>
              <a:gd name="T7" fmla="*/ 163152 h 453"/>
              <a:gd name="T8" fmla="*/ 158390 w 441"/>
              <a:gd name="T9" fmla="*/ 163152 h 453"/>
              <a:gd name="T10" fmla="*/ 158390 w 441"/>
              <a:gd name="T11" fmla="*/ 163152 h 453"/>
              <a:gd name="T12" fmla="*/ 158390 w 441"/>
              <a:gd name="T13" fmla="*/ 160264 h 453"/>
              <a:gd name="T14" fmla="*/ 158390 w 441"/>
              <a:gd name="T15" fmla="*/ 0 h 45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41" h="453">
                <a:moveTo>
                  <a:pt x="440" y="0"/>
                </a:moveTo>
                <a:lnTo>
                  <a:pt x="0" y="0"/>
                </a:lnTo>
                <a:lnTo>
                  <a:pt x="85" y="221"/>
                </a:lnTo>
                <a:lnTo>
                  <a:pt x="0" y="452"/>
                </a:lnTo>
                <a:lnTo>
                  <a:pt x="440" y="452"/>
                </a:lnTo>
                <a:cubicBezTo>
                  <a:pt x="440" y="449"/>
                  <a:pt x="440" y="447"/>
                  <a:pt x="440" y="444"/>
                </a:cubicBezTo>
                <a:lnTo>
                  <a:pt x="440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defTabSz="914217">
              <a:defRPr/>
            </a:pPr>
            <a:endParaRPr lang="en-US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4" name="Pentagon 63">
            <a:extLst>
              <a:ext uri="{FF2B5EF4-FFF2-40B4-BE49-F238E27FC236}">
                <a16:creationId xmlns:a16="http://schemas.microsoft.com/office/drawing/2014/main" id="{49518079-60B2-B542-9203-87F786061580}"/>
              </a:ext>
            </a:extLst>
          </p:cNvPr>
          <p:cNvSpPr/>
          <p:nvPr/>
        </p:nvSpPr>
        <p:spPr>
          <a:xfrm>
            <a:off x="5545761" y="5022383"/>
            <a:ext cx="5177167" cy="977283"/>
          </a:xfrm>
          <a:prstGeom prst="homePlate">
            <a:avLst>
              <a:gd name="adj" fmla="val 2855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34A8001-C852-8A42-AFE5-6744F721D169}"/>
              </a:ext>
            </a:extLst>
          </p:cNvPr>
          <p:cNvSpPr/>
          <p:nvPr/>
        </p:nvSpPr>
        <p:spPr>
          <a:xfrm>
            <a:off x="1655781" y="4955677"/>
            <a:ext cx="1146157" cy="114615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SV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6" name="Freeform 22880">
            <a:extLst>
              <a:ext uri="{FF2B5EF4-FFF2-40B4-BE49-F238E27FC236}">
                <a16:creationId xmlns:a16="http://schemas.microsoft.com/office/drawing/2014/main" id="{0C8BF020-94EB-2440-AA3A-BD62A2A41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311" y="2212099"/>
            <a:ext cx="1299880" cy="1356809"/>
          </a:xfrm>
          <a:custGeom>
            <a:avLst/>
            <a:gdLst>
              <a:gd name="T0" fmla="*/ 217128 w 604"/>
              <a:gd name="T1" fmla="*/ 159484 h 632"/>
              <a:gd name="T2" fmla="*/ 217128 w 604"/>
              <a:gd name="T3" fmla="*/ 159484 h 632"/>
              <a:gd name="T4" fmla="*/ 0 w 604"/>
              <a:gd name="T5" fmla="*/ 159484 h 632"/>
              <a:gd name="T6" fmla="*/ 0 w 604"/>
              <a:gd name="T7" fmla="*/ 0 h 632"/>
              <a:gd name="T8" fmla="*/ 0 w 604"/>
              <a:gd name="T9" fmla="*/ 0 h 632"/>
              <a:gd name="T10" fmla="*/ 217128 w 604"/>
              <a:gd name="T11" fmla="*/ 0 h 632"/>
              <a:gd name="T12" fmla="*/ 217128 w 604"/>
              <a:gd name="T13" fmla="*/ 159484 h 6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04" h="632">
                <a:moveTo>
                  <a:pt x="603" y="444"/>
                </a:moveTo>
                <a:lnTo>
                  <a:pt x="603" y="444"/>
                </a:lnTo>
                <a:cubicBezTo>
                  <a:pt x="603" y="631"/>
                  <a:pt x="0" y="631"/>
                  <a:pt x="0" y="444"/>
                </a:cubicBezTo>
                <a:lnTo>
                  <a:pt x="0" y="0"/>
                </a:lnTo>
                <a:cubicBezTo>
                  <a:pt x="0" y="187"/>
                  <a:pt x="603" y="187"/>
                  <a:pt x="603" y="0"/>
                </a:cubicBezTo>
                <a:lnTo>
                  <a:pt x="603" y="444"/>
                </a:lnTo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>
              <a:defRPr/>
            </a:pPr>
            <a:endParaRPr lang="en-US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7" name="Freeform 22881">
            <a:extLst>
              <a:ext uri="{FF2B5EF4-FFF2-40B4-BE49-F238E27FC236}">
                <a16:creationId xmlns:a16="http://schemas.microsoft.com/office/drawing/2014/main" id="{26FFBC85-1776-AD48-9DB8-D432D2630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863" y="2212099"/>
            <a:ext cx="1299879" cy="977283"/>
          </a:xfrm>
          <a:custGeom>
            <a:avLst/>
            <a:gdLst>
              <a:gd name="T0" fmla="*/ 158390 w 441"/>
              <a:gd name="T1" fmla="*/ 0 h 453"/>
              <a:gd name="T2" fmla="*/ 0 w 441"/>
              <a:gd name="T3" fmla="*/ 0 h 453"/>
              <a:gd name="T4" fmla="*/ 30598 w 441"/>
              <a:gd name="T5" fmla="*/ 79771 h 453"/>
              <a:gd name="T6" fmla="*/ 0 w 441"/>
              <a:gd name="T7" fmla="*/ 163152 h 453"/>
              <a:gd name="T8" fmla="*/ 158390 w 441"/>
              <a:gd name="T9" fmla="*/ 163152 h 453"/>
              <a:gd name="T10" fmla="*/ 158390 w 441"/>
              <a:gd name="T11" fmla="*/ 163152 h 453"/>
              <a:gd name="T12" fmla="*/ 158390 w 441"/>
              <a:gd name="T13" fmla="*/ 160264 h 453"/>
              <a:gd name="T14" fmla="*/ 158390 w 441"/>
              <a:gd name="T15" fmla="*/ 0 h 45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41" h="453">
                <a:moveTo>
                  <a:pt x="440" y="0"/>
                </a:moveTo>
                <a:lnTo>
                  <a:pt x="0" y="0"/>
                </a:lnTo>
                <a:lnTo>
                  <a:pt x="85" y="221"/>
                </a:lnTo>
                <a:lnTo>
                  <a:pt x="0" y="452"/>
                </a:lnTo>
                <a:lnTo>
                  <a:pt x="440" y="452"/>
                </a:lnTo>
                <a:cubicBezTo>
                  <a:pt x="440" y="449"/>
                  <a:pt x="440" y="447"/>
                  <a:pt x="440" y="444"/>
                </a:cubicBezTo>
                <a:lnTo>
                  <a:pt x="440" y="0"/>
                </a:lnTo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>
              <a:defRPr/>
            </a:pPr>
            <a:endParaRPr lang="en-US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8" name="Pentagon 67">
            <a:extLst>
              <a:ext uri="{FF2B5EF4-FFF2-40B4-BE49-F238E27FC236}">
                <a16:creationId xmlns:a16="http://schemas.microsoft.com/office/drawing/2014/main" id="{5A879716-14DC-284B-9C01-96561060A226}"/>
              </a:ext>
            </a:extLst>
          </p:cNvPr>
          <p:cNvSpPr/>
          <p:nvPr/>
        </p:nvSpPr>
        <p:spPr>
          <a:xfrm>
            <a:off x="5545761" y="2152341"/>
            <a:ext cx="5177167" cy="977283"/>
          </a:xfrm>
          <a:prstGeom prst="homePlate">
            <a:avLst>
              <a:gd name="adj" fmla="val 28558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98E6253-A284-1B4A-B816-3810AD5F3E6D}"/>
              </a:ext>
            </a:extLst>
          </p:cNvPr>
          <p:cNvSpPr/>
          <p:nvPr/>
        </p:nvSpPr>
        <p:spPr>
          <a:xfrm>
            <a:off x="1655781" y="2145393"/>
            <a:ext cx="1146157" cy="114615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SV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D30A6B0-6E2A-1F48-B8C0-91C0C4705948}"/>
              </a:ext>
            </a:extLst>
          </p:cNvPr>
          <p:cNvSpPr txBox="1"/>
          <p:nvPr/>
        </p:nvSpPr>
        <p:spPr>
          <a:xfrm>
            <a:off x="5446273" y="3811860"/>
            <a:ext cx="5089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DOT Concerned with number of Road Accidents and wants to deploy strategies to reduce accidents and improve road safety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94F2563-3409-B945-999E-007310565ED2}"/>
              </a:ext>
            </a:extLst>
          </p:cNvPr>
          <p:cNvSpPr/>
          <p:nvPr/>
        </p:nvSpPr>
        <p:spPr>
          <a:xfrm>
            <a:off x="5946074" y="3557056"/>
            <a:ext cx="43879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dirty="0">
                <a:solidFill>
                  <a:schemeClr val="tx2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Business Problem</a:t>
            </a:r>
            <a:endParaRPr lang="en-US" sz="2700" dirty="0">
              <a:solidFill>
                <a:schemeClr val="tx2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7B7716-8C15-8B41-A7C1-0F90192681E1}"/>
              </a:ext>
            </a:extLst>
          </p:cNvPr>
          <p:cNvSpPr txBox="1"/>
          <p:nvPr/>
        </p:nvSpPr>
        <p:spPr>
          <a:xfrm>
            <a:off x="5770568" y="5188641"/>
            <a:ext cx="4609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16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 Accidents (2016 - 2023)</a:t>
            </a:r>
            <a:r>
              <a:rPr lang="en-US" sz="1600" dirty="0">
                <a:solidFill>
                  <a:schemeClr val="tx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 </a:t>
            </a: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Countrywide car accident dataset that covers 49 states of the USA.  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14DEA9A-D3FD-3A45-BCE2-76EC990E9AF1}"/>
              </a:ext>
            </a:extLst>
          </p:cNvPr>
          <p:cNvSpPr/>
          <p:nvPr/>
        </p:nvSpPr>
        <p:spPr>
          <a:xfrm>
            <a:off x="7244101" y="4957634"/>
            <a:ext cx="1832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dirty="0">
                <a:solidFill>
                  <a:schemeClr val="tx2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Dataset</a:t>
            </a:r>
            <a:endParaRPr lang="en-US" sz="2700" dirty="0">
              <a:solidFill>
                <a:schemeClr val="tx2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6DE13AA-7B33-3240-BEFE-DDCE15AAF3EB}"/>
              </a:ext>
            </a:extLst>
          </p:cNvPr>
          <p:cNvSpPr txBox="1"/>
          <p:nvPr/>
        </p:nvSpPr>
        <p:spPr>
          <a:xfrm>
            <a:off x="5614847" y="2472104"/>
            <a:ext cx="4921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Analysis on US Traffic Accidents Dataset from 2016 &lt;-&gt; 2023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EBE77FC-B873-6742-97EC-1F8286321111}"/>
              </a:ext>
            </a:extLst>
          </p:cNvPr>
          <p:cNvSpPr/>
          <p:nvPr/>
        </p:nvSpPr>
        <p:spPr>
          <a:xfrm>
            <a:off x="7172226" y="2130957"/>
            <a:ext cx="1832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dirty="0">
                <a:solidFill>
                  <a:schemeClr val="tx2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Introduction</a:t>
            </a:r>
            <a:endParaRPr lang="en-US" sz="2700" dirty="0">
              <a:solidFill>
                <a:schemeClr val="tx2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92" name="CuadroTexto 350">
            <a:extLst>
              <a:ext uri="{FF2B5EF4-FFF2-40B4-BE49-F238E27FC236}">
                <a16:creationId xmlns:a16="http://schemas.microsoft.com/office/drawing/2014/main" id="{F3E0EB84-ECCE-6242-98A3-1E21EFC88CFB}"/>
              </a:ext>
            </a:extLst>
          </p:cNvPr>
          <p:cNvSpPr txBox="1"/>
          <p:nvPr/>
        </p:nvSpPr>
        <p:spPr>
          <a:xfrm>
            <a:off x="1819953" y="3751809"/>
            <a:ext cx="801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02</a:t>
            </a:r>
          </a:p>
        </p:txBody>
      </p:sp>
      <p:sp>
        <p:nvSpPr>
          <p:cNvPr id="93" name="CuadroTexto 350">
            <a:extLst>
              <a:ext uri="{FF2B5EF4-FFF2-40B4-BE49-F238E27FC236}">
                <a16:creationId xmlns:a16="http://schemas.microsoft.com/office/drawing/2014/main" id="{E0AE6816-96B6-5343-9191-B7D38AB0620F}"/>
              </a:ext>
            </a:extLst>
          </p:cNvPr>
          <p:cNvSpPr txBox="1"/>
          <p:nvPr/>
        </p:nvSpPr>
        <p:spPr>
          <a:xfrm>
            <a:off x="1819953" y="5226279"/>
            <a:ext cx="801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03</a:t>
            </a:r>
          </a:p>
        </p:txBody>
      </p:sp>
      <p:sp>
        <p:nvSpPr>
          <p:cNvPr id="100" name="CuadroTexto 350">
            <a:extLst>
              <a:ext uri="{FF2B5EF4-FFF2-40B4-BE49-F238E27FC236}">
                <a16:creationId xmlns:a16="http://schemas.microsoft.com/office/drawing/2014/main" id="{24ECA10A-CF53-E446-95B8-A3DCD7089E5A}"/>
              </a:ext>
            </a:extLst>
          </p:cNvPr>
          <p:cNvSpPr txBox="1"/>
          <p:nvPr/>
        </p:nvSpPr>
        <p:spPr>
          <a:xfrm>
            <a:off x="1885677" y="2376008"/>
            <a:ext cx="670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dirty="0">
                <a:solidFill>
                  <a:schemeClr val="tx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01</a:t>
            </a:r>
          </a:p>
        </p:txBody>
      </p:sp>
      <p:sp>
        <p:nvSpPr>
          <p:cNvPr id="109" name="Gráfico 72">
            <a:extLst>
              <a:ext uri="{FF2B5EF4-FFF2-40B4-BE49-F238E27FC236}">
                <a16:creationId xmlns:a16="http://schemas.microsoft.com/office/drawing/2014/main" id="{BF8152D1-F769-FC4C-9CD8-E9700C992A43}"/>
              </a:ext>
            </a:extLst>
          </p:cNvPr>
          <p:cNvSpPr/>
          <p:nvPr/>
        </p:nvSpPr>
        <p:spPr>
          <a:xfrm>
            <a:off x="4679295" y="4118649"/>
            <a:ext cx="451076" cy="451076"/>
          </a:xfrm>
          <a:custGeom>
            <a:avLst/>
            <a:gdLst>
              <a:gd name="connsiteX0" fmla="*/ 558938 w 570831"/>
              <a:gd name="connsiteY0" fmla="*/ 309200 h 570831"/>
              <a:gd name="connsiteX1" fmla="*/ 570831 w 570831"/>
              <a:gd name="connsiteY1" fmla="*/ 297307 h 570831"/>
              <a:gd name="connsiteX2" fmla="*/ 570831 w 570831"/>
              <a:gd name="connsiteY2" fmla="*/ 273523 h 570831"/>
              <a:gd name="connsiteX3" fmla="*/ 558938 w 570831"/>
              <a:gd name="connsiteY3" fmla="*/ 261630 h 570831"/>
              <a:gd name="connsiteX4" fmla="*/ 498073 w 570831"/>
              <a:gd name="connsiteY4" fmla="*/ 261630 h 570831"/>
              <a:gd name="connsiteX5" fmla="*/ 309200 w 570831"/>
              <a:gd name="connsiteY5" fmla="*/ 72755 h 570831"/>
              <a:gd name="connsiteX6" fmla="*/ 309200 w 570831"/>
              <a:gd name="connsiteY6" fmla="*/ 11893 h 570831"/>
              <a:gd name="connsiteX7" fmla="*/ 297308 w 570831"/>
              <a:gd name="connsiteY7" fmla="*/ 0 h 570831"/>
              <a:gd name="connsiteX8" fmla="*/ 273524 w 570831"/>
              <a:gd name="connsiteY8" fmla="*/ 0 h 570831"/>
              <a:gd name="connsiteX9" fmla="*/ 261631 w 570831"/>
              <a:gd name="connsiteY9" fmla="*/ 11893 h 570831"/>
              <a:gd name="connsiteX10" fmla="*/ 261631 w 570831"/>
              <a:gd name="connsiteY10" fmla="*/ 72756 h 570831"/>
              <a:gd name="connsiteX11" fmla="*/ 152438 w 570831"/>
              <a:gd name="connsiteY11" fmla="*/ 118803 h 570831"/>
              <a:gd name="connsiteX12" fmla="*/ 37119 w 570831"/>
              <a:gd name="connsiteY12" fmla="*/ 3484 h 570831"/>
              <a:gd name="connsiteX13" fmla="*/ 20299 w 570831"/>
              <a:gd name="connsiteY13" fmla="*/ 3484 h 570831"/>
              <a:gd name="connsiteX14" fmla="*/ 3485 w 570831"/>
              <a:gd name="connsiteY14" fmla="*/ 20299 h 570831"/>
              <a:gd name="connsiteX15" fmla="*/ 3485 w 570831"/>
              <a:gd name="connsiteY15" fmla="*/ 37117 h 570831"/>
              <a:gd name="connsiteX16" fmla="*/ 118805 w 570831"/>
              <a:gd name="connsiteY16" fmla="*/ 152438 h 570831"/>
              <a:gd name="connsiteX17" fmla="*/ 72758 w 570831"/>
              <a:gd name="connsiteY17" fmla="*/ 261631 h 570831"/>
              <a:gd name="connsiteX18" fmla="*/ 11893 w 570831"/>
              <a:gd name="connsiteY18" fmla="*/ 261631 h 570831"/>
              <a:gd name="connsiteX19" fmla="*/ 0 w 570831"/>
              <a:gd name="connsiteY19" fmla="*/ 273523 h 570831"/>
              <a:gd name="connsiteX20" fmla="*/ 0 w 570831"/>
              <a:gd name="connsiteY20" fmla="*/ 297307 h 570831"/>
              <a:gd name="connsiteX21" fmla="*/ 11893 w 570831"/>
              <a:gd name="connsiteY21" fmla="*/ 309200 h 570831"/>
              <a:gd name="connsiteX22" fmla="*/ 72758 w 570831"/>
              <a:gd name="connsiteY22" fmla="*/ 309200 h 570831"/>
              <a:gd name="connsiteX23" fmla="*/ 261631 w 570831"/>
              <a:gd name="connsiteY23" fmla="*/ 498075 h 570831"/>
              <a:gd name="connsiteX24" fmla="*/ 261631 w 570831"/>
              <a:gd name="connsiteY24" fmla="*/ 558938 h 570831"/>
              <a:gd name="connsiteX25" fmla="*/ 273524 w 570831"/>
              <a:gd name="connsiteY25" fmla="*/ 570831 h 570831"/>
              <a:gd name="connsiteX26" fmla="*/ 297308 w 570831"/>
              <a:gd name="connsiteY26" fmla="*/ 570831 h 570831"/>
              <a:gd name="connsiteX27" fmla="*/ 309201 w 570831"/>
              <a:gd name="connsiteY27" fmla="*/ 558938 h 570831"/>
              <a:gd name="connsiteX28" fmla="*/ 309201 w 570831"/>
              <a:gd name="connsiteY28" fmla="*/ 498075 h 570831"/>
              <a:gd name="connsiteX29" fmla="*/ 418395 w 570831"/>
              <a:gd name="connsiteY29" fmla="*/ 452027 h 570831"/>
              <a:gd name="connsiteX30" fmla="*/ 533714 w 570831"/>
              <a:gd name="connsiteY30" fmla="*/ 567346 h 570831"/>
              <a:gd name="connsiteX31" fmla="*/ 550533 w 570831"/>
              <a:gd name="connsiteY31" fmla="*/ 567346 h 570831"/>
              <a:gd name="connsiteX32" fmla="*/ 567347 w 570831"/>
              <a:gd name="connsiteY32" fmla="*/ 550531 h 570831"/>
              <a:gd name="connsiteX33" fmla="*/ 567347 w 570831"/>
              <a:gd name="connsiteY33" fmla="*/ 533713 h 570831"/>
              <a:gd name="connsiteX34" fmla="*/ 452027 w 570831"/>
              <a:gd name="connsiteY34" fmla="*/ 418394 h 570831"/>
              <a:gd name="connsiteX35" fmla="*/ 498073 w 570831"/>
              <a:gd name="connsiteY35" fmla="*/ 309200 h 570831"/>
              <a:gd name="connsiteX36" fmla="*/ 558938 w 570831"/>
              <a:gd name="connsiteY36" fmla="*/ 309200 h 570831"/>
              <a:gd name="connsiteX37" fmla="*/ 285416 w 570831"/>
              <a:gd name="connsiteY37" fmla="*/ 451908 h 570831"/>
              <a:gd name="connsiteX38" fmla="*/ 118924 w 570831"/>
              <a:gd name="connsiteY38" fmla="*/ 285416 h 570831"/>
              <a:gd name="connsiteX39" fmla="*/ 152289 w 570831"/>
              <a:gd name="connsiteY39" fmla="*/ 185920 h 570831"/>
              <a:gd name="connsiteX40" fmla="*/ 203874 w 570831"/>
              <a:gd name="connsiteY40" fmla="*/ 237505 h 570831"/>
              <a:gd name="connsiteX41" fmla="*/ 190277 w 570831"/>
              <a:gd name="connsiteY41" fmla="*/ 285416 h 570831"/>
              <a:gd name="connsiteX42" fmla="*/ 285416 w 570831"/>
              <a:gd name="connsiteY42" fmla="*/ 380554 h 570831"/>
              <a:gd name="connsiteX43" fmla="*/ 333326 w 570831"/>
              <a:gd name="connsiteY43" fmla="*/ 366959 h 570831"/>
              <a:gd name="connsiteX44" fmla="*/ 384908 w 570831"/>
              <a:gd name="connsiteY44" fmla="*/ 418541 h 570831"/>
              <a:gd name="connsiteX45" fmla="*/ 285416 w 570831"/>
              <a:gd name="connsiteY45" fmla="*/ 451908 h 570831"/>
              <a:gd name="connsiteX46" fmla="*/ 418544 w 570831"/>
              <a:gd name="connsiteY46" fmla="*/ 384910 h 570831"/>
              <a:gd name="connsiteX47" fmla="*/ 366960 w 570831"/>
              <a:gd name="connsiteY47" fmla="*/ 333325 h 570831"/>
              <a:gd name="connsiteX48" fmla="*/ 380555 w 570831"/>
              <a:gd name="connsiteY48" fmla="*/ 285417 h 570831"/>
              <a:gd name="connsiteX49" fmla="*/ 285417 w 570831"/>
              <a:gd name="connsiteY49" fmla="*/ 190278 h 570831"/>
              <a:gd name="connsiteX50" fmla="*/ 237506 w 570831"/>
              <a:gd name="connsiteY50" fmla="*/ 203874 h 570831"/>
              <a:gd name="connsiteX51" fmla="*/ 185924 w 570831"/>
              <a:gd name="connsiteY51" fmla="*/ 152290 h 570831"/>
              <a:gd name="connsiteX52" fmla="*/ 285416 w 570831"/>
              <a:gd name="connsiteY52" fmla="*/ 118925 h 570831"/>
              <a:gd name="connsiteX53" fmla="*/ 451908 w 570831"/>
              <a:gd name="connsiteY53" fmla="*/ 285417 h 570831"/>
              <a:gd name="connsiteX54" fmla="*/ 418544 w 570831"/>
              <a:gd name="connsiteY54" fmla="*/ 384910 h 570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570831" h="570831">
                <a:moveTo>
                  <a:pt x="558938" y="309200"/>
                </a:moveTo>
                <a:cubicBezTo>
                  <a:pt x="565512" y="309200"/>
                  <a:pt x="570831" y="303881"/>
                  <a:pt x="570831" y="297307"/>
                </a:cubicBezTo>
                <a:lnTo>
                  <a:pt x="570831" y="273523"/>
                </a:lnTo>
                <a:cubicBezTo>
                  <a:pt x="570831" y="266949"/>
                  <a:pt x="565512" y="261630"/>
                  <a:pt x="558938" y="261630"/>
                </a:cubicBezTo>
                <a:lnTo>
                  <a:pt x="498073" y="261630"/>
                </a:lnTo>
                <a:cubicBezTo>
                  <a:pt x="487064" y="162585"/>
                  <a:pt x="408256" y="83766"/>
                  <a:pt x="309200" y="72755"/>
                </a:cubicBezTo>
                <a:lnTo>
                  <a:pt x="309200" y="11893"/>
                </a:lnTo>
                <a:cubicBezTo>
                  <a:pt x="309200" y="5319"/>
                  <a:pt x="303882" y="0"/>
                  <a:pt x="297308" y="0"/>
                </a:cubicBezTo>
                <a:lnTo>
                  <a:pt x="273524" y="0"/>
                </a:lnTo>
                <a:cubicBezTo>
                  <a:pt x="266950" y="0"/>
                  <a:pt x="261631" y="5319"/>
                  <a:pt x="261631" y="11893"/>
                </a:cubicBezTo>
                <a:lnTo>
                  <a:pt x="261631" y="72756"/>
                </a:lnTo>
                <a:cubicBezTo>
                  <a:pt x="220437" y="77335"/>
                  <a:pt x="183200" y="94166"/>
                  <a:pt x="152438" y="118803"/>
                </a:cubicBezTo>
                <a:lnTo>
                  <a:pt x="37119" y="3484"/>
                </a:lnTo>
                <a:cubicBezTo>
                  <a:pt x="32473" y="-1160"/>
                  <a:pt x="24945" y="-1160"/>
                  <a:pt x="20299" y="3484"/>
                </a:cubicBezTo>
                <a:lnTo>
                  <a:pt x="3485" y="20299"/>
                </a:lnTo>
                <a:cubicBezTo>
                  <a:pt x="-1161" y="24943"/>
                  <a:pt x="-1161" y="32473"/>
                  <a:pt x="3485" y="37117"/>
                </a:cubicBezTo>
                <a:lnTo>
                  <a:pt x="118805" y="152438"/>
                </a:lnTo>
                <a:cubicBezTo>
                  <a:pt x="94168" y="183200"/>
                  <a:pt x="77336" y="220439"/>
                  <a:pt x="72758" y="261631"/>
                </a:cubicBezTo>
                <a:lnTo>
                  <a:pt x="11893" y="261631"/>
                </a:lnTo>
                <a:cubicBezTo>
                  <a:pt x="5319" y="261631"/>
                  <a:pt x="0" y="266950"/>
                  <a:pt x="0" y="273523"/>
                </a:cubicBezTo>
                <a:lnTo>
                  <a:pt x="0" y="297307"/>
                </a:lnTo>
                <a:cubicBezTo>
                  <a:pt x="0" y="303881"/>
                  <a:pt x="5319" y="309200"/>
                  <a:pt x="11893" y="309200"/>
                </a:cubicBezTo>
                <a:lnTo>
                  <a:pt x="72758" y="309200"/>
                </a:lnTo>
                <a:cubicBezTo>
                  <a:pt x="83767" y="408245"/>
                  <a:pt x="162575" y="487064"/>
                  <a:pt x="261631" y="498075"/>
                </a:cubicBezTo>
                <a:lnTo>
                  <a:pt x="261631" y="558938"/>
                </a:lnTo>
                <a:cubicBezTo>
                  <a:pt x="261631" y="565512"/>
                  <a:pt x="266950" y="570831"/>
                  <a:pt x="273524" y="570831"/>
                </a:cubicBezTo>
                <a:lnTo>
                  <a:pt x="297308" y="570831"/>
                </a:lnTo>
                <a:cubicBezTo>
                  <a:pt x="303882" y="570831"/>
                  <a:pt x="309201" y="565512"/>
                  <a:pt x="309201" y="558938"/>
                </a:cubicBezTo>
                <a:lnTo>
                  <a:pt x="309201" y="498075"/>
                </a:lnTo>
                <a:cubicBezTo>
                  <a:pt x="350398" y="493496"/>
                  <a:pt x="387633" y="476665"/>
                  <a:pt x="418395" y="452027"/>
                </a:cubicBezTo>
                <a:lnTo>
                  <a:pt x="533714" y="567346"/>
                </a:lnTo>
                <a:cubicBezTo>
                  <a:pt x="538359" y="571989"/>
                  <a:pt x="545887" y="571989"/>
                  <a:pt x="550533" y="567346"/>
                </a:cubicBezTo>
                <a:lnTo>
                  <a:pt x="567347" y="550531"/>
                </a:lnTo>
                <a:cubicBezTo>
                  <a:pt x="571993" y="545887"/>
                  <a:pt x="571993" y="538357"/>
                  <a:pt x="567347" y="533713"/>
                </a:cubicBezTo>
                <a:lnTo>
                  <a:pt x="452027" y="418394"/>
                </a:lnTo>
                <a:cubicBezTo>
                  <a:pt x="476665" y="387629"/>
                  <a:pt x="493495" y="350392"/>
                  <a:pt x="498073" y="309200"/>
                </a:cubicBezTo>
                <a:lnTo>
                  <a:pt x="558938" y="309200"/>
                </a:lnTo>
                <a:close/>
                <a:moveTo>
                  <a:pt x="285416" y="451908"/>
                </a:moveTo>
                <a:cubicBezTo>
                  <a:pt x="193622" y="451908"/>
                  <a:pt x="118924" y="377220"/>
                  <a:pt x="118924" y="285416"/>
                </a:cubicBezTo>
                <a:cubicBezTo>
                  <a:pt x="118924" y="248077"/>
                  <a:pt x="131436" y="213706"/>
                  <a:pt x="152289" y="185920"/>
                </a:cubicBezTo>
                <a:lnTo>
                  <a:pt x="203874" y="237505"/>
                </a:lnTo>
                <a:cubicBezTo>
                  <a:pt x="195434" y="251594"/>
                  <a:pt x="190277" y="267818"/>
                  <a:pt x="190277" y="285416"/>
                </a:cubicBezTo>
                <a:cubicBezTo>
                  <a:pt x="190277" y="337874"/>
                  <a:pt x="232946" y="380554"/>
                  <a:pt x="285416" y="380554"/>
                </a:cubicBezTo>
                <a:cubicBezTo>
                  <a:pt x="303014" y="380554"/>
                  <a:pt x="319237" y="375397"/>
                  <a:pt x="333326" y="366959"/>
                </a:cubicBezTo>
                <a:lnTo>
                  <a:pt x="384908" y="418541"/>
                </a:lnTo>
                <a:cubicBezTo>
                  <a:pt x="357121" y="439394"/>
                  <a:pt x="322750" y="451908"/>
                  <a:pt x="285416" y="451908"/>
                </a:cubicBezTo>
                <a:close/>
                <a:moveTo>
                  <a:pt x="418544" y="384910"/>
                </a:moveTo>
                <a:lnTo>
                  <a:pt x="366960" y="333325"/>
                </a:lnTo>
                <a:cubicBezTo>
                  <a:pt x="375399" y="319235"/>
                  <a:pt x="380555" y="303012"/>
                  <a:pt x="380555" y="285417"/>
                </a:cubicBezTo>
                <a:cubicBezTo>
                  <a:pt x="380555" y="232958"/>
                  <a:pt x="337886" y="190278"/>
                  <a:pt x="285417" y="190278"/>
                </a:cubicBezTo>
                <a:cubicBezTo>
                  <a:pt x="267818" y="190278"/>
                  <a:pt x="251595" y="195435"/>
                  <a:pt x="237506" y="203874"/>
                </a:cubicBezTo>
                <a:lnTo>
                  <a:pt x="185924" y="152290"/>
                </a:lnTo>
                <a:cubicBezTo>
                  <a:pt x="213709" y="131437"/>
                  <a:pt x="248081" y="118925"/>
                  <a:pt x="285416" y="118925"/>
                </a:cubicBezTo>
                <a:cubicBezTo>
                  <a:pt x="377209" y="118925"/>
                  <a:pt x="451908" y="193612"/>
                  <a:pt x="451908" y="285417"/>
                </a:cubicBezTo>
                <a:cubicBezTo>
                  <a:pt x="451908" y="322754"/>
                  <a:pt x="439396" y="357124"/>
                  <a:pt x="418544" y="384910"/>
                </a:cubicBezTo>
                <a:close/>
              </a:path>
            </a:pathLst>
          </a:custGeom>
          <a:solidFill>
            <a:schemeClr val="bg1"/>
          </a:solidFill>
          <a:ln w="1098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11" name="Forma libre 198">
            <a:extLst>
              <a:ext uri="{FF2B5EF4-FFF2-40B4-BE49-F238E27FC236}">
                <a16:creationId xmlns:a16="http://schemas.microsoft.com/office/drawing/2014/main" id="{E97AA13E-49DB-B342-A2AC-E7B1B5BBF7C9}"/>
              </a:ext>
            </a:extLst>
          </p:cNvPr>
          <p:cNvSpPr/>
          <p:nvPr/>
        </p:nvSpPr>
        <p:spPr>
          <a:xfrm>
            <a:off x="4656435" y="2758150"/>
            <a:ext cx="505442" cy="379086"/>
          </a:xfrm>
          <a:custGeom>
            <a:avLst/>
            <a:gdLst>
              <a:gd name="connsiteX0" fmla="*/ 570259 w 570825"/>
              <a:gd name="connsiteY0" fmla="*/ 210427 h 428124"/>
              <a:gd name="connsiteX1" fmla="*/ 285412 w 570825"/>
              <a:gd name="connsiteY1" fmla="*/ 0 h 428124"/>
              <a:gd name="connsiteX2" fmla="*/ 566 w 570825"/>
              <a:gd name="connsiteY2" fmla="*/ 210427 h 428124"/>
              <a:gd name="connsiteX3" fmla="*/ 566 w 570825"/>
              <a:gd name="connsiteY3" fmla="*/ 217697 h 428124"/>
              <a:gd name="connsiteX4" fmla="*/ 285413 w 570825"/>
              <a:gd name="connsiteY4" fmla="*/ 428124 h 428124"/>
              <a:gd name="connsiteX5" fmla="*/ 570260 w 570825"/>
              <a:gd name="connsiteY5" fmla="*/ 217697 h 428124"/>
              <a:gd name="connsiteX6" fmla="*/ 570259 w 570825"/>
              <a:gd name="connsiteY6" fmla="*/ 210427 h 428124"/>
              <a:gd name="connsiteX7" fmla="*/ 285412 w 570825"/>
              <a:gd name="connsiteY7" fmla="*/ 380555 h 428124"/>
              <a:gd name="connsiteX8" fmla="*/ 118920 w 570825"/>
              <a:gd name="connsiteY8" fmla="*/ 214063 h 428124"/>
              <a:gd name="connsiteX9" fmla="*/ 285412 w 570825"/>
              <a:gd name="connsiteY9" fmla="*/ 47571 h 428124"/>
              <a:gd name="connsiteX10" fmla="*/ 451904 w 570825"/>
              <a:gd name="connsiteY10" fmla="*/ 214063 h 428124"/>
              <a:gd name="connsiteX11" fmla="*/ 285412 w 570825"/>
              <a:gd name="connsiteY11" fmla="*/ 380555 h 428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0825" h="428124">
                <a:moveTo>
                  <a:pt x="570259" y="210427"/>
                </a:moveTo>
                <a:cubicBezTo>
                  <a:pt x="529809" y="84559"/>
                  <a:pt x="415334" y="0"/>
                  <a:pt x="285412" y="0"/>
                </a:cubicBezTo>
                <a:cubicBezTo>
                  <a:pt x="155490" y="0"/>
                  <a:pt x="41016" y="84559"/>
                  <a:pt x="566" y="210427"/>
                </a:cubicBezTo>
                <a:cubicBezTo>
                  <a:pt x="-189" y="212785"/>
                  <a:pt x="-189" y="215339"/>
                  <a:pt x="566" y="217697"/>
                </a:cubicBezTo>
                <a:cubicBezTo>
                  <a:pt x="41016" y="343566"/>
                  <a:pt x="155491" y="428124"/>
                  <a:pt x="285413" y="428124"/>
                </a:cubicBezTo>
                <a:cubicBezTo>
                  <a:pt x="415335" y="428124"/>
                  <a:pt x="529809" y="343566"/>
                  <a:pt x="570260" y="217697"/>
                </a:cubicBezTo>
                <a:cubicBezTo>
                  <a:pt x="571014" y="215339"/>
                  <a:pt x="571014" y="212785"/>
                  <a:pt x="570259" y="210427"/>
                </a:cubicBezTo>
                <a:close/>
                <a:moveTo>
                  <a:pt x="285412" y="380555"/>
                </a:moveTo>
                <a:cubicBezTo>
                  <a:pt x="193606" y="380555"/>
                  <a:pt x="118920" y="305867"/>
                  <a:pt x="118920" y="214063"/>
                </a:cubicBezTo>
                <a:cubicBezTo>
                  <a:pt x="118920" y="122258"/>
                  <a:pt x="193607" y="47571"/>
                  <a:pt x="285412" y="47571"/>
                </a:cubicBezTo>
                <a:cubicBezTo>
                  <a:pt x="377216" y="47571"/>
                  <a:pt x="451904" y="122258"/>
                  <a:pt x="451904" y="214063"/>
                </a:cubicBezTo>
                <a:cubicBezTo>
                  <a:pt x="451904" y="305867"/>
                  <a:pt x="377218" y="380555"/>
                  <a:pt x="285412" y="380555"/>
                </a:cubicBezTo>
                <a:close/>
              </a:path>
            </a:pathLst>
          </a:custGeom>
          <a:solidFill>
            <a:schemeClr val="bg1"/>
          </a:solidFill>
          <a:ln w="1098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12" name="Forma libre 199">
            <a:extLst>
              <a:ext uri="{FF2B5EF4-FFF2-40B4-BE49-F238E27FC236}">
                <a16:creationId xmlns:a16="http://schemas.microsoft.com/office/drawing/2014/main" id="{7066EA65-C673-934B-8C9D-82E3D72BE36F}"/>
              </a:ext>
            </a:extLst>
          </p:cNvPr>
          <p:cNvSpPr/>
          <p:nvPr/>
        </p:nvSpPr>
        <p:spPr>
          <a:xfrm>
            <a:off x="4824915" y="2863452"/>
            <a:ext cx="168482" cy="168482"/>
          </a:xfrm>
          <a:custGeom>
            <a:avLst/>
            <a:gdLst>
              <a:gd name="connsiteX0" fmla="*/ 190276 w 190276"/>
              <a:gd name="connsiteY0" fmla="*/ 95138 h 190276"/>
              <a:gd name="connsiteX1" fmla="*/ 95138 w 190276"/>
              <a:gd name="connsiteY1" fmla="*/ 190276 h 190276"/>
              <a:gd name="connsiteX2" fmla="*/ 0 w 190276"/>
              <a:gd name="connsiteY2" fmla="*/ 95138 h 190276"/>
              <a:gd name="connsiteX3" fmla="*/ 95138 w 190276"/>
              <a:gd name="connsiteY3" fmla="*/ 0 h 190276"/>
              <a:gd name="connsiteX4" fmla="*/ 190276 w 190276"/>
              <a:gd name="connsiteY4" fmla="*/ 95138 h 190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76" h="190276">
                <a:moveTo>
                  <a:pt x="190276" y="95138"/>
                </a:moveTo>
                <a:cubicBezTo>
                  <a:pt x="190276" y="147681"/>
                  <a:pt x="147681" y="190276"/>
                  <a:pt x="95138" y="190276"/>
                </a:cubicBezTo>
                <a:cubicBezTo>
                  <a:pt x="42595" y="190276"/>
                  <a:pt x="0" y="147681"/>
                  <a:pt x="0" y="95138"/>
                </a:cubicBezTo>
                <a:cubicBezTo>
                  <a:pt x="0" y="42595"/>
                  <a:pt x="42595" y="0"/>
                  <a:pt x="95138" y="0"/>
                </a:cubicBezTo>
                <a:cubicBezTo>
                  <a:pt x="147681" y="0"/>
                  <a:pt x="190276" y="42595"/>
                  <a:pt x="190276" y="95138"/>
                </a:cubicBezTo>
                <a:close/>
              </a:path>
            </a:pathLst>
          </a:custGeom>
          <a:solidFill>
            <a:schemeClr val="bg1"/>
          </a:solidFill>
          <a:ln w="1098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13" name="Gráfico 251">
            <a:extLst>
              <a:ext uri="{FF2B5EF4-FFF2-40B4-BE49-F238E27FC236}">
                <a16:creationId xmlns:a16="http://schemas.microsoft.com/office/drawing/2014/main" id="{E32D6743-9160-0F40-A194-BD7A885838A1}"/>
              </a:ext>
            </a:extLst>
          </p:cNvPr>
          <p:cNvSpPr/>
          <p:nvPr/>
        </p:nvSpPr>
        <p:spPr>
          <a:xfrm>
            <a:off x="4713714" y="5571579"/>
            <a:ext cx="428087" cy="428087"/>
          </a:xfrm>
          <a:custGeom>
            <a:avLst/>
            <a:gdLst>
              <a:gd name="connsiteX0" fmla="*/ 519307 w 571237"/>
              <a:gd name="connsiteY0" fmla="*/ 0 h 571237"/>
              <a:gd name="connsiteX1" fmla="*/ 51931 w 571237"/>
              <a:gd name="connsiteY1" fmla="*/ 0 h 571237"/>
              <a:gd name="connsiteX2" fmla="*/ 0 w 571237"/>
              <a:gd name="connsiteY2" fmla="*/ 51931 h 571237"/>
              <a:gd name="connsiteX3" fmla="*/ 0 w 571237"/>
              <a:gd name="connsiteY3" fmla="*/ 519307 h 571237"/>
              <a:gd name="connsiteX4" fmla="*/ 51931 w 571237"/>
              <a:gd name="connsiteY4" fmla="*/ 571238 h 571237"/>
              <a:gd name="connsiteX5" fmla="*/ 519307 w 571237"/>
              <a:gd name="connsiteY5" fmla="*/ 571238 h 571237"/>
              <a:gd name="connsiteX6" fmla="*/ 571238 w 571237"/>
              <a:gd name="connsiteY6" fmla="*/ 519307 h 571237"/>
              <a:gd name="connsiteX7" fmla="*/ 571238 w 571237"/>
              <a:gd name="connsiteY7" fmla="*/ 51931 h 571237"/>
              <a:gd name="connsiteX8" fmla="*/ 519307 w 571237"/>
              <a:gd name="connsiteY8" fmla="*/ 0 h 571237"/>
              <a:gd name="connsiteX9" fmla="*/ 476551 w 571237"/>
              <a:gd name="connsiteY9" fmla="*/ 183328 h 571237"/>
              <a:gd name="connsiteX10" fmla="*/ 252044 w 571237"/>
              <a:gd name="connsiteY10" fmla="*/ 407836 h 571237"/>
              <a:gd name="connsiteX11" fmla="*/ 233687 w 571237"/>
              <a:gd name="connsiteY11" fmla="*/ 415443 h 571237"/>
              <a:gd name="connsiteX12" fmla="*/ 215329 w 571237"/>
              <a:gd name="connsiteY12" fmla="*/ 407836 h 571237"/>
              <a:gd name="connsiteX13" fmla="*/ 94680 w 571237"/>
              <a:gd name="connsiteY13" fmla="*/ 287189 h 571237"/>
              <a:gd name="connsiteX14" fmla="*/ 94680 w 571237"/>
              <a:gd name="connsiteY14" fmla="*/ 268829 h 571237"/>
              <a:gd name="connsiteX15" fmla="*/ 113037 w 571237"/>
              <a:gd name="connsiteY15" fmla="*/ 250472 h 571237"/>
              <a:gd name="connsiteX16" fmla="*/ 131397 w 571237"/>
              <a:gd name="connsiteY16" fmla="*/ 250472 h 571237"/>
              <a:gd name="connsiteX17" fmla="*/ 233687 w 571237"/>
              <a:gd name="connsiteY17" fmla="*/ 352761 h 571237"/>
              <a:gd name="connsiteX18" fmla="*/ 439836 w 571237"/>
              <a:gd name="connsiteY18" fmla="*/ 146611 h 571237"/>
              <a:gd name="connsiteX19" fmla="*/ 458196 w 571237"/>
              <a:gd name="connsiteY19" fmla="*/ 146611 h 571237"/>
              <a:gd name="connsiteX20" fmla="*/ 476553 w 571237"/>
              <a:gd name="connsiteY20" fmla="*/ 164968 h 571237"/>
              <a:gd name="connsiteX21" fmla="*/ 476551 w 571237"/>
              <a:gd name="connsiteY21" fmla="*/ 183328 h 571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71237" h="571237">
                <a:moveTo>
                  <a:pt x="519307" y="0"/>
                </a:moveTo>
                <a:lnTo>
                  <a:pt x="51931" y="0"/>
                </a:lnTo>
                <a:cubicBezTo>
                  <a:pt x="23303" y="0"/>
                  <a:pt x="0" y="23290"/>
                  <a:pt x="0" y="51931"/>
                </a:cubicBezTo>
                <a:lnTo>
                  <a:pt x="0" y="519307"/>
                </a:lnTo>
                <a:cubicBezTo>
                  <a:pt x="0" y="547947"/>
                  <a:pt x="23303" y="571238"/>
                  <a:pt x="51931" y="571238"/>
                </a:cubicBezTo>
                <a:lnTo>
                  <a:pt x="519307" y="571238"/>
                </a:lnTo>
                <a:cubicBezTo>
                  <a:pt x="547934" y="571238"/>
                  <a:pt x="571238" y="547948"/>
                  <a:pt x="571238" y="519307"/>
                </a:cubicBezTo>
                <a:lnTo>
                  <a:pt x="571238" y="51931"/>
                </a:lnTo>
                <a:cubicBezTo>
                  <a:pt x="571236" y="23290"/>
                  <a:pt x="547934" y="0"/>
                  <a:pt x="519307" y="0"/>
                </a:cubicBezTo>
                <a:close/>
                <a:moveTo>
                  <a:pt x="476551" y="183328"/>
                </a:moveTo>
                <a:lnTo>
                  <a:pt x="252044" y="407836"/>
                </a:lnTo>
                <a:cubicBezTo>
                  <a:pt x="246973" y="412908"/>
                  <a:pt x="240330" y="415443"/>
                  <a:pt x="233687" y="415443"/>
                </a:cubicBezTo>
                <a:cubicBezTo>
                  <a:pt x="227043" y="415443"/>
                  <a:pt x="220399" y="412908"/>
                  <a:pt x="215329" y="407836"/>
                </a:cubicBezTo>
                <a:lnTo>
                  <a:pt x="94680" y="287189"/>
                </a:lnTo>
                <a:cubicBezTo>
                  <a:pt x="89611" y="282120"/>
                  <a:pt x="89611" y="273899"/>
                  <a:pt x="94680" y="268829"/>
                </a:cubicBezTo>
                <a:lnTo>
                  <a:pt x="113037" y="250472"/>
                </a:lnTo>
                <a:cubicBezTo>
                  <a:pt x="118106" y="245403"/>
                  <a:pt x="126326" y="245403"/>
                  <a:pt x="131397" y="250472"/>
                </a:cubicBezTo>
                <a:lnTo>
                  <a:pt x="233687" y="352761"/>
                </a:lnTo>
                <a:lnTo>
                  <a:pt x="439836" y="146611"/>
                </a:lnTo>
                <a:cubicBezTo>
                  <a:pt x="444905" y="141542"/>
                  <a:pt x="453125" y="141542"/>
                  <a:pt x="458196" y="146611"/>
                </a:cubicBezTo>
                <a:lnTo>
                  <a:pt x="476553" y="164968"/>
                </a:lnTo>
                <a:cubicBezTo>
                  <a:pt x="481621" y="170037"/>
                  <a:pt x="481621" y="178257"/>
                  <a:pt x="476551" y="183328"/>
                </a:cubicBezTo>
                <a:close/>
              </a:path>
            </a:pathLst>
          </a:custGeom>
          <a:solidFill>
            <a:schemeClr val="bg1"/>
          </a:solidFill>
          <a:ln w="1198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4516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reeform 80">
            <a:extLst>
              <a:ext uri="{FF2B5EF4-FFF2-40B4-BE49-F238E27FC236}">
                <a16:creationId xmlns:a16="http://schemas.microsoft.com/office/drawing/2014/main" id="{B0D9A1D7-CCB3-95C7-FE79-8526AFDA6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696" y="5410114"/>
            <a:ext cx="191780" cy="193661"/>
          </a:xfrm>
          <a:custGeom>
            <a:avLst/>
            <a:gdLst>
              <a:gd name="T0" fmla="*/ 235 w 451"/>
              <a:gd name="T1" fmla="*/ 451 h 452"/>
              <a:gd name="T2" fmla="*/ 235 w 451"/>
              <a:gd name="T3" fmla="*/ 451 h 452"/>
              <a:gd name="T4" fmla="*/ 0 w 451"/>
              <a:gd name="T5" fmla="*/ 235 h 452"/>
              <a:gd name="T6" fmla="*/ 235 w 451"/>
              <a:gd name="T7" fmla="*/ 0 h 452"/>
              <a:gd name="T8" fmla="*/ 450 w 451"/>
              <a:gd name="T9" fmla="*/ 235 h 452"/>
              <a:gd name="T10" fmla="*/ 235 w 451"/>
              <a:gd name="T11" fmla="*/ 451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1" h="452">
                <a:moveTo>
                  <a:pt x="235" y="451"/>
                </a:moveTo>
                <a:lnTo>
                  <a:pt x="235" y="451"/>
                </a:lnTo>
                <a:cubicBezTo>
                  <a:pt x="98" y="451"/>
                  <a:pt x="0" y="353"/>
                  <a:pt x="0" y="235"/>
                </a:cubicBezTo>
                <a:cubicBezTo>
                  <a:pt x="0" y="99"/>
                  <a:pt x="98" y="0"/>
                  <a:pt x="235" y="0"/>
                </a:cubicBezTo>
                <a:cubicBezTo>
                  <a:pt x="353" y="0"/>
                  <a:pt x="450" y="99"/>
                  <a:pt x="450" y="235"/>
                </a:cubicBezTo>
                <a:cubicBezTo>
                  <a:pt x="450" y="353"/>
                  <a:pt x="353" y="451"/>
                  <a:pt x="235" y="451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00" name="Freeform 73">
            <a:extLst>
              <a:ext uri="{FF2B5EF4-FFF2-40B4-BE49-F238E27FC236}">
                <a16:creationId xmlns:a16="http://schemas.microsoft.com/office/drawing/2014/main" id="{DED633AB-E34E-D358-B2B1-33332A6EE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523" y="985167"/>
            <a:ext cx="2464932" cy="684390"/>
          </a:xfrm>
          <a:custGeom>
            <a:avLst/>
            <a:gdLst>
              <a:gd name="T0" fmla="*/ 4956 w 5780"/>
              <a:gd name="T1" fmla="*/ 0 h 1607"/>
              <a:gd name="T2" fmla="*/ 4956 w 5780"/>
              <a:gd name="T3" fmla="*/ 0 h 1607"/>
              <a:gd name="T4" fmla="*/ 823 w 5780"/>
              <a:gd name="T5" fmla="*/ 0 h 1607"/>
              <a:gd name="T6" fmla="*/ 0 w 5780"/>
              <a:gd name="T7" fmla="*/ 803 h 1607"/>
              <a:gd name="T8" fmla="*/ 0 w 5780"/>
              <a:gd name="T9" fmla="*/ 803 h 1607"/>
              <a:gd name="T10" fmla="*/ 823 w 5780"/>
              <a:gd name="T11" fmla="*/ 1606 h 1607"/>
              <a:gd name="T12" fmla="*/ 4956 w 5780"/>
              <a:gd name="T13" fmla="*/ 1606 h 1607"/>
              <a:gd name="T14" fmla="*/ 5779 w 5780"/>
              <a:gd name="T15" fmla="*/ 803 h 1607"/>
              <a:gd name="T16" fmla="*/ 5779 w 5780"/>
              <a:gd name="T17" fmla="*/ 803 h 1607"/>
              <a:gd name="T18" fmla="*/ 4956 w 5780"/>
              <a:gd name="T19" fmla="*/ 0 h 1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80" h="1607">
                <a:moveTo>
                  <a:pt x="4956" y="0"/>
                </a:moveTo>
                <a:lnTo>
                  <a:pt x="4956" y="0"/>
                </a:lnTo>
                <a:cubicBezTo>
                  <a:pt x="823" y="0"/>
                  <a:pt x="823" y="0"/>
                  <a:pt x="823" y="0"/>
                </a:cubicBezTo>
                <a:cubicBezTo>
                  <a:pt x="373" y="0"/>
                  <a:pt x="0" y="353"/>
                  <a:pt x="0" y="803"/>
                </a:cubicBezTo>
                <a:lnTo>
                  <a:pt x="0" y="803"/>
                </a:lnTo>
                <a:cubicBezTo>
                  <a:pt x="0" y="1253"/>
                  <a:pt x="373" y="1606"/>
                  <a:pt x="823" y="1606"/>
                </a:cubicBezTo>
                <a:cubicBezTo>
                  <a:pt x="4956" y="1606"/>
                  <a:pt x="4956" y="1606"/>
                  <a:pt x="4956" y="1606"/>
                </a:cubicBezTo>
                <a:cubicBezTo>
                  <a:pt x="5407" y="1606"/>
                  <a:pt x="5779" y="1253"/>
                  <a:pt x="5779" y="803"/>
                </a:cubicBezTo>
                <a:lnTo>
                  <a:pt x="5779" y="803"/>
                </a:lnTo>
                <a:cubicBezTo>
                  <a:pt x="5779" y="353"/>
                  <a:pt x="5407" y="0"/>
                  <a:pt x="4956" y="0"/>
                </a:cubicBez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08A4006-38F0-1846-B393-CEBB524D752F}"/>
              </a:ext>
            </a:extLst>
          </p:cNvPr>
          <p:cNvSpPr/>
          <p:nvPr/>
        </p:nvSpPr>
        <p:spPr>
          <a:xfrm>
            <a:off x="101288" y="2907581"/>
            <a:ext cx="1825666" cy="182566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SV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3149079" y="-40471"/>
            <a:ext cx="66255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b="1" dirty="0">
                <a:solidFill>
                  <a:srgbClr val="353E49"/>
                </a:solidFill>
                <a:latin typeface="Poppins" pitchFamily="2" charset="77"/>
                <a:cs typeface="Poppins" pitchFamily="2" charset="77"/>
              </a:rPr>
              <a:t>Business Understanding</a:t>
            </a:r>
          </a:p>
        </p:txBody>
      </p:sp>
      <p:sp>
        <p:nvSpPr>
          <p:cNvPr id="4" name="Freeform 1">
            <a:extLst>
              <a:ext uri="{FF2B5EF4-FFF2-40B4-BE49-F238E27FC236}">
                <a16:creationId xmlns:a16="http://schemas.microsoft.com/office/drawing/2014/main" id="{0A5C1495-AA5A-6940-8F45-4F282DEA5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378" y="2092519"/>
            <a:ext cx="26323" cy="1880"/>
          </a:xfrm>
          <a:custGeom>
            <a:avLst/>
            <a:gdLst>
              <a:gd name="T0" fmla="*/ 0 w 60"/>
              <a:gd name="T1" fmla="*/ 0 h 1"/>
              <a:gd name="T2" fmla="*/ 0 w 60"/>
              <a:gd name="T3" fmla="*/ 0 h 1"/>
              <a:gd name="T4" fmla="*/ 59 w 60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0" h="1">
                <a:moveTo>
                  <a:pt x="0" y="0"/>
                </a:moveTo>
                <a:lnTo>
                  <a:pt x="0" y="0"/>
                </a:lnTo>
                <a:cubicBezTo>
                  <a:pt x="19" y="0"/>
                  <a:pt x="39" y="0"/>
                  <a:pt x="59" y="0"/>
                </a:cubicBezTo>
              </a:path>
            </a:pathLst>
          </a:custGeom>
          <a:noFill/>
          <a:ln w="76200" cap="flat">
            <a:solidFill>
              <a:srgbClr val="2323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19FD8025-323D-EE4D-8159-C66C3F94F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107" y="2101919"/>
            <a:ext cx="50766" cy="188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6EFB7DC7-BC01-284A-9A2B-7003FE5FE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6158" y="2101919"/>
            <a:ext cx="58287" cy="188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D340AC7A-E648-914B-8137-FD0D4A533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209" y="2109440"/>
            <a:ext cx="58287" cy="188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599A6FD-E053-0847-8BAF-6680E4161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1781" y="2109440"/>
            <a:ext cx="50766" cy="9402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3A4065A6-F9B1-E348-88A4-BC7B818A6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32" y="2118841"/>
            <a:ext cx="58287" cy="1880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EFDA990E-CEE4-1A4D-A66A-88BCB69B41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004" y="2126362"/>
            <a:ext cx="58286" cy="1880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C5C21A7F-09F8-5C4B-9184-3A55E7CCC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6455" y="2126362"/>
            <a:ext cx="50766" cy="752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2A151039-3919-804B-8AA0-A717C4FB6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3627" y="2135763"/>
            <a:ext cx="58286" cy="188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99CAD271-DBDF-914C-A554-3E8B7E816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678" y="2143283"/>
            <a:ext cx="50765" cy="26323"/>
          </a:xfrm>
          <a:custGeom>
            <a:avLst/>
            <a:gdLst>
              <a:gd name="T0" fmla="*/ 0 w 119"/>
              <a:gd name="T1" fmla="*/ 0 h 60"/>
              <a:gd name="T2" fmla="*/ 40 w 119"/>
              <a:gd name="T3" fmla="*/ 0 h 60"/>
              <a:gd name="T4" fmla="*/ 118 w 119"/>
              <a:gd name="T5" fmla="*/ 59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" h="60">
                <a:moveTo>
                  <a:pt x="0" y="0"/>
                </a:moveTo>
                <a:lnTo>
                  <a:pt x="40" y="0"/>
                </a:lnTo>
                <a:lnTo>
                  <a:pt x="118" y="59"/>
                </a:lnTo>
              </a:path>
            </a:pathLst>
          </a:cu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274C954B-2045-A543-8144-4C3252B3F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5406" y="2209091"/>
            <a:ext cx="41364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25978D9E-67AC-1E4C-AD64-24A3270A9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0014" y="2284298"/>
            <a:ext cx="33844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3A60D42B-238B-284D-8EB5-EF906D758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5222" y="2368906"/>
            <a:ext cx="33844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05C5893B-BE4B-4744-AF5C-56C7A1842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0430" y="2451635"/>
            <a:ext cx="41364" cy="3384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DFE6B11E-59A6-2C4D-91D4-3AD2D4097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5637" y="2526842"/>
            <a:ext cx="41364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0093D302-1C8A-4F43-BDAE-168853D83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366" y="2611452"/>
            <a:ext cx="33844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3223F6AF-40E0-2E45-BA32-3B81BE015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3573" y="2686659"/>
            <a:ext cx="33844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C2EA1AD8-CF92-484C-A7B2-643252B93E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8781" y="2769388"/>
            <a:ext cx="41364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53F91B74-6C62-9843-A5E0-67D7567F9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989" y="2852116"/>
            <a:ext cx="41364" cy="33844"/>
          </a:xfrm>
          <a:custGeom>
            <a:avLst/>
            <a:gdLst>
              <a:gd name="T0" fmla="*/ 0 w 98"/>
              <a:gd name="T1" fmla="*/ 0 h 80"/>
              <a:gd name="T2" fmla="*/ 97 w 98"/>
              <a:gd name="T3" fmla="*/ 79 h 80"/>
              <a:gd name="T4" fmla="*/ 97 w 98"/>
              <a:gd name="T5" fmla="*/ 79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8" h="80">
                <a:moveTo>
                  <a:pt x="0" y="0"/>
                </a:moveTo>
                <a:lnTo>
                  <a:pt x="97" y="79"/>
                </a:lnTo>
                <a:lnTo>
                  <a:pt x="97" y="79"/>
                </a:lnTo>
              </a:path>
            </a:pathLst>
          </a:custGeom>
          <a:noFill/>
          <a:ln w="2124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EEA2C167-F6BF-D546-8BBB-E502ECDD6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2944245"/>
            <a:ext cx="1881" cy="58287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CF763E77-AF2F-9F44-8A2A-9BB21A294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3053296"/>
            <a:ext cx="1881" cy="58287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C9A5130A-0D3B-154D-8C9F-B5E1BAAF3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3169868"/>
            <a:ext cx="1881" cy="50766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BAAFCD11-09B0-6D49-AE47-1A887A1C2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3278919"/>
            <a:ext cx="1881" cy="58287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EEE1CCBF-F082-C04D-A42C-5513B3C377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3387970"/>
            <a:ext cx="1881" cy="58287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11479ED6-29EB-004F-BB34-FA2ACA80D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3504542"/>
            <a:ext cx="1881" cy="50766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C7FDA78D-2DAC-144E-80E5-F3F4703CBE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3613593"/>
            <a:ext cx="1881" cy="58287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466D7D88-62E2-014C-B282-5DB92DA44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3720765"/>
            <a:ext cx="1881" cy="58286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9097A192-4EC7-B848-8AF2-9007EC8E0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3837337"/>
            <a:ext cx="1881" cy="50765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7D1279A3-E4BB-EE47-A160-153840E39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3946388"/>
            <a:ext cx="1881" cy="58286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DF64BCD4-7766-7345-A70A-236B16399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4055439"/>
            <a:ext cx="1881" cy="58286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7CDFD0F7-8130-FA45-B2FE-CF0715DD4A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4172011"/>
            <a:ext cx="1881" cy="50765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9C1CFC26-F10A-3E4C-8FC5-9AAC59F93E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4281062"/>
            <a:ext cx="1881" cy="58286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CCA8A53D-A6C9-0E48-A67C-69B8AC0BB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4390113"/>
            <a:ext cx="1881" cy="58286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DE6136B6-DD37-B248-BD81-B8D13AA26F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4506685"/>
            <a:ext cx="1881" cy="50765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B90147A0-C738-6845-B36A-6DAFFD1B1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53" y="4615736"/>
            <a:ext cx="1881" cy="58286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AD2CAB55-E65E-1A40-988D-C94F77A26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90" y="4722906"/>
            <a:ext cx="33844" cy="50766"/>
          </a:xfrm>
          <a:custGeom>
            <a:avLst/>
            <a:gdLst>
              <a:gd name="T0" fmla="*/ 78 w 79"/>
              <a:gd name="T1" fmla="*/ 0 h 119"/>
              <a:gd name="T2" fmla="*/ 78 w 79"/>
              <a:gd name="T3" fmla="*/ 19 h 119"/>
              <a:gd name="T4" fmla="*/ 0 w 79"/>
              <a:gd name="T5" fmla="*/ 118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9" h="119">
                <a:moveTo>
                  <a:pt x="78" y="0"/>
                </a:moveTo>
                <a:lnTo>
                  <a:pt x="78" y="19"/>
                </a:lnTo>
                <a:lnTo>
                  <a:pt x="0" y="118"/>
                </a:lnTo>
              </a:path>
            </a:pathLst>
          </a:cu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F47249F3-CBCE-034C-85DC-732B4CB6FA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4422" y="4807515"/>
            <a:ext cx="37604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1" name="Line 38">
            <a:extLst>
              <a:ext uri="{FF2B5EF4-FFF2-40B4-BE49-F238E27FC236}">
                <a16:creationId xmlns:a16="http://schemas.microsoft.com/office/drawing/2014/main" id="{CE8E5447-F56C-DA46-B78A-D1F7654482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1694" y="4890244"/>
            <a:ext cx="45125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2" name="Line 39">
            <a:extLst>
              <a:ext uri="{FF2B5EF4-FFF2-40B4-BE49-F238E27FC236}">
                <a16:creationId xmlns:a16="http://schemas.microsoft.com/office/drawing/2014/main" id="{C29FE0BD-C968-D148-953C-2E62F237C3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6486" y="4965451"/>
            <a:ext cx="45125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3" name="Line 40">
            <a:extLst>
              <a:ext uri="{FF2B5EF4-FFF2-40B4-BE49-F238E27FC236}">
                <a16:creationId xmlns:a16="http://schemas.microsoft.com/office/drawing/2014/main" id="{5D69FA49-65C9-8F45-B5B7-2DDA46B746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1278" y="5050059"/>
            <a:ext cx="37604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6" name="Line 41">
            <a:extLst>
              <a:ext uri="{FF2B5EF4-FFF2-40B4-BE49-F238E27FC236}">
                <a16:creationId xmlns:a16="http://schemas.microsoft.com/office/drawing/2014/main" id="{792F38A4-22E4-2A48-A9EA-B33280AEB5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8550" y="5123388"/>
            <a:ext cx="45125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7" name="Line 42">
            <a:extLst>
              <a:ext uri="{FF2B5EF4-FFF2-40B4-BE49-F238E27FC236}">
                <a16:creationId xmlns:a16="http://schemas.microsoft.com/office/drawing/2014/main" id="{04A24A3A-CA29-6446-8F95-3F654752AB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3342" y="5207996"/>
            <a:ext cx="45125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8" name="Line 43">
            <a:extLst>
              <a:ext uri="{FF2B5EF4-FFF2-40B4-BE49-F238E27FC236}">
                <a16:creationId xmlns:a16="http://schemas.microsoft.com/office/drawing/2014/main" id="{06A68236-781B-3541-844A-A914EBA7BD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8135" y="5290724"/>
            <a:ext cx="37604" cy="3384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9" name="Line 44">
            <a:extLst>
              <a:ext uri="{FF2B5EF4-FFF2-40B4-BE49-F238E27FC236}">
                <a16:creationId xmlns:a16="http://schemas.microsoft.com/office/drawing/2014/main" id="{2975CAB9-4DBF-284C-800C-DC09526A55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45406" y="5365932"/>
            <a:ext cx="45125" cy="4136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0" name="Line 45">
            <a:extLst>
              <a:ext uri="{FF2B5EF4-FFF2-40B4-BE49-F238E27FC236}">
                <a16:creationId xmlns:a16="http://schemas.microsoft.com/office/drawing/2014/main" id="{994858F2-0814-874F-8914-4BC803951B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70198" y="5450541"/>
            <a:ext cx="45125" cy="33844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1" name="Line 46">
            <a:extLst>
              <a:ext uri="{FF2B5EF4-FFF2-40B4-BE49-F238E27FC236}">
                <a16:creationId xmlns:a16="http://schemas.microsoft.com/office/drawing/2014/main" id="{6C5E8BF8-A3A4-2D46-8516-18626EB417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1147" y="5491905"/>
            <a:ext cx="62046" cy="1880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2" name="Line 47">
            <a:extLst>
              <a:ext uri="{FF2B5EF4-FFF2-40B4-BE49-F238E27FC236}">
                <a16:creationId xmlns:a16="http://schemas.microsoft.com/office/drawing/2014/main" id="{02D9AA3B-5C57-254A-AD8B-850D879A59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096" y="5491905"/>
            <a:ext cx="54525" cy="940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3" name="Line 48">
            <a:extLst>
              <a:ext uri="{FF2B5EF4-FFF2-40B4-BE49-F238E27FC236}">
                <a16:creationId xmlns:a16="http://schemas.microsoft.com/office/drawing/2014/main" id="{030DEF4B-BE15-9648-BED0-260F51920A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35524" y="5499426"/>
            <a:ext cx="62046" cy="1880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4" name="Line 49">
            <a:extLst>
              <a:ext uri="{FF2B5EF4-FFF2-40B4-BE49-F238E27FC236}">
                <a16:creationId xmlns:a16="http://schemas.microsoft.com/office/drawing/2014/main" id="{3B722CAA-1748-C344-B369-D41B309795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6473" y="5499426"/>
            <a:ext cx="62046" cy="940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5" name="Line 50">
            <a:extLst>
              <a:ext uri="{FF2B5EF4-FFF2-40B4-BE49-F238E27FC236}">
                <a16:creationId xmlns:a16="http://schemas.microsoft.com/office/drawing/2014/main" id="{2837C578-E9E6-504B-B42E-11B265B911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7422" y="5508826"/>
            <a:ext cx="54525" cy="188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6" name="Line 51">
            <a:extLst>
              <a:ext uri="{FF2B5EF4-FFF2-40B4-BE49-F238E27FC236}">
                <a16:creationId xmlns:a16="http://schemas.microsoft.com/office/drawing/2014/main" id="{51620970-E0B3-BF44-9CC5-49A4D69AB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00850" y="5508826"/>
            <a:ext cx="62046" cy="188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7" name="Line 52">
            <a:extLst>
              <a:ext uri="{FF2B5EF4-FFF2-40B4-BE49-F238E27FC236}">
                <a16:creationId xmlns:a16="http://schemas.microsoft.com/office/drawing/2014/main" id="{A960CFCB-64FB-0A49-94A5-981B66C727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91799" y="5516347"/>
            <a:ext cx="62046" cy="188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8" name="Line 53">
            <a:extLst>
              <a:ext uri="{FF2B5EF4-FFF2-40B4-BE49-F238E27FC236}">
                <a16:creationId xmlns:a16="http://schemas.microsoft.com/office/drawing/2014/main" id="{7C0343F6-A247-4340-ADD9-A0452CCB45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82748" y="5516347"/>
            <a:ext cx="54525" cy="1881"/>
          </a:xfrm>
          <a:prstGeom prst="line">
            <a:avLst/>
          </a:prstGeom>
          <a:noFill/>
          <a:ln w="76200" cap="flat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9" name="Freeform 54">
            <a:extLst>
              <a:ext uri="{FF2B5EF4-FFF2-40B4-BE49-F238E27FC236}">
                <a16:creationId xmlns:a16="http://schemas.microsoft.com/office/drawing/2014/main" id="{57E3A203-2031-C44C-A013-67B75149C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378" y="5516347"/>
            <a:ext cx="26323" cy="1881"/>
          </a:xfrm>
          <a:custGeom>
            <a:avLst/>
            <a:gdLst>
              <a:gd name="T0" fmla="*/ 59 w 60"/>
              <a:gd name="T1" fmla="*/ 0 h 1"/>
              <a:gd name="T2" fmla="*/ 59 w 60"/>
              <a:gd name="T3" fmla="*/ 0 h 1"/>
              <a:gd name="T4" fmla="*/ 0 w 60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0" h="1">
                <a:moveTo>
                  <a:pt x="59" y="0"/>
                </a:moveTo>
                <a:lnTo>
                  <a:pt x="59" y="0"/>
                </a:lnTo>
                <a:cubicBezTo>
                  <a:pt x="39" y="0"/>
                  <a:pt x="19" y="0"/>
                  <a:pt x="0" y="0"/>
                </a:cubicBezTo>
              </a:path>
            </a:pathLst>
          </a:custGeom>
          <a:noFill/>
          <a:ln w="21240" cap="flat">
            <a:solidFill>
              <a:srgbClr val="2323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0" name="Freeform 55">
            <a:extLst>
              <a:ext uri="{FF2B5EF4-FFF2-40B4-BE49-F238E27FC236}">
                <a16:creationId xmlns:a16="http://schemas.microsoft.com/office/drawing/2014/main" id="{3F3EDD2B-18BC-3A4B-A48D-F3A82249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014" y="2034232"/>
            <a:ext cx="116572" cy="116572"/>
          </a:xfrm>
          <a:custGeom>
            <a:avLst/>
            <a:gdLst>
              <a:gd name="T0" fmla="*/ 0 w 275"/>
              <a:gd name="T1" fmla="*/ 137 h 275"/>
              <a:gd name="T2" fmla="*/ 0 w 275"/>
              <a:gd name="T3" fmla="*/ 137 h 275"/>
              <a:gd name="T4" fmla="*/ 137 w 275"/>
              <a:gd name="T5" fmla="*/ 0 h 275"/>
              <a:gd name="T6" fmla="*/ 274 w 275"/>
              <a:gd name="T7" fmla="*/ 137 h 275"/>
              <a:gd name="T8" fmla="*/ 137 w 275"/>
              <a:gd name="T9" fmla="*/ 274 h 275"/>
              <a:gd name="T10" fmla="*/ 0 w 275"/>
              <a:gd name="T11" fmla="*/ 137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" h="275">
                <a:moveTo>
                  <a:pt x="0" y="137"/>
                </a:moveTo>
                <a:lnTo>
                  <a:pt x="0" y="137"/>
                </a:lnTo>
                <a:cubicBezTo>
                  <a:pt x="0" y="59"/>
                  <a:pt x="59" y="0"/>
                  <a:pt x="137" y="0"/>
                </a:cubicBezTo>
                <a:cubicBezTo>
                  <a:pt x="196" y="0"/>
                  <a:pt x="274" y="59"/>
                  <a:pt x="274" y="137"/>
                </a:cubicBezTo>
                <a:cubicBezTo>
                  <a:pt x="274" y="216"/>
                  <a:pt x="196" y="274"/>
                  <a:pt x="137" y="274"/>
                </a:cubicBezTo>
                <a:cubicBezTo>
                  <a:pt x="59" y="274"/>
                  <a:pt x="0" y="216"/>
                  <a:pt x="0" y="137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1" name="Freeform 56">
            <a:extLst>
              <a:ext uri="{FF2B5EF4-FFF2-40B4-BE49-F238E27FC236}">
                <a16:creationId xmlns:a16="http://schemas.microsoft.com/office/drawing/2014/main" id="{E453C1BF-B72E-5849-ADF5-46B501B9C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014" y="5450541"/>
            <a:ext cx="116572" cy="118452"/>
          </a:xfrm>
          <a:custGeom>
            <a:avLst/>
            <a:gdLst>
              <a:gd name="T0" fmla="*/ 0 w 275"/>
              <a:gd name="T1" fmla="*/ 138 h 276"/>
              <a:gd name="T2" fmla="*/ 0 w 275"/>
              <a:gd name="T3" fmla="*/ 138 h 276"/>
              <a:gd name="T4" fmla="*/ 137 w 275"/>
              <a:gd name="T5" fmla="*/ 0 h 276"/>
              <a:gd name="T6" fmla="*/ 274 w 275"/>
              <a:gd name="T7" fmla="*/ 138 h 276"/>
              <a:gd name="T8" fmla="*/ 137 w 275"/>
              <a:gd name="T9" fmla="*/ 275 h 276"/>
              <a:gd name="T10" fmla="*/ 0 w 275"/>
              <a:gd name="T11" fmla="*/ 138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" h="276">
                <a:moveTo>
                  <a:pt x="0" y="138"/>
                </a:moveTo>
                <a:lnTo>
                  <a:pt x="0" y="138"/>
                </a:lnTo>
                <a:cubicBezTo>
                  <a:pt x="0" y="59"/>
                  <a:pt x="59" y="0"/>
                  <a:pt x="137" y="0"/>
                </a:cubicBezTo>
                <a:cubicBezTo>
                  <a:pt x="196" y="0"/>
                  <a:pt x="274" y="59"/>
                  <a:pt x="274" y="138"/>
                </a:cubicBezTo>
                <a:cubicBezTo>
                  <a:pt x="274" y="216"/>
                  <a:pt x="196" y="275"/>
                  <a:pt x="137" y="275"/>
                </a:cubicBezTo>
                <a:cubicBezTo>
                  <a:pt x="59" y="275"/>
                  <a:pt x="0" y="216"/>
                  <a:pt x="0" y="138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3" name="Freeform 58">
            <a:extLst>
              <a:ext uri="{FF2B5EF4-FFF2-40B4-BE49-F238E27FC236}">
                <a16:creationId xmlns:a16="http://schemas.microsoft.com/office/drawing/2014/main" id="{EB46BCB2-3965-5641-9F93-673B06C51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95" y="1710839"/>
            <a:ext cx="2464932" cy="693790"/>
          </a:xfrm>
          <a:custGeom>
            <a:avLst/>
            <a:gdLst>
              <a:gd name="T0" fmla="*/ 4955 w 5779"/>
              <a:gd name="T1" fmla="*/ 0 h 1627"/>
              <a:gd name="T2" fmla="*/ 4955 w 5779"/>
              <a:gd name="T3" fmla="*/ 0 h 1627"/>
              <a:gd name="T4" fmla="*/ 823 w 5779"/>
              <a:gd name="T5" fmla="*/ 0 h 1627"/>
              <a:gd name="T6" fmla="*/ 0 w 5779"/>
              <a:gd name="T7" fmla="*/ 823 h 1627"/>
              <a:gd name="T8" fmla="*/ 0 w 5779"/>
              <a:gd name="T9" fmla="*/ 823 h 1627"/>
              <a:gd name="T10" fmla="*/ 823 w 5779"/>
              <a:gd name="T11" fmla="*/ 1626 h 1627"/>
              <a:gd name="T12" fmla="*/ 4955 w 5779"/>
              <a:gd name="T13" fmla="*/ 1626 h 1627"/>
              <a:gd name="T14" fmla="*/ 5778 w 5779"/>
              <a:gd name="T15" fmla="*/ 823 h 1627"/>
              <a:gd name="T16" fmla="*/ 5778 w 5779"/>
              <a:gd name="T17" fmla="*/ 823 h 1627"/>
              <a:gd name="T18" fmla="*/ 4955 w 5779"/>
              <a:gd name="T19" fmla="*/ 0 h 1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79" h="1627">
                <a:moveTo>
                  <a:pt x="4955" y="0"/>
                </a:moveTo>
                <a:lnTo>
                  <a:pt x="4955" y="0"/>
                </a:lnTo>
                <a:cubicBezTo>
                  <a:pt x="823" y="0"/>
                  <a:pt x="823" y="0"/>
                  <a:pt x="823" y="0"/>
                </a:cubicBezTo>
                <a:cubicBezTo>
                  <a:pt x="372" y="0"/>
                  <a:pt x="0" y="372"/>
                  <a:pt x="0" y="823"/>
                </a:cubicBezTo>
                <a:lnTo>
                  <a:pt x="0" y="823"/>
                </a:lnTo>
                <a:cubicBezTo>
                  <a:pt x="0" y="1273"/>
                  <a:pt x="372" y="1626"/>
                  <a:pt x="823" y="1626"/>
                </a:cubicBezTo>
                <a:cubicBezTo>
                  <a:pt x="4955" y="1626"/>
                  <a:pt x="4955" y="1626"/>
                  <a:pt x="4955" y="1626"/>
                </a:cubicBezTo>
                <a:cubicBezTo>
                  <a:pt x="5406" y="1626"/>
                  <a:pt x="5778" y="1273"/>
                  <a:pt x="5778" y="823"/>
                </a:cubicBezTo>
                <a:lnTo>
                  <a:pt x="5778" y="823"/>
                </a:lnTo>
                <a:cubicBezTo>
                  <a:pt x="5778" y="372"/>
                  <a:pt x="5406" y="0"/>
                  <a:pt x="4955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4" name="Freeform 59">
            <a:extLst>
              <a:ext uri="{FF2B5EF4-FFF2-40B4-BE49-F238E27FC236}">
                <a16:creationId xmlns:a16="http://schemas.microsoft.com/office/drawing/2014/main" id="{A8508A15-E22B-9846-B8DD-82B441A10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5406" y="2051155"/>
            <a:ext cx="359116" cy="458767"/>
          </a:xfrm>
          <a:custGeom>
            <a:avLst/>
            <a:gdLst>
              <a:gd name="T0" fmla="*/ 39 w 843"/>
              <a:gd name="T1" fmla="*/ 1077 h 1078"/>
              <a:gd name="T2" fmla="*/ 0 w 843"/>
              <a:gd name="T3" fmla="*/ 1039 h 1078"/>
              <a:gd name="T4" fmla="*/ 803 w 843"/>
              <a:gd name="T5" fmla="*/ 0 h 1078"/>
              <a:gd name="T6" fmla="*/ 842 w 843"/>
              <a:gd name="T7" fmla="*/ 20 h 1078"/>
              <a:gd name="T8" fmla="*/ 39 w 843"/>
              <a:gd name="T9" fmla="*/ 1077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3" h="1078">
                <a:moveTo>
                  <a:pt x="39" y="1077"/>
                </a:moveTo>
                <a:lnTo>
                  <a:pt x="0" y="1039"/>
                </a:lnTo>
                <a:lnTo>
                  <a:pt x="803" y="0"/>
                </a:lnTo>
                <a:lnTo>
                  <a:pt x="842" y="20"/>
                </a:lnTo>
                <a:lnTo>
                  <a:pt x="39" y="1077"/>
                </a:lnTo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bg1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5" name="Freeform 60">
            <a:extLst>
              <a:ext uri="{FF2B5EF4-FFF2-40B4-BE49-F238E27FC236}">
                <a16:creationId xmlns:a16="http://schemas.microsoft.com/office/drawing/2014/main" id="{B7BCE7E7-F317-0942-A497-95C8D1C13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5755" y="2402750"/>
            <a:ext cx="191780" cy="193661"/>
          </a:xfrm>
          <a:custGeom>
            <a:avLst/>
            <a:gdLst>
              <a:gd name="T0" fmla="*/ 235 w 451"/>
              <a:gd name="T1" fmla="*/ 451 h 452"/>
              <a:gd name="T2" fmla="*/ 235 w 451"/>
              <a:gd name="T3" fmla="*/ 451 h 452"/>
              <a:gd name="T4" fmla="*/ 0 w 451"/>
              <a:gd name="T5" fmla="*/ 216 h 452"/>
              <a:gd name="T6" fmla="*/ 235 w 451"/>
              <a:gd name="T7" fmla="*/ 0 h 452"/>
              <a:gd name="T8" fmla="*/ 450 w 451"/>
              <a:gd name="T9" fmla="*/ 216 h 452"/>
              <a:gd name="T10" fmla="*/ 235 w 451"/>
              <a:gd name="T11" fmla="*/ 451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1" h="452">
                <a:moveTo>
                  <a:pt x="235" y="451"/>
                </a:moveTo>
                <a:lnTo>
                  <a:pt x="235" y="451"/>
                </a:lnTo>
                <a:cubicBezTo>
                  <a:pt x="118" y="451"/>
                  <a:pt x="0" y="352"/>
                  <a:pt x="0" y="216"/>
                </a:cubicBezTo>
                <a:cubicBezTo>
                  <a:pt x="0" y="98"/>
                  <a:pt x="118" y="0"/>
                  <a:pt x="235" y="0"/>
                </a:cubicBezTo>
                <a:cubicBezTo>
                  <a:pt x="353" y="0"/>
                  <a:pt x="450" y="98"/>
                  <a:pt x="450" y="216"/>
                </a:cubicBezTo>
                <a:cubicBezTo>
                  <a:pt x="450" y="352"/>
                  <a:pt x="353" y="451"/>
                  <a:pt x="235" y="451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6" name="Freeform 61">
            <a:extLst>
              <a:ext uri="{FF2B5EF4-FFF2-40B4-BE49-F238E27FC236}">
                <a16:creationId xmlns:a16="http://schemas.microsoft.com/office/drawing/2014/main" id="{A70E485E-7363-0447-B496-266D5CF87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120" y="2444114"/>
            <a:ext cx="109051" cy="109051"/>
          </a:xfrm>
          <a:custGeom>
            <a:avLst/>
            <a:gdLst>
              <a:gd name="T0" fmla="*/ 0 w 256"/>
              <a:gd name="T1" fmla="*/ 118 h 255"/>
              <a:gd name="T2" fmla="*/ 0 w 256"/>
              <a:gd name="T3" fmla="*/ 118 h 255"/>
              <a:gd name="T4" fmla="*/ 137 w 256"/>
              <a:gd name="T5" fmla="*/ 0 h 255"/>
              <a:gd name="T6" fmla="*/ 255 w 256"/>
              <a:gd name="T7" fmla="*/ 118 h 255"/>
              <a:gd name="T8" fmla="*/ 137 w 256"/>
              <a:gd name="T9" fmla="*/ 254 h 255"/>
              <a:gd name="T10" fmla="*/ 0 w 256"/>
              <a:gd name="T11" fmla="*/ 11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6" h="255">
                <a:moveTo>
                  <a:pt x="0" y="118"/>
                </a:moveTo>
                <a:lnTo>
                  <a:pt x="0" y="118"/>
                </a:lnTo>
                <a:cubicBezTo>
                  <a:pt x="0" y="59"/>
                  <a:pt x="59" y="0"/>
                  <a:pt x="137" y="0"/>
                </a:cubicBezTo>
                <a:cubicBezTo>
                  <a:pt x="196" y="0"/>
                  <a:pt x="255" y="59"/>
                  <a:pt x="255" y="118"/>
                </a:cubicBezTo>
                <a:cubicBezTo>
                  <a:pt x="255" y="196"/>
                  <a:pt x="196" y="254"/>
                  <a:pt x="137" y="254"/>
                </a:cubicBezTo>
                <a:cubicBezTo>
                  <a:pt x="59" y="254"/>
                  <a:pt x="0" y="196"/>
                  <a:pt x="0" y="118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7" name="Freeform 62">
            <a:extLst>
              <a:ext uri="{FF2B5EF4-FFF2-40B4-BE49-F238E27FC236}">
                <a16:creationId xmlns:a16="http://schemas.microsoft.com/office/drawing/2014/main" id="{9C010772-610F-1243-9728-B8FB60BA7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1794" y="1797463"/>
            <a:ext cx="535855" cy="533975"/>
          </a:xfrm>
          <a:custGeom>
            <a:avLst/>
            <a:gdLst>
              <a:gd name="T0" fmla="*/ 0 w 1255"/>
              <a:gd name="T1" fmla="*/ 626 h 1254"/>
              <a:gd name="T2" fmla="*/ 0 w 1255"/>
              <a:gd name="T3" fmla="*/ 626 h 1254"/>
              <a:gd name="T4" fmla="*/ 627 w 1255"/>
              <a:gd name="T5" fmla="*/ 0 h 1254"/>
              <a:gd name="T6" fmla="*/ 1254 w 1255"/>
              <a:gd name="T7" fmla="*/ 626 h 1254"/>
              <a:gd name="T8" fmla="*/ 627 w 1255"/>
              <a:gd name="T9" fmla="*/ 1253 h 1254"/>
              <a:gd name="T10" fmla="*/ 0 w 1255"/>
              <a:gd name="T11" fmla="*/ 626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55" h="1254">
                <a:moveTo>
                  <a:pt x="0" y="626"/>
                </a:moveTo>
                <a:lnTo>
                  <a:pt x="0" y="626"/>
                </a:lnTo>
                <a:cubicBezTo>
                  <a:pt x="0" y="294"/>
                  <a:pt x="275" y="0"/>
                  <a:pt x="627" y="0"/>
                </a:cubicBezTo>
                <a:cubicBezTo>
                  <a:pt x="980" y="0"/>
                  <a:pt x="1254" y="294"/>
                  <a:pt x="1254" y="626"/>
                </a:cubicBezTo>
                <a:cubicBezTo>
                  <a:pt x="1254" y="979"/>
                  <a:pt x="980" y="1253"/>
                  <a:pt x="627" y="1253"/>
                </a:cubicBezTo>
                <a:cubicBezTo>
                  <a:pt x="275" y="1253"/>
                  <a:pt x="0" y="979"/>
                  <a:pt x="0" y="626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8" name="Freeform 63">
            <a:extLst>
              <a:ext uri="{FF2B5EF4-FFF2-40B4-BE49-F238E27FC236}">
                <a16:creationId xmlns:a16="http://schemas.microsoft.com/office/drawing/2014/main" id="{21EC1D87-DD7D-8345-838F-179FA97C1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327" y="2570087"/>
            <a:ext cx="2455530" cy="693790"/>
          </a:xfrm>
          <a:custGeom>
            <a:avLst/>
            <a:gdLst>
              <a:gd name="T0" fmla="*/ 4957 w 5761"/>
              <a:gd name="T1" fmla="*/ 0 h 1627"/>
              <a:gd name="T2" fmla="*/ 4957 w 5761"/>
              <a:gd name="T3" fmla="*/ 0 h 1627"/>
              <a:gd name="T4" fmla="*/ 804 w 5761"/>
              <a:gd name="T5" fmla="*/ 0 h 1627"/>
              <a:gd name="T6" fmla="*/ 0 w 5761"/>
              <a:gd name="T7" fmla="*/ 803 h 1627"/>
              <a:gd name="T8" fmla="*/ 0 w 5761"/>
              <a:gd name="T9" fmla="*/ 803 h 1627"/>
              <a:gd name="T10" fmla="*/ 804 w 5761"/>
              <a:gd name="T11" fmla="*/ 1626 h 1627"/>
              <a:gd name="T12" fmla="*/ 4957 w 5761"/>
              <a:gd name="T13" fmla="*/ 1626 h 1627"/>
              <a:gd name="T14" fmla="*/ 5760 w 5761"/>
              <a:gd name="T15" fmla="*/ 803 h 1627"/>
              <a:gd name="T16" fmla="*/ 5760 w 5761"/>
              <a:gd name="T17" fmla="*/ 803 h 1627"/>
              <a:gd name="T18" fmla="*/ 4957 w 5761"/>
              <a:gd name="T19" fmla="*/ 0 h 1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61" h="1627">
                <a:moveTo>
                  <a:pt x="4957" y="0"/>
                </a:moveTo>
                <a:lnTo>
                  <a:pt x="4957" y="0"/>
                </a:lnTo>
                <a:cubicBezTo>
                  <a:pt x="804" y="0"/>
                  <a:pt x="804" y="0"/>
                  <a:pt x="804" y="0"/>
                </a:cubicBezTo>
                <a:cubicBezTo>
                  <a:pt x="373" y="0"/>
                  <a:pt x="0" y="352"/>
                  <a:pt x="0" y="803"/>
                </a:cubicBezTo>
                <a:lnTo>
                  <a:pt x="0" y="803"/>
                </a:lnTo>
                <a:cubicBezTo>
                  <a:pt x="0" y="1253"/>
                  <a:pt x="373" y="1626"/>
                  <a:pt x="804" y="1626"/>
                </a:cubicBezTo>
                <a:cubicBezTo>
                  <a:pt x="4957" y="1626"/>
                  <a:pt x="4957" y="1626"/>
                  <a:pt x="4957" y="1626"/>
                </a:cubicBezTo>
                <a:cubicBezTo>
                  <a:pt x="5407" y="1626"/>
                  <a:pt x="5760" y="1253"/>
                  <a:pt x="5760" y="803"/>
                </a:cubicBezTo>
                <a:lnTo>
                  <a:pt x="5760" y="803"/>
                </a:lnTo>
                <a:cubicBezTo>
                  <a:pt x="5760" y="352"/>
                  <a:pt x="5407" y="0"/>
                  <a:pt x="4957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69" name="Freeform 64">
            <a:extLst>
              <a:ext uri="{FF2B5EF4-FFF2-40B4-BE49-F238E27FC236}">
                <a16:creationId xmlns:a16="http://schemas.microsoft.com/office/drawing/2014/main" id="{B5F53B03-8925-AE40-ADD2-A3787CC9C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417" y="2919803"/>
            <a:ext cx="601662" cy="266987"/>
          </a:xfrm>
          <a:custGeom>
            <a:avLst/>
            <a:gdLst>
              <a:gd name="T0" fmla="*/ 19 w 1410"/>
              <a:gd name="T1" fmla="*/ 627 h 628"/>
              <a:gd name="T2" fmla="*/ 0 w 1410"/>
              <a:gd name="T3" fmla="*/ 569 h 628"/>
              <a:gd name="T4" fmla="*/ 1389 w 1410"/>
              <a:gd name="T5" fmla="*/ 0 h 628"/>
              <a:gd name="T6" fmla="*/ 1409 w 1410"/>
              <a:gd name="T7" fmla="*/ 40 h 628"/>
              <a:gd name="T8" fmla="*/ 19 w 1410"/>
              <a:gd name="T9" fmla="*/ 627 h 6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10" h="628">
                <a:moveTo>
                  <a:pt x="19" y="627"/>
                </a:moveTo>
                <a:lnTo>
                  <a:pt x="0" y="569"/>
                </a:lnTo>
                <a:lnTo>
                  <a:pt x="1389" y="0"/>
                </a:lnTo>
                <a:lnTo>
                  <a:pt x="1409" y="40"/>
                </a:lnTo>
                <a:lnTo>
                  <a:pt x="19" y="627"/>
                </a:lnTo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bg1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0" name="Freeform 65">
            <a:extLst>
              <a:ext uri="{FF2B5EF4-FFF2-40B4-BE49-F238E27FC236}">
                <a16:creationId xmlns:a16="http://schemas.microsoft.com/office/drawing/2014/main" id="{F1D3FADD-BB0D-F948-A88D-5A09BBD3D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209" y="3077739"/>
            <a:ext cx="193661" cy="193659"/>
          </a:xfrm>
          <a:custGeom>
            <a:avLst/>
            <a:gdLst>
              <a:gd name="T0" fmla="*/ 235 w 452"/>
              <a:gd name="T1" fmla="*/ 451 h 452"/>
              <a:gd name="T2" fmla="*/ 235 w 452"/>
              <a:gd name="T3" fmla="*/ 451 h 452"/>
              <a:gd name="T4" fmla="*/ 0 w 452"/>
              <a:gd name="T5" fmla="*/ 216 h 452"/>
              <a:gd name="T6" fmla="*/ 235 w 452"/>
              <a:gd name="T7" fmla="*/ 0 h 452"/>
              <a:gd name="T8" fmla="*/ 451 w 452"/>
              <a:gd name="T9" fmla="*/ 216 h 452"/>
              <a:gd name="T10" fmla="*/ 235 w 452"/>
              <a:gd name="T11" fmla="*/ 451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2" h="452">
                <a:moveTo>
                  <a:pt x="235" y="451"/>
                </a:moveTo>
                <a:lnTo>
                  <a:pt x="235" y="451"/>
                </a:lnTo>
                <a:cubicBezTo>
                  <a:pt x="98" y="451"/>
                  <a:pt x="0" y="353"/>
                  <a:pt x="0" y="216"/>
                </a:cubicBezTo>
                <a:cubicBezTo>
                  <a:pt x="0" y="98"/>
                  <a:pt x="98" y="0"/>
                  <a:pt x="235" y="0"/>
                </a:cubicBezTo>
                <a:cubicBezTo>
                  <a:pt x="353" y="0"/>
                  <a:pt x="451" y="98"/>
                  <a:pt x="451" y="216"/>
                </a:cubicBezTo>
                <a:cubicBezTo>
                  <a:pt x="451" y="353"/>
                  <a:pt x="353" y="451"/>
                  <a:pt x="235" y="451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1" name="Freeform 66">
            <a:extLst>
              <a:ext uri="{FF2B5EF4-FFF2-40B4-BE49-F238E27FC236}">
                <a16:creationId xmlns:a16="http://schemas.microsoft.com/office/drawing/2014/main" id="{6FF06BBD-310F-9745-8198-DCEB49641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73" y="3120983"/>
            <a:ext cx="109051" cy="109051"/>
          </a:xfrm>
          <a:custGeom>
            <a:avLst/>
            <a:gdLst>
              <a:gd name="T0" fmla="*/ 0 w 256"/>
              <a:gd name="T1" fmla="*/ 118 h 256"/>
              <a:gd name="T2" fmla="*/ 0 w 256"/>
              <a:gd name="T3" fmla="*/ 118 h 256"/>
              <a:gd name="T4" fmla="*/ 137 w 256"/>
              <a:gd name="T5" fmla="*/ 0 h 256"/>
              <a:gd name="T6" fmla="*/ 255 w 256"/>
              <a:gd name="T7" fmla="*/ 118 h 256"/>
              <a:gd name="T8" fmla="*/ 137 w 256"/>
              <a:gd name="T9" fmla="*/ 255 h 256"/>
              <a:gd name="T10" fmla="*/ 0 w 256"/>
              <a:gd name="T11" fmla="*/ 11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6" h="256">
                <a:moveTo>
                  <a:pt x="0" y="118"/>
                </a:moveTo>
                <a:lnTo>
                  <a:pt x="0" y="118"/>
                </a:lnTo>
                <a:cubicBezTo>
                  <a:pt x="0" y="59"/>
                  <a:pt x="59" y="0"/>
                  <a:pt x="137" y="0"/>
                </a:cubicBezTo>
                <a:cubicBezTo>
                  <a:pt x="196" y="0"/>
                  <a:pt x="255" y="59"/>
                  <a:pt x="255" y="118"/>
                </a:cubicBezTo>
                <a:cubicBezTo>
                  <a:pt x="255" y="196"/>
                  <a:pt x="196" y="255"/>
                  <a:pt x="137" y="255"/>
                </a:cubicBezTo>
                <a:cubicBezTo>
                  <a:pt x="59" y="255"/>
                  <a:pt x="0" y="196"/>
                  <a:pt x="0" y="118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2" name="Freeform 67">
            <a:extLst>
              <a:ext uri="{FF2B5EF4-FFF2-40B4-BE49-F238E27FC236}">
                <a16:creationId xmlns:a16="http://schemas.microsoft.com/office/drawing/2014/main" id="{8E8C549E-F5B4-5541-BB52-A7A555CE7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612" y="2669737"/>
            <a:ext cx="526454" cy="533975"/>
          </a:xfrm>
          <a:custGeom>
            <a:avLst/>
            <a:gdLst>
              <a:gd name="T0" fmla="*/ 0 w 1234"/>
              <a:gd name="T1" fmla="*/ 627 h 1254"/>
              <a:gd name="T2" fmla="*/ 0 w 1234"/>
              <a:gd name="T3" fmla="*/ 627 h 1254"/>
              <a:gd name="T4" fmla="*/ 626 w 1234"/>
              <a:gd name="T5" fmla="*/ 0 h 1254"/>
              <a:gd name="T6" fmla="*/ 1233 w 1234"/>
              <a:gd name="T7" fmla="*/ 627 h 1254"/>
              <a:gd name="T8" fmla="*/ 626 w 1234"/>
              <a:gd name="T9" fmla="*/ 1253 h 1254"/>
              <a:gd name="T10" fmla="*/ 0 w 1234"/>
              <a:gd name="T11" fmla="*/ 627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4" h="1254">
                <a:moveTo>
                  <a:pt x="0" y="627"/>
                </a:moveTo>
                <a:lnTo>
                  <a:pt x="0" y="627"/>
                </a:lnTo>
                <a:cubicBezTo>
                  <a:pt x="0" y="274"/>
                  <a:pt x="274" y="0"/>
                  <a:pt x="626" y="0"/>
                </a:cubicBezTo>
                <a:cubicBezTo>
                  <a:pt x="958" y="0"/>
                  <a:pt x="1233" y="274"/>
                  <a:pt x="1233" y="627"/>
                </a:cubicBezTo>
                <a:cubicBezTo>
                  <a:pt x="1233" y="959"/>
                  <a:pt x="958" y="1253"/>
                  <a:pt x="626" y="1253"/>
                </a:cubicBezTo>
                <a:cubicBezTo>
                  <a:pt x="274" y="1253"/>
                  <a:pt x="0" y="959"/>
                  <a:pt x="0" y="627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3" name="Freeform 68">
            <a:extLst>
              <a:ext uri="{FF2B5EF4-FFF2-40B4-BE49-F238E27FC236}">
                <a16:creationId xmlns:a16="http://schemas.microsoft.com/office/drawing/2014/main" id="{78786AEF-BC0B-E54D-A1C3-D893FE983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743" y="3453777"/>
            <a:ext cx="2455530" cy="693790"/>
          </a:xfrm>
          <a:custGeom>
            <a:avLst/>
            <a:gdLst>
              <a:gd name="T0" fmla="*/ 4956 w 5760"/>
              <a:gd name="T1" fmla="*/ 0 h 1626"/>
              <a:gd name="T2" fmla="*/ 4956 w 5760"/>
              <a:gd name="T3" fmla="*/ 0 h 1626"/>
              <a:gd name="T4" fmla="*/ 803 w 5760"/>
              <a:gd name="T5" fmla="*/ 0 h 1626"/>
              <a:gd name="T6" fmla="*/ 0 w 5760"/>
              <a:gd name="T7" fmla="*/ 822 h 1626"/>
              <a:gd name="T8" fmla="*/ 0 w 5760"/>
              <a:gd name="T9" fmla="*/ 822 h 1626"/>
              <a:gd name="T10" fmla="*/ 803 w 5760"/>
              <a:gd name="T11" fmla="*/ 1625 h 1626"/>
              <a:gd name="T12" fmla="*/ 4956 w 5760"/>
              <a:gd name="T13" fmla="*/ 1625 h 1626"/>
              <a:gd name="T14" fmla="*/ 5759 w 5760"/>
              <a:gd name="T15" fmla="*/ 822 h 1626"/>
              <a:gd name="T16" fmla="*/ 5759 w 5760"/>
              <a:gd name="T17" fmla="*/ 822 h 1626"/>
              <a:gd name="T18" fmla="*/ 4956 w 5760"/>
              <a:gd name="T19" fmla="*/ 0 h 1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60" h="1626">
                <a:moveTo>
                  <a:pt x="4956" y="0"/>
                </a:moveTo>
                <a:lnTo>
                  <a:pt x="4956" y="0"/>
                </a:lnTo>
                <a:cubicBezTo>
                  <a:pt x="803" y="0"/>
                  <a:pt x="803" y="0"/>
                  <a:pt x="803" y="0"/>
                </a:cubicBezTo>
                <a:cubicBezTo>
                  <a:pt x="372" y="0"/>
                  <a:pt x="0" y="371"/>
                  <a:pt x="0" y="822"/>
                </a:cubicBezTo>
                <a:lnTo>
                  <a:pt x="0" y="822"/>
                </a:lnTo>
                <a:cubicBezTo>
                  <a:pt x="0" y="1252"/>
                  <a:pt x="372" y="1625"/>
                  <a:pt x="803" y="1625"/>
                </a:cubicBezTo>
                <a:cubicBezTo>
                  <a:pt x="4956" y="1625"/>
                  <a:pt x="4956" y="1625"/>
                  <a:pt x="4956" y="1625"/>
                </a:cubicBezTo>
                <a:cubicBezTo>
                  <a:pt x="5407" y="1625"/>
                  <a:pt x="5759" y="1252"/>
                  <a:pt x="5759" y="822"/>
                </a:cubicBezTo>
                <a:lnTo>
                  <a:pt x="5759" y="822"/>
                </a:lnTo>
                <a:cubicBezTo>
                  <a:pt x="5759" y="371"/>
                  <a:pt x="5407" y="0"/>
                  <a:pt x="4956" y="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4" name="Freeform 69">
            <a:extLst>
              <a:ext uri="{FF2B5EF4-FFF2-40B4-BE49-F238E27FC236}">
                <a16:creationId xmlns:a16="http://schemas.microsoft.com/office/drawing/2014/main" id="{A98F3A8B-A30E-604D-9667-FC0215D83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989" y="3795972"/>
            <a:ext cx="609182" cy="26323"/>
          </a:xfrm>
          <a:custGeom>
            <a:avLst/>
            <a:gdLst>
              <a:gd name="T0" fmla="*/ 1429 w 1430"/>
              <a:gd name="T1" fmla="*/ 59 h 60"/>
              <a:gd name="T2" fmla="*/ 0 w 1430"/>
              <a:gd name="T3" fmla="*/ 59 h 60"/>
              <a:gd name="T4" fmla="*/ 0 w 1430"/>
              <a:gd name="T5" fmla="*/ 0 h 60"/>
              <a:gd name="T6" fmla="*/ 1429 w 1430"/>
              <a:gd name="T7" fmla="*/ 0 h 60"/>
              <a:gd name="T8" fmla="*/ 1429 w 1430"/>
              <a:gd name="T9" fmla="*/ 59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30" h="60">
                <a:moveTo>
                  <a:pt x="1429" y="59"/>
                </a:moveTo>
                <a:lnTo>
                  <a:pt x="0" y="59"/>
                </a:lnTo>
                <a:lnTo>
                  <a:pt x="0" y="0"/>
                </a:lnTo>
                <a:lnTo>
                  <a:pt x="1429" y="0"/>
                </a:lnTo>
                <a:lnTo>
                  <a:pt x="1429" y="59"/>
                </a:lnTo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bg1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5" name="Freeform 70">
            <a:extLst>
              <a:ext uri="{FF2B5EF4-FFF2-40B4-BE49-F238E27FC236}">
                <a16:creationId xmlns:a16="http://schemas.microsoft.com/office/drawing/2014/main" id="{56521A13-B91C-0A43-8489-E2F1148FC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182" y="3713244"/>
            <a:ext cx="193659" cy="193659"/>
          </a:xfrm>
          <a:custGeom>
            <a:avLst/>
            <a:gdLst>
              <a:gd name="T0" fmla="*/ 235 w 452"/>
              <a:gd name="T1" fmla="*/ 451 h 452"/>
              <a:gd name="T2" fmla="*/ 235 w 452"/>
              <a:gd name="T3" fmla="*/ 451 h 452"/>
              <a:gd name="T4" fmla="*/ 0 w 452"/>
              <a:gd name="T5" fmla="*/ 216 h 452"/>
              <a:gd name="T6" fmla="*/ 235 w 452"/>
              <a:gd name="T7" fmla="*/ 0 h 452"/>
              <a:gd name="T8" fmla="*/ 451 w 452"/>
              <a:gd name="T9" fmla="*/ 216 h 452"/>
              <a:gd name="T10" fmla="*/ 235 w 452"/>
              <a:gd name="T11" fmla="*/ 451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2" h="452">
                <a:moveTo>
                  <a:pt x="235" y="451"/>
                </a:moveTo>
                <a:lnTo>
                  <a:pt x="235" y="451"/>
                </a:lnTo>
                <a:cubicBezTo>
                  <a:pt x="118" y="451"/>
                  <a:pt x="0" y="353"/>
                  <a:pt x="0" y="216"/>
                </a:cubicBezTo>
                <a:cubicBezTo>
                  <a:pt x="0" y="98"/>
                  <a:pt x="118" y="0"/>
                  <a:pt x="235" y="0"/>
                </a:cubicBezTo>
                <a:cubicBezTo>
                  <a:pt x="353" y="0"/>
                  <a:pt x="451" y="98"/>
                  <a:pt x="451" y="216"/>
                </a:cubicBezTo>
                <a:cubicBezTo>
                  <a:pt x="451" y="353"/>
                  <a:pt x="353" y="451"/>
                  <a:pt x="235" y="451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6" name="Freeform 71">
            <a:extLst>
              <a:ext uri="{FF2B5EF4-FFF2-40B4-BE49-F238E27FC236}">
                <a16:creationId xmlns:a16="http://schemas.microsoft.com/office/drawing/2014/main" id="{CE0CC2A6-1A69-974A-A242-4EAA97B3E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547" y="3754608"/>
            <a:ext cx="109051" cy="109051"/>
          </a:xfrm>
          <a:custGeom>
            <a:avLst/>
            <a:gdLst>
              <a:gd name="T0" fmla="*/ 0 w 256"/>
              <a:gd name="T1" fmla="*/ 118 h 256"/>
              <a:gd name="T2" fmla="*/ 0 w 256"/>
              <a:gd name="T3" fmla="*/ 118 h 256"/>
              <a:gd name="T4" fmla="*/ 137 w 256"/>
              <a:gd name="T5" fmla="*/ 0 h 256"/>
              <a:gd name="T6" fmla="*/ 255 w 256"/>
              <a:gd name="T7" fmla="*/ 118 h 256"/>
              <a:gd name="T8" fmla="*/ 137 w 256"/>
              <a:gd name="T9" fmla="*/ 255 h 256"/>
              <a:gd name="T10" fmla="*/ 0 w 256"/>
              <a:gd name="T11" fmla="*/ 118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6" h="256">
                <a:moveTo>
                  <a:pt x="0" y="118"/>
                </a:moveTo>
                <a:lnTo>
                  <a:pt x="0" y="118"/>
                </a:lnTo>
                <a:cubicBezTo>
                  <a:pt x="0" y="59"/>
                  <a:pt x="59" y="0"/>
                  <a:pt x="137" y="0"/>
                </a:cubicBezTo>
                <a:cubicBezTo>
                  <a:pt x="196" y="0"/>
                  <a:pt x="255" y="59"/>
                  <a:pt x="255" y="118"/>
                </a:cubicBezTo>
                <a:cubicBezTo>
                  <a:pt x="255" y="196"/>
                  <a:pt x="196" y="255"/>
                  <a:pt x="137" y="255"/>
                </a:cubicBezTo>
                <a:cubicBezTo>
                  <a:pt x="59" y="255"/>
                  <a:pt x="0" y="196"/>
                  <a:pt x="0" y="118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7" name="Freeform 72">
            <a:extLst>
              <a:ext uri="{FF2B5EF4-FFF2-40B4-BE49-F238E27FC236}">
                <a16:creationId xmlns:a16="http://schemas.microsoft.com/office/drawing/2014/main" id="{1BFFE021-D869-F54F-942D-6351F2519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27" y="3553427"/>
            <a:ext cx="526454" cy="533975"/>
          </a:xfrm>
          <a:custGeom>
            <a:avLst/>
            <a:gdLst>
              <a:gd name="T0" fmla="*/ 0 w 1234"/>
              <a:gd name="T1" fmla="*/ 627 h 1254"/>
              <a:gd name="T2" fmla="*/ 0 w 1234"/>
              <a:gd name="T3" fmla="*/ 627 h 1254"/>
              <a:gd name="T4" fmla="*/ 626 w 1234"/>
              <a:gd name="T5" fmla="*/ 0 h 1254"/>
              <a:gd name="T6" fmla="*/ 1233 w 1234"/>
              <a:gd name="T7" fmla="*/ 627 h 1254"/>
              <a:gd name="T8" fmla="*/ 626 w 1234"/>
              <a:gd name="T9" fmla="*/ 1253 h 1254"/>
              <a:gd name="T10" fmla="*/ 0 w 1234"/>
              <a:gd name="T11" fmla="*/ 627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4" h="1254">
                <a:moveTo>
                  <a:pt x="0" y="627"/>
                </a:moveTo>
                <a:lnTo>
                  <a:pt x="0" y="627"/>
                </a:lnTo>
                <a:cubicBezTo>
                  <a:pt x="0" y="294"/>
                  <a:pt x="274" y="0"/>
                  <a:pt x="626" y="0"/>
                </a:cubicBezTo>
                <a:cubicBezTo>
                  <a:pt x="959" y="0"/>
                  <a:pt x="1233" y="294"/>
                  <a:pt x="1233" y="627"/>
                </a:cubicBezTo>
                <a:cubicBezTo>
                  <a:pt x="1233" y="979"/>
                  <a:pt x="959" y="1253"/>
                  <a:pt x="626" y="1253"/>
                </a:cubicBezTo>
                <a:cubicBezTo>
                  <a:pt x="274" y="1253"/>
                  <a:pt x="0" y="979"/>
                  <a:pt x="0" y="627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8" name="Freeform 73">
            <a:extLst>
              <a:ext uri="{FF2B5EF4-FFF2-40B4-BE49-F238E27FC236}">
                <a16:creationId xmlns:a16="http://schemas.microsoft.com/office/drawing/2014/main" id="{260E200D-6CDB-6340-8800-589F5A7B6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963" y="4346868"/>
            <a:ext cx="2464932" cy="684390"/>
          </a:xfrm>
          <a:custGeom>
            <a:avLst/>
            <a:gdLst>
              <a:gd name="T0" fmla="*/ 4956 w 5780"/>
              <a:gd name="T1" fmla="*/ 0 h 1607"/>
              <a:gd name="T2" fmla="*/ 4956 w 5780"/>
              <a:gd name="T3" fmla="*/ 0 h 1607"/>
              <a:gd name="T4" fmla="*/ 823 w 5780"/>
              <a:gd name="T5" fmla="*/ 0 h 1607"/>
              <a:gd name="T6" fmla="*/ 0 w 5780"/>
              <a:gd name="T7" fmla="*/ 803 h 1607"/>
              <a:gd name="T8" fmla="*/ 0 w 5780"/>
              <a:gd name="T9" fmla="*/ 803 h 1607"/>
              <a:gd name="T10" fmla="*/ 823 w 5780"/>
              <a:gd name="T11" fmla="*/ 1606 h 1607"/>
              <a:gd name="T12" fmla="*/ 4956 w 5780"/>
              <a:gd name="T13" fmla="*/ 1606 h 1607"/>
              <a:gd name="T14" fmla="*/ 5779 w 5780"/>
              <a:gd name="T15" fmla="*/ 803 h 1607"/>
              <a:gd name="T16" fmla="*/ 5779 w 5780"/>
              <a:gd name="T17" fmla="*/ 803 h 1607"/>
              <a:gd name="T18" fmla="*/ 4956 w 5780"/>
              <a:gd name="T19" fmla="*/ 0 h 1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80" h="1607">
                <a:moveTo>
                  <a:pt x="4956" y="0"/>
                </a:moveTo>
                <a:lnTo>
                  <a:pt x="4956" y="0"/>
                </a:lnTo>
                <a:cubicBezTo>
                  <a:pt x="823" y="0"/>
                  <a:pt x="823" y="0"/>
                  <a:pt x="823" y="0"/>
                </a:cubicBezTo>
                <a:cubicBezTo>
                  <a:pt x="373" y="0"/>
                  <a:pt x="0" y="353"/>
                  <a:pt x="0" y="803"/>
                </a:cubicBezTo>
                <a:lnTo>
                  <a:pt x="0" y="803"/>
                </a:lnTo>
                <a:cubicBezTo>
                  <a:pt x="0" y="1253"/>
                  <a:pt x="373" y="1606"/>
                  <a:pt x="823" y="1606"/>
                </a:cubicBezTo>
                <a:cubicBezTo>
                  <a:pt x="4956" y="1606"/>
                  <a:pt x="4956" y="1606"/>
                  <a:pt x="4956" y="1606"/>
                </a:cubicBezTo>
                <a:cubicBezTo>
                  <a:pt x="5407" y="1606"/>
                  <a:pt x="5779" y="1253"/>
                  <a:pt x="5779" y="803"/>
                </a:cubicBezTo>
                <a:lnTo>
                  <a:pt x="5779" y="803"/>
                </a:lnTo>
                <a:cubicBezTo>
                  <a:pt x="5779" y="353"/>
                  <a:pt x="5407" y="0"/>
                  <a:pt x="4956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79" name="Freeform 74">
            <a:extLst>
              <a:ext uri="{FF2B5EF4-FFF2-40B4-BE49-F238E27FC236}">
                <a16:creationId xmlns:a16="http://schemas.microsoft.com/office/drawing/2014/main" id="{DF63806D-E663-8847-ABE9-280C2D5A0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96" y="4431477"/>
            <a:ext cx="618583" cy="276388"/>
          </a:xfrm>
          <a:custGeom>
            <a:avLst/>
            <a:gdLst>
              <a:gd name="T0" fmla="*/ 1429 w 1450"/>
              <a:gd name="T1" fmla="*/ 646 h 647"/>
              <a:gd name="T2" fmla="*/ 0 w 1450"/>
              <a:gd name="T3" fmla="*/ 39 h 647"/>
              <a:gd name="T4" fmla="*/ 20 w 1450"/>
              <a:gd name="T5" fmla="*/ 0 h 647"/>
              <a:gd name="T6" fmla="*/ 1449 w 1450"/>
              <a:gd name="T7" fmla="*/ 587 h 647"/>
              <a:gd name="T8" fmla="*/ 1429 w 1450"/>
              <a:gd name="T9" fmla="*/ 646 h 6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50" h="647">
                <a:moveTo>
                  <a:pt x="1429" y="646"/>
                </a:moveTo>
                <a:lnTo>
                  <a:pt x="0" y="39"/>
                </a:lnTo>
                <a:lnTo>
                  <a:pt x="20" y="0"/>
                </a:lnTo>
                <a:lnTo>
                  <a:pt x="1449" y="587"/>
                </a:lnTo>
                <a:lnTo>
                  <a:pt x="1429" y="646"/>
                </a:lnTo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bg1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0" name="Freeform 75">
            <a:extLst>
              <a:ext uri="{FF2B5EF4-FFF2-40B4-BE49-F238E27FC236}">
                <a16:creationId xmlns:a16="http://schemas.microsoft.com/office/drawing/2014/main" id="{FAC5EFB4-A98F-B745-8BEF-C51B29291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209" y="4356269"/>
            <a:ext cx="193661" cy="193659"/>
          </a:xfrm>
          <a:custGeom>
            <a:avLst/>
            <a:gdLst>
              <a:gd name="T0" fmla="*/ 216 w 452"/>
              <a:gd name="T1" fmla="*/ 451 h 452"/>
              <a:gd name="T2" fmla="*/ 216 w 452"/>
              <a:gd name="T3" fmla="*/ 451 h 452"/>
              <a:gd name="T4" fmla="*/ 0 w 452"/>
              <a:gd name="T5" fmla="*/ 235 h 452"/>
              <a:gd name="T6" fmla="*/ 216 w 452"/>
              <a:gd name="T7" fmla="*/ 0 h 452"/>
              <a:gd name="T8" fmla="*/ 451 w 452"/>
              <a:gd name="T9" fmla="*/ 235 h 452"/>
              <a:gd name="T10" fmla="*/ 216 w 452"/>
              <a:gd name="T11" fmla="*/ 451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2" h="452">
                <a:moveTo>
                  <a:pt x="216" y="451"/>
                </a:moveTo>
                <a:lnTo>
                  <a:pt x="216" y="451"/>
                </a:lnTo>
                <a:cubicBezTo>
                  <a:pt x="98" y="451"/>
                  <a:pt x="0" y="353"/>
                  <a:pt x="0" y="235"/>
                </a:cubicBezTo>
                <a:cubicBezTo>
                  <a:pt x="0" y="118"/>
                  <a:pt x="98" y="0"/>
                  <a:pt x="216" y="0"/>
                </a:cubicBezTo>
                <a:cubicBezTo>
                  <a:pt x="353" y="0"/>
                  <a:pt x="451" y="118"/>
                  <a:pt x="451" y="235"/>
                </a:cubicBezTo>
                <a:cubicBezTo>
                  <a:pt x="451" y="353"/>
                  <a:pt x="353" y="451"/>
                  <a:pt x="216" y="451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1" name="Freeform 76">
            <a:extLst>
              <a:ext uri="{FF2B5EF4-FFF2-40B4-BE49-F238E27FC236}">
                <a16:creationId xmlns:a16="http://schemas.microsoft.com/office/drawing/2014/main" id="{3F9C4F04-B092-5F46-BB1C-EFC16792E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573" y="4397634"/>
            <a:ext cx="109051" cy="109051"/>
          </a:xfrm>
          <a:custGeom>
            <a:avLst/>
            <a:gdLst>
              <a:gd name="T0" fmla="*/ 0 w 256"/>
              <a:gd name="T1" fmla="*/ 136 h 255"/>
              <a:gd name="T2" fmla="*/ 0 w 256"/>
              <a:gd name="T3" fmla="*/ 136 h 255"/>
              <a:gd name="T4" fmla="*/ 118 w 256"/>
              <a:gd name="T5" fmla="*/ 0 h 255"/>
              <a:gd name="T6" fmla="*/ 255 w 256"/>
              <a:gd name="T7" fmla="*/ 136 h 255"/>
              <a:gd name="T8" fmla="*/ 118 w 256"/>
              <a:gd name="T9" fmla="*/ 254 h 255"/>
              <a:gd name="T10" fmla="*/ 0 w 256"/>
              <a:gd name="T11" fmla="*/ 136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6" h="255">
                <a:moveTo>
                  <a:pt x="0" y="136"/>
                </a:moveTo>
                <a:lnTo>
                  <a:pt x="0" y="136"/>
                </a:lnTo>
                <a:cubicBezTo>
                  <a:pt x="0" y="58"/>
                  <a:pt x="59" y="0"/>
                  <a:pt x="118" y="0"/>
                </a:cubicBezTo>
                <a:cubicBezTo>
                  <a:pt x="196" y="0"/>
                  <a:pt x="255" y="58"/>
                  <a:pt x="255" y="136"/>
                </a:cubicBezTo>
                <a:cubicBezTo>
                  <a:pt x="255" y="195"/>
                  <a:pt x="196" y="254"/>
                  <a:pt x="118" y="254"/>
                </a:cubicBezTo>
                <a:cubicBezTo>
                  <a:pt x="59" y="254"/>
                  <a:pt x="0" y="195"/>
                  <a:pt x="0" y="136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2" name="Freeform 77">
            <a:extLst>
              <a:ext uri="{FF2B5EF4-FFF2-40B4-BE49-F238E27FC236}">
                <a16:creationId xmlns:a16="http://schemas.microsoft.com/office/drawing/2014/main" id="{675246B8-7193-F04D-A587-754874371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8247" y="4448398"/>
            <a:ext cx="533975" cy="533975"/>
          </a:xfrm>
          <a:custGeom>
            <a:avLst/>
            <a:gdLst>
              <a:gd name="T0" fmla="*/ 0 w 1254"/>
              <a:gd name="T1" fmla="*/ 627 h 1254"/>
              <a:gd name="T2" fmla="*/ 0 w 1254"/>
              <a:gd name="T3" fmla="*/ 627 h 1254"/>
              <a:gd name="T4" fmla="*/ 627 w 1254"/>
              <a:gd name="T5" fmla="*/ 0 h 1254"/>
              <a:gd name="T6" fmla="*/ 1253 w 1254"/>
              <a:gd name="T7" fmla="*/ 627 h 1254"/>
              <a:gd name="T8" fmla="*/ 627 w 1254"/>
              <a:gd name="T9" fmla="*/ 1253 h 1254"/>
              <a:gd name="T10" fmla="*/ 0 w 1254"/>
              <a:gd name="T11" fmla="*/ 627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54" h="1254">
                <a:moveTo>
                  <a:pt x="0" y="627"/>
                </a:moveTo>
                <a:lnTo>
                  <a:pt x="0" y="627"/>
                </a:lnTo>
                <a:cubicBezTo>
                  <a:pt x="0" y="274"/>
                  <a:pt x="274" y="0"/>
                  <a:pt x="627" y="0"/>
                </a:cubicBezTo>
                <a:cubicBezTo>
                  <a:pt x="959" y="0"/>
                  <a:pt x="1253" y="274"/>
                  <a:pt x="1253" y="627"/>
                </a:cubicBezTo>
                <a:cubicBezTo>
                  <a:pt x="1253" y="959"/>
                  <a:pt x="959" y="1253"/>
                  <a:pt x="627" y="1253"/>
                </a:cubicBezTo>
                <a:cubicBezTo>
                  <a:pt x="274" y="1253"/>
                  <a:pt x="0" y="959"/>
                  <a:pt x="0" y="627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3" name="Freeform 78">
            <a:extLst>
              <a:ext uri="{FF2B5EF4-FFF2-40B4-BE49-F238E27FC236}">
                <a16:creationId xmlns:a16="http://schemas.microsoft.com/office/drawing/2014/main" id="{678521C9-7E9C-E74D-95EE-B915B31DF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95" y="5264824"/>
            <a:ext cx="2464932" cy="693790"/>
          </a:xfrm>
          <a:custGeom>
            <a:avLst/>
            <a:gdLst>
              <a:gd name="T0" fmla="*/ 4955 w 5779"/>
              <a:gd name="T1" fmla="*/ 0 h 1627"/>
              <a:gd name="T2" fmla="*/ 4955 w 5779"/>
              <a:gd name="T3" fmla="*/ 0 h 1627"/>
              <a:gd name="T4" fmla="*/ 823 w 5779"/>
              <a:gd name="T5" fmla="*/ 0 h 1627"/>
              <a:gd name="T6" fmla="*/ 0 w 5779"/>
              <a:gd name="T7" fmla="*/ 803 h 1627"/>
              <a:gd name="T8" fmla="*/ 0 w 5779"/>
              <a:gd name="T9" fmla="*/ 803 h 1627"/>
              <a:gd name="T10" fmla="*/ 823 w 5779"/>
              <a:gd name="T11" fmla="*/ 1626 h 1627"/>
              <a:gd name="T12" fmla="*/ 4955 w 5779"/>
              <a:gd name="T13" fmla="*/ 1626 h 1627"/>
              <a:gd name="T14" fmla="*/ 5778 w 5779"/>
              <a:gd name="T15" fmla="*/ 803 h 1627"/>
              <a:gd name="T16" fmla="*/ 5778 w 5779"/>
              <a:gd name="T17" fmla="*/ 803 h 1627"/>
              <a:gd name="T18" fmla="*/ 4955 w 5779"/>
              <a:gd name="T19" fmla="*/ 0 h 1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79" h="1627">
                <a:moveTo>
                  <a:pt x="4955" y="0"/>
                </a:moveTo>
                <a:lnTo>
                  <a:pt x="4955" y="0"/>
                </a:lnTo>
                <a:cubicBezTo>
                  <a:pt x="823" y="0"/>
                  <a:pt x="823" y="0"/>
                  <a:pt x="823" y="0"/>
                </a:cubicBezTo>
                <a:cubicBezTo>
                  <a:pt x="372" y="0"/>
                  <a:pt x="0" y="372"/>
                  <a:pt x="0" y="803"/>
                </a:cubicBezTo>
                <a:lnTo>
                  <a:pt x="0" y="803"/>
                </a:lnTo>
                <a:cubicBezTo>
                  <a:pt x="0" y="1254"/>
                  <a:pt x="372" y="1626"/>
                  <a:pt x="823" y="1626"/>
                </a:cubicBezTo>
                <a:cubicBezTo>
                  <a:pt x="4955" y="1626"/>
                  <a:pt x="4955" y="1626"/>
                  <a:pt x="4955" y="1626"/>
                </a:cubicBezTo>
                <a:cubicBezTo>
                  <a:pt x="5406" y="1626"/>
                  <a:pt x="5778" y="1254"/>
                  <a:pt x="5778" y="803"/>
                </a:cubicBezTo>
                <a:lnTo>
                  <a:pt x="5778" y="803"/>
                </a:lnTo>
                <a:cubicBezTo>
                  <a:pt x="5778" y="372"/>
                  <a:pt x="5406" y="0"/>
                  <a:pt x="4955" y="0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4" name="Freeform 79">
            <a:extLst>
              <a:ext uri="{FF2B5EF4-FFF2-40B4-BE49-F238E27FC236}">
                <a16:creationId xmlns:a16="http://schemas.microsoft.com/office/drawing/2014/main" id="{E8A1452F-BBCB-614E-88A9-528D579D6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0963" y="5091424"/>
            <a:ext cx="385440" cy="485090"/>
          </a:xfrm>
          <a:custGeom>
            <a:avLst/>
            <a:gdLst>
              <a:gd name="T0" fmla="*/ 862 w 902"/>
              <a:gd name="T1" fmla="*/ 1136 h 1137"/>
              <a:gd name="T2" fmla="*/ 0 w 902"/>
              <a:gd name="T3" fmla="*/ 20 h 1137"/>
              <a:gd name="T4" fmla="*/ 39 w 902"/>
              <a:gd name="T5" fmla="*/ 0 h 1137"/>
              <a:gd name="T6" fmla="*/ 901 w 902"/>
              <a:gd name="T7" fmla="*/ 1117 h 1137"/>
              <a:gd name="T8" fmla="*/ 862 w 902"/>
              <a:gd name="T9" fmla="*/ 1136 h 1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2" h="1137">
                <a:moveTo>
                  <a:pt x="862" y="1136"/>
                </a:moveTo>
                <a:lnTo>
                  <a:pt x="0" y="20"/>
                </a:lnTo>
                <a:lnTo>
                  <a:pt x="39" y="0"/>
                </a:lnTo>
                <a:lnTo>
                  <a:pt x="901" y="1117"/>
                </a:lnTo>
                <a:lnTo>
                  <a:pt x="862" y="1136"/>
                </a:lnTo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bg1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5" name="Freeform 80">
            <a:extLst>
              <a:ext uri="{FF2B5EF4-FFF2-40B4-BE49-F238E27FC236}">
                <a16:creationId xmlns:a16="http://schemas.microsoft.com/office/drawing/2014/main" id="{2EB696A7-C923-B542-8E2E-BC7D9B0EE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5755" y="5023737"/>
            <a:ext cx="191780" cy="193661"/>
          </a:xfrm>
          <a:custGeom>
            <a:avLst/>
            <a:gdLst>
              <a:gd name="T0" fmla="*/ 235 w 451"/>
              <a:gd name="T1" fmla="*/ 451 h 452"/>
              <a:gd name="T2" fmla="*/ 235 w 451"/>
              <a:gd name="T3" fmla="*/ 451 h 452"/>
              <a:gd name="T4" fmla="*/ 0 w 451"/>
              <a:gd name="T5" fmla="*/ 235 h 452"/>
              <a:gd name="T6" fmla="*/ 235 w 451"/>
              <a:gd name="T7" fmla="*/ 0 h 452"/>
              <a:gd name="T8" fmla="*/ 450 w 451"/>
              <a:gd name="T9" fmla="*/ 235 h 452"/>
              <a:gd name="T10" fmla="*/ 235 w 451"/>
              <a:gd name="T11" fmla="*/ 451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1" h="452">
                <a:moveTo>
                  <a:pt x="235" y="451"/>
                </a:moveTo>
                <a:lnTo>
                  <a:pt x="235" y="451"/>
                </a:lnTo>
                <a:cubicBezTo>
                  <a:pt x="98" y="451"/>
                  <a:pt x="0" y="353"/>
                  <a:pt x="0" y="235"/>
                </a:cubicBezTo>
                <a:cubicBezTo>
                  <a:pt x="0" y="99"/>
                  <a:pt x="98" y="0"/>
                  <a:pt x="235" y="0"/>
                </a:cubicBezTo>
                <a:cubicBezTo>
                  <a:pt x="353" y="0"/>
                  <a:pt x="450" y="99"/>
                  <a:pt x="450" y="235"/>
                </a:cubicBezTo>
                <a:cubicBezTo>
                  <a:pt x="450" y="353"/>
                  <a:pt x="353" y="451"/>
                  <a:pt x="235" y="451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6" name="Freeform 81">
            <a:extLst>
              <a:ext uri="{FF2B5EF4-FFF2-40B4-BE49-F238E27FC236}">
                <a16:creationId xmlns:a16="http://schemas.microsoft.com/office/drawing/2014/main" id="{094DF214-F756-E545-AE05-8A37BB40A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120" y="5066982"/>
            <a:ext cx="109051" cy="109051"/>
          </a:xfrm>
          <a:custGeom>
            <a:avLst/>
            <a:gdLst>
              <a:gd name="T0" fmla="*/ 0 w 256"/>
              <a:gd name="T1" fmla="*/ 136 h 255"/>
              <a:gd name="T2" fmla="*/ 0 w 256"/>
              <a:gd name="T3" fmla="*/ 136 h 255"/>
              <a:gd name="T4" fmla="*/ 137 w 256"/>
              <a:gd name="T5" fmla="*/ 0 h 255"/>
              <a:gd name="T6" fmla="*/ 255 w 256"/>
              <a:gd name="T7" fmla="*/ 136 h 255"/>
              <a:gd name="T8" fmla="*/ 137 w 256"/>
              <a:gd name="T9" fmla="*/ 254 h 255"/>
              <a:gd name="T10" fmla="*/ 0 w 256"/>
              <a:gd name="T11" fmla="*/ 136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6" h="255">
                <a:moveTo>
                  <a:pt x="0" y="136"/>
                </a:moveTo>
                <a:lnTo>
                  <a:pt x="0" y="136"/>
                </a:lnTo>
                <a:cubicBezTo>
                  <a:pt x="0" y="58"/>
                  <a:pt x="59" y="0"/>
                  <a:pt x="137" y="0"/>
                </a:cubicBezTo>
                <a:cubicBezTo>
                  <a:pt x="196" y="0"/>
                  <a:pt x="255" y="58"/>
                  <a:pt x="255" y="136"/>
                </a:cubicBezTo>
                <a:cubicBezTo>
                  <a:pt x="255" y="195"/>
                  <a:pt x="196" y="254"/>
                  <a:pt x="137" y="254"/>
                </a:cubicBezTo>
                <a:cubicBezTo>
                  <a:pt x="59" y="254"/>
                  <a:pt x="0" y="195"/>
                  <a:pt x="0" y="136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7" name="Freeform 82">
            <a:extLst>
              <a:ext uri="{FF2B5EF4-FFF2-40B4-BE49-F238E27FC236}">
                <a16:creationId xmlns:a16="http://schemas.microsoft.com/office/drawing/2014/main" id="{71F8AACD-47C1-B443-9329-C6EA2A864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858" y="5333969"/>
            <a:ext cx="535855" cy="535854"/>
          </a:xfrm>
          <a:custGeom>
            <a:avLst/>
            <a:gdLst>
              <a:gd name="T0" fmla="*/ 0 w 1255"/>
              <a:gd name="T1" fmla="*/ 627 h 1255"/>
              <a:gd name="T2" fmla="*/ 0 w 1255"/>
              <a:gd name="T3" fmla="*/ 627 h 1255"/>
              <a:gd name="T4" fmla="*/ 627 w 1255"/>
              <a:gd name="T5" fmla="*/ 0 h 1255"/>
              <a:gd name="T6" fmla="*/ 1254 w 1255"/>
              <a:gd name="T7" fmla="*/ 627 h 1255"/>
              <a:gd name="T8" fmla="*/ 627 w 1255"/>
              <a:gd name="T9" fmla="*/ 1254 h 1255"/>
              <a:gd name="T10" fmla="*/ 0 w 1255"/>
              <a:gd name="T11" fmla="*/ 627 h 1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55" h="1255">
                <a:moveTo>
                  <a:pt x="0" y="627"/>
                </a:moveTo>
                <a:lnTo>
                  <a:pt x="0" y="627"/>
                </a:lnTo>
                <a:cubicBezTo>
                  <a:pt x="0" y="294"/>
                  <a:pt x="275" y="0"/>
                  <a:pt x="627" y="0"/>
                </a:cubicBezTo>
                <a:cubicBezTo>
                  <a:pt x="980" y="0"/>
                  <a:pt x="1254" y="294"/>
                  <a:pt x="1254" y="627"/>
                </a:cubicBezTo>
                <a:cubicBezTo>
                  <a:pt x="1254" y="980"/>
                  <a:pt x="980" y="1254"/>
                  <a:pt x="627" y="1254"/>
                </a:cubicBezTo>
                <a:cubicBezTo>
                  <a:pt x="275" y="1254"/>
                  <a:pt x="0" y="980"/>
                  <a:pt x="0" y="627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A3E111F-EAAA-E046-9E98-1DA82F49AEA9}"/>
              </a:ext>
            </a:extLst>
          </p:cNvPr>
          <p:cNvSpPr txBox="1"/>
          <p:nvPr/>
        </p:nvSpPr>
        <p:spPr>
          <a:xfrm>
            <a:off x="4995427" y="1709846"/>
            <a:ext cx="7156316" cy="58477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30416"/>
                </a:solidFill>
                <a:latin typeface="LatoWeb"/>
              </a:rPr>
              <a:t>Traffic accidents cost billions annually in medical expenses, property damage, and lost productivity, making even small reductions highly valuable.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94BD27-442D-5144-B53C-8D812733C4A8}"/>
              </a:ext>
            </a:extLst>
          </p:cNvPr>
          <p:cNvSpPr txBox="1"/>
          <p:nvPr/>
        </p:nvSpPr>
        <p:spPr>
          <a:xfrm>
            <a:off x="5694857" y="2624594"/>
            <a:ext cx="6451135" cy="58477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914217"/>
            <a:r>
              <a:rPr lang="en-US" sz="1600" dirty="0">
                <a:solidFill>
                  <a:srgbClr val="030416"/>
                </a:solidFill>
                <a:latin typeface="LatoWeb"/>
              </a:rPr>
              <a:t>As a leading cause of injury and death, reducing traffic accidents directly fulfills DOT's core mandate to protect citizens.</a:t>
            </a:r>
            <a:endParaRPr lang="en-US" sz="1600" dirty="0">
              <a:solidFill>
                <a:srgbClr val="989998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7FCC7C-C5DE-C149-8E6E-F53DFD3396CD}"/>
              </a:ext>
            </a:extLst>
          </p:cNvPr>
          <p:cNvSpPr txBox="1"/>
          <p:nvPr/>
        </p:nvSpPr>
        <p:spPr>
          <a:xfrm>
            <a:off x="5888964" y="3442943"/>
            <a:ext cx="6236016" cy="58477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914217"/>
            <a:r>
              <a:rPr lang="en-US" sz="1600" dirty="0">
                <a:solidFill>
                  <a:srgbClr val="030416"/>
                </a:solidFill>
                <a:latin typeface="LatoWeb"/>
              </a:rPr>
              <a:t>Data analysis enables strategic allocation of limited infrastructure improvement budgets to highest-risk areas.</a:t>
            </a:r>
            <a:endParaRPr lang="en-US" sz="1600" dirty="0">
              <a:solidFill>
                <a:srgbClr val="989998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F68BC8D-C7E9-1740-9858-7776EBA923CC}"/>
              </a:ext>
            </a:extLst>
          </p:cNvPr>
          <p:cNvSpPr txBox="1"/>
          <p:nvPr/>
        </p:nvSpPr>
        <p:spPr>
          <a:xfrm>
            <a:off x="5662895" y="4394542"/>
            <a:ext cx="6427817" cy="58477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914217"/>
            <a:r>
              <a:rPr lang="en-US" sz="1600" dirty="0">
                <a:solidFill>
                  <a:srgbClr val="030416"/>
                </a:solidFill>
                <a:latin typeface="LatoWeb"/>
              </a:rPr>
              <a:t>Accident data informs new safety regulations and provides metrics to evaluate existing programs' effectiveness.</a:t>
            </a:r>
            <a:endParaRPr lang="en-US" sz="1600" dirty="0">
              <a:solidFill>
                <a:srgbClr val="989998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C95B205-9110-E540-8E8D-5DF039370E0E}"/>
              </a:ext>
            </a:extLst>
          </p:cNvPr>
          <p:cNvSpPr txBox="1"/>
          <p:nvPr/>
        </p:nvSpPr>
        <p:spPr>
          <a:xfrm>
            <a:off x="4945810" y="5324568"/>
            <a:ext cx="7122323" cy="58477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914217"/>
            <a:r>
              <a:rPr lang="en-US" sz="1600" dirty="0">
                <a:solidFill>
                  <a:srgbClr val="030416"/>
                </a:solidFill>
                <a:latin typeface="LatoWeb"/>
              </a:rPr>
              <a:t>Comprehensive analysis demonstrates evidence-based decision-making to Congress, local governments, and the public.</a:t>
            </a:r>
            <a:endParaRPr lang="en-US" sz="1600" dirty="0">
              <a:solidFill>
                <a:srgbClr val="989998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18AE23A-1FEB-0242-A493-589AA690E50E}"/>
              </a:ext>
            </a:extLst>
          </p:cNvPr>
          <p:cNvSpPr/>
          <p:nvPr/>
        </p:nvSpPr>
        <p:spPr>
          <a:xfrm>
            <a:off x="2930976" y="1722575"/>
            <a:ext cx="18327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Economic Impact</a:t>
            </a:r>
            <a:endParaRPr lang="en-US" sz="2700" b="1" dirty="0">
              <a:solidFill>
                <a:srgbClr val="FFFFFF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5891B61-05D7-4446-A949-95FA6DCF2D23}"/>
              </a:ext>
            </a:extLst>
          </p:cNvPr>
          <p:cNvSpPr/>
          <p:nvPr/>
        </p:nvSpPr>
        <p:spPr>
          <a:xfrm>
            <a:off x="3618631" y="2739465"/>
            <a:ext cx="1832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Public Safety</a:t>
            </a:r>
            <a:endParaRPr lang="en-US" sz="2700" b="1" dirty="0">
              <a:solidFill>
                <a:srgbClr val="FFFFFF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7E01AA-E11F-644F-83D7-FE9F35BA0716}"/>
              </a:ext>
            </a:extLst>
          </p:cNvPr>
          <p:cNvSpPr/>
          <p:nvPr/>
        </p:nvSpPr>
        <p:spPr>
          <a:xfrm>
            <a:off x="3762961" y="3485967"/>
            <a:ext cx="18327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Infrastructure Prioritization</a:t>
            </a:r>
            <a:endParaRPr lang="en-US" sz="2700" b="1" dirty="0">
              <a:solidFill>
                <a:srgbClr val="FFFFFF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141A8AD-114D-8C40-8E78-556D40BC2A08}"/>
              </a:ext>
            </a:extLst>
          </p:cNvPr>
          <p:cNvSpPr/>
          <p:nvPr/>
        </p:nvSpPr>
        <p:spPr>
          <a:xfrm>
            <a:off x="1521969" y="1036076"/>
            <a:ext cx="20922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</a:rPr>
              <a:t>Technology</a:t>
            </a:r>
          </a:p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</a:rPr>
              <a:t>Integration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066954A-B713-0145-A2E6-0A37A588B64C}"/>
              </a:ext>
            </a:extLst>
          </p:cNvPr>
          <p:cNvSpPr/>
          <p:nvPr/>
        </p:nvSpPr>
        <p:spPr>
          <a:xfrm>
            <a:off x="2684898" y="5317274"/>
            <a:ext cx="20794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Stakeholder Accountability</a:t>
            </a:r>
            <a:endParaRPr lang="en-US" sz="2700" b="1" dirty="0">
              <a:solidFill>
                <a:srgbClr val="FFFFFF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A9BFACE-CF9B-324D-8423-852DA459D49A}"/>
              </a:ext>
            </a:extLst>
          </p:cNvPr>
          <p:cNvSpPr/>
          <p:nvPr/>
        </p:nvSpPr>
        <p:spPr>
          <a:xfrm>
            <a:off x="297124" y="3802679"/>
            <a:ext cx="14669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353E49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Key Elements</a:t>
            </a:r>
            <a:endParaRPr lang="en-US" sz="2700" b="1" dirty="0">
              <a:solidFill>
                <a:srgbClr val="353E49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101" name="Forma libre 395">
            <a:extLst>
              <a:ext uri="{FF2B5EF4-FFF2-40B4-BE49-F238E27FC236}">
                <a16:creationId xmlns:a16="http://schemas.microsoft.com/office/drawing/2014/main" id="{6907F61E-09CA-E049-BFC6-161054FACAA0}"/>
              </a:ext>
            </a:extLst>
          </p:cNvPr>
          <p:cNvSpPr/>
          <p:nvPr/>
        </p:nvSpPr>
        <p:spPr>
          <a:xfrm>
            <a:off x="782000" y="3120983"/>
            <a:ext cx="404158" cy="538528"/>
          </a:xfrm>
          <a:custGeom>
            <a:avLst/>
            <a:gdLst>
              <a:gd name="connsiteX0" fmla="*/ 399527 w 449650"/>
              <a:gd name="connsiteY0" fmla="*/ 50708 h 599144"/>
              <a:gd name="connsiteX1" fmla="*/ 347400 w 449650"/>
              <a:gd name="connsiteY1" fmla="*/ 50708 h 599144"/>
              <a:gd name="connsiteX2" fmla="*/ 312322 w 449650"/>
              <a:gd name="connsiteY2" fmla="*/ 25792 h 599144"/>
              <a:gd name="connsiteX3" fmla="*/ 274692 w 449650"/>
              <a:gd name="connsiteY3" fmla="*/ 25792 h 599144"/>
              <a:gd name="connsiteX4" fmla="*/ 225117 w 449650"/>
              <a:gd name="connsiteY4" fmla="*/ 876 h 599144"/>
              <a:gd name="connsiteX5" fmla="*/ 175541 w 449650"/>
              <a:gd name="connsiteY5" fmla="*/ 25791 h 599144"/>
              <a:gd name="connsiteX6" fmla="*/ 137912 w 449650"/>
              <a:gd name="connsiteY6" fmla="*/ 25791 h 599144"/>
              <a:gd name="connsiteX7" fmla="*/ 102833 w 449650"/>
              <a:gd name="connsiteY7" fmla="*/ 50707 h 599144"/>
              <a:gd name="connsiteX8" fmla="*/ 50708 w 449650"/>
              <a:gd name="connsiteY8" fmla="*/ 50707 h 599144"/>
              <a:gd name="connsiteX9" fmla="*/ 876 w 449650"/>
              <a:gd name="connsiteY9" fmla="*/ 100538 h 599144"/>
              <a:gd name="connsiteX10" fmla="*/ 876 w 449650"/>
              <a:gd name="connsiteY10" fmla="*/ 549021 h 599144"/>
              <a:gd name="connsiteX11" fmla="*/ 50708 w 449650"/>
              <a:gd name="connsiteY11" fmla="*/ 598853 h 599144"/>
              <a:gd name="connsiteX12" fmla="*/ 399528 w 449650"/>
              <a:gd name="connsiteY12" fmla="*/ 598853 h 599144"/>
              <a:gd name="connsiteX13" fmla="*/ 449359 w 449650"/>
              <a:gd name="connsiteY13" fmla="*/ 549021 h 599144"/>
              <a:gd name="connsiteX14" fmla="*/ 449359 w 449650"/>
              <a:gd name="connsiteY14" fmla="*/ 100538 h 599144"/>
              <a:gd name="connsiteX15" fmla="*/ 399527 w 449650"/>
              <a:gd name="connsiteY15" fmla="*/ 50708 h 599144"/>
              <a:gd name="connsiteX16" fmla="*/ 112997 w 449650"/>
              <a:gd name="connsiteY16" fmla="*/ 524106 h 599144"/>
              <a:gd name="connsiteX17" fmla="*/ 75623 w 449650"/>
              <a:gd name="connsiteY17" fmla="*/ 486732 h 599144"/>
              <a:gd name="connsiteX18" fmla="*/ 112997 w 449650"/>
              <a:gd name="connsiteY18" fmla="*/ 449359 h 599144"/>
              <a:gd name="connsiteX19" fmla="*/ 150370 w 449650"/>
              <a:gd name="connsiteY19" fmla="*/ 486732 h 599144"/>
              <a:gd name="connsiteX20" fmla="*/ 112997 w 449650"/>
              <a:gd name="connsiteY20" fmla="*/ 524106 h 599144"/>
              <a:gd name="connsiteX21" fmla="*/ 112997 w 449650"/>
              <a:gd name="connsiteY21" fmla="*/ 399527 h 599144"/>
              <a:gd name="connsiteX22" fmla="*/ 75623 w 449650"/>
              <a:gd name="connsiteY22" fmla="*/ 362153 h 599144"/>
              <a:gd name="connsiteX23" fmla="*/ 112997 w 449650"/>
              <a:gd name="connsiteY23" fmla="*/ 324780 h 599144"/>
              <a:gd name="connsiteX24" fmla="*/ 150370 w 449650"/>
              <a:gd name="connsiteY24" fmla="*/ 362153 h 599144"/>
              <a:gd name="connsiteX25" fmla="*/ 112997 w 449650"/>
              <a:gd name="connsiteY25" fmla="*/ 399527 h 599144"/>
              <a:gd name="connsiteX26" fmla="*/ 112997 w 449650"/>
              <a:gd name="connsiteY26" fmla="*/ 274949 h 599144"/>
              <a:gd name="connsiteX27" fmla="*/ 75623 w 449650"/>
              <a:gd name="connsiteY27" fmla="*/ 237576 h 599144"/>
              <a:gd name="connsiteX28" fmla="*/ 112997 w 449650"/>
              <a:gd name="connsiteY28" fmla="*/ 200202 h 599144"/>
              <a:gd name="connsiteX29" fmla="*/ 150370 w 449650"/>
              <a:gd name="connsiteY29" fmla="*/ 237576 h 599144"/>
              <a:gd name="connsiteX30" fmla="*/ 112997 w 449650"/>
              <a:gd name="connsiteY30" fmla="*/ 274949 h 599144"/>
              <a:gd name="connsiteX31" fmla="*/ 125455 w 449650"/>
              <a:gd name="connsiteY31" fmla="*/ 75623 h 599144"/>
              <a:gd name="connsiteX32" fmla="*/ 125455 w 449650"/>
              <a:gd name="connsiteY32" fmla="*/ 63165 h 599144"/>
              <a:gd name="connsiteX33" fmla="*/ 137913 w 449650"/>
              <a:gd name="connsiteY33" fmla="*/ 50707 h 599144"/>
              <a:gd name="connsiteX34" fmla="*/ 182197 w 449650"/>
              <a:gd name="connsiteY34" fmla="*/ 50707 h 599144"/>
              <a:gd name="connsiteX35" fmla="*/ 192964 w 449650"/>
              <a:gd name="connsiteY35" fmla="*/ 44514 h 599144"/>
              <a:gd name="connsiteX36" fmla="*/ 225119 w 449650"/>
              <a:gd name="connsiteY36" fmla="*/ 25791 h 599144"/>
              <a:gd name="connsiteX37" fmla="*/ 257273 w 449650"/>
              <a:gd name="connsiteY37" fmla="*/ 44514 h 599144"/>
              <a:gd name="connsiteX38" fmla="*/ 268040 w 449650"/>
              <a:gd name="connsiteY38" fmla="*/ 50707 h 599144"/>
              <a:gd name="connsiteX39" fmla="*/ 312324 w 449650"/>
              <a:gd name="connsiteY39" fmla="*/ 50707 h 599144"/>
              <a:gd name="connsiteX40" fmla="*/ 324782 w 449650"/>
              <a:gd name="connsiteY40" fmla="*/ 63165 h 599144"/>
              <a:gd name="connsiteX41" fmla="*/ 324782 w 449650"/>
              <a:gd name="connsiteY41" fmla="*/ 75623 h 599144"/>
              <a:gd name="connsiteX42" fmla="*/ 299867 w 449650"/>
              <a:gd name="connsiteY42" fmla="*/ 100538 h 599144"/>
              <a:gd name="connsiteX43" fmla="*/ 150370 w 449650"/>
              <a:gd name="connsiteY43" fmla="*/ 100538 h 599144"/>
              <a:gd name="connsiteX44" fmla="*/ 125455 w 449650"/>
              <a:gd name="connsiteY44" fmla="*/ 75623 h 599144"/>
              <a:gd name="connsiteX45" fmla="*/ 362153 w 449650"/>
              <a:gd name="connsiteY45" fmla="*/ 499191 h 599144"/>
              <a:gd name="connsiteX46" fmla="*/ 212659 w 449650"/>
              <a:gd name="connsiteY46" fmla="*/ 499191 h 599144"/>
              <a:gd name="connsiteX47" fmla="*/ 200201 w 449650"/>
              <a:gd name="connsiteY47" fmla="*/ 486732 h 599144"/>
              <a:gd name="connsiteX48" fmla="*/ 212659 w 449650"/>
              <a:gd name="connsiteY48" fmla="*/ 474274 h 599144"/>
              <a:gd name="connsiteX49" fmla="*/ 362153 w 449650"/>
              <a:gd name="connsiteY49" fmla="*/ 474274 h 599144"/>
              <a:gd name="connsiteX50" fmla="*/ 374612 w 449650"/>
              <a:gd name="connsiteY50" fmla="*/ 486732 h 599144"/>
              <a:gd name="connsiteX51" fmla="*/ 362153 w 449650"/>
              <a:gd name="connsiteY51" fmla="*/ 499191 h 599144"/>
              <a:gd name="connsiteX52" fmla="*/ 362153 w 449650"/>
              <a:gd name="connsiteY52" fmla="*/ 374612 h 599144"/>
              <a:gd name="connsiteX53" fmla="*/ 212659 w 449650"/>
              <a:gd name="connsiteY53" fmla="*/ 374612 h 599144"/>
              <a:gd name="connsiteX54" fmla="*/ 200201 w 449650"/>
              <a:gd name="connsiteY54" fmla="*/ 362153 h 599144"/>
              <a:gd name="connsiteX55" fmla="*/ 212659 w 449650"/>
              <a:gd name="connsiteY55" fmla="*/ 349695 h 599144"/>
              <a:gd name="connsiteX56" fmla="*/ 362153 w 449650"/>
              <a:gd name="connsiteY56" fmla="*/ 349695 h 599144"/>
              <a:gd name="connsiteX57" fmla="*/ 374612 w 449650"/>
              <a:gd name="connsiteY57" fmla="*/ 362153 h 599144"/>
              <a:gd name="connsiteX58" fmla="*/ 362153 w 449650"/>
              <a:gd name="connsiteY58" fmla="*/ 374612 h 599144"/>
              <a:gd name="connsiteX59" fmla="*/ 362153 w 449650"/>
              <a:gd name="connsiteY59" fmla="*/ 250033 h 599144"/>
              <a:gd name="connsiteX60" fmla="*/ 212659 w 449650"/>
              <a:gd name="connsiteY60" fmla="*/ 250033 h 599144"/>
              <a:gd name="connsiteX61" fmla="*/ 200201 w 449650"/>
              <a:gd name="connsiteY61" fmla="*/ 237574 h 599144"/>
              <a:gd name="connsiteX62" fmla="*/ 212659 w 449650"/>
              <a:gd name="connsiteY62" fmla="*/ 225116 h 599144"/>
              <a:gd name="connsiteX63" fmla="*/ 362153 w 449650"/>
              <a:gd name="connsiteY63" fmla="*/ 225116 h 599144"/>
              <a:gd name="connsiteX64" fmla="*/ 374612 w 449650"/>
              <a:gd name="connsiteY64" fmla="*/ 237574 h 599144"/>
              <a:gd name="connsiteX65" fmla="*/ 362153 w 449650"/>
              <a:gd name="connsiteY65" fmla="*/ 250033 h 599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49650" h="599144">
                <a:moveTo>
                  <a:pt x="399527" y="50708"/>
                </a:moveTo>
                <a:lnTo>
                  <a:pt x="347400" y="50708"/>
                </a:lnTo>
                <a:cubicBezTo>
                  <a:pt x="342240" y="36238"/>
                  <a:pt x="328542" y="25792"/>
                  <a:pt x="312322" y="25792"/>
                </a:cubicBezTo>
                <a:lnTo>
                  <a:pt x="274692" y="25792"/>
                </a:lnTo>
                <a:cubicBezTo>
                  <a:pt x="262990" y="10268"/>
                  <a:pt x="244595" y="876"/>
                  <a:pt x="225117" y="876"/>
                </a:cubicBezTo>
                <a:cubicBezTo>
                  <a:pt x="205640" y="876"/>
                  <a:pt x="187245" y="10268"/>
                  <a:pt x="175541" y="25791"/>
                </a:cubicBezTo>
                <a:lnTo>
                  <a:pt x="137912" y="25791"/>
                </a:lnTo>
                <a:cubicBezTo>
                  <a:pt x="121692" y="25791"/>
                  <a:pt x="107993" y="36237"/>
                  <a:pt x="102833" y="50707"/>
                </a:cubicBezTo>
                <a:lnTo>
                  <a:pt x="50708" y="50707"/>
                </a:lnTo>
                <a:cubicBezTo>
                  <a:pt x="23224" y="50708"/>
                  <a:pt x="876" y="73056"/>
                  <a:pt x="876" y="100538"/>
                </a:cubicBezTo>
                <a:lnTo>
                  <a:pt x="876" y="549021"/>
                </a:lnTo>
                <a:cubicBezTo>
                  <a:pt x="876" y="576505"/>
                  <a:pt x="23224" y="598853"/>
                  <a:pt x="50708" y="598853"/>
                </a:cubicBezTo>
                <a:lnTo>
                  <a:pt x="399528" y="598853"/>
                </a:lnTo>
                <a:cubicBezTo>
                  <a:pt x="427010" y="598853"/>
                  <a:pt x="449359" y="576505"/>
                  <a:pt x="449359" y="549021"/>
                </a:cubicBezTo>
                <a:lnTo>
                  <a:pt x="449359" y="100538"/>
                </a:lnTo>
                <a:cubicBezTo>
                  <a:pt x="449359" y="73056"/>
                  <a:pt x="427010" y="50708"/>
                  <a:pt x="399527" y="50708"/>
                </a:cubicBezTo>
                <a:close/>
                <a:moveTo>
                  <a:pt x="112997" y="524106"/>
                </a:moveTo>
                <a:cubicBezTo>
                  <a:pt x="92387" y="524106"/>
                  <a:pt x="75623" y="507341"/>
                  <a:pt x="75623" y="486732"/>
                </a:cubicBezTo>
                <a:cubicBezTo>
                  <a:pt x="75623" y="466123"/>
                  <a:pt x="92387" y="449359"/>
                  <a:pt x="112997" y="449359"/>
                </a:cubicBezTo>
                <a:cubicBezTo>
                  <a:pt x="133606" y="449359"/>
                  <a:pt x="150370" y="466123"/>
                  <a:pt x="150370" y="486732"/>
                </a:cubicBezTo>
                <a:cubicBezTo>
                  <a:pt x="150370" y="507341"/>
                  <a:pt x="133606" y="524106"/>
                  <a:pt x="112997" y="524106"/>
                </a:cubicBezTo>
                <a:close/>
                <a:moveTo>
                  <a:pt x="112997" y="399527"/>
                </a:moveTo>
                <a:cubicBezTo>
                  <a:pt x="92387" y="399527"/>
                  <a:pt x="75623" y="382763"/>
                  <a:pt x="75623" y="362153"/>
                </a:cubicBezTo>
                <a:cubicBezTo>
                  <a:pt x="75623" y="341544"/>
                  <a:pt x="92387" y="324780"/>
                  <a:pt x="112997" y="324780"/>
                </a:cubicBezTo>
                <a:cubicBezTo>
                  <a:pt x="133606" y="324780"/>
                  <a:pt x="150370" y="341544"/>
                  <a:pt x="150370" y="362153"/>
                </a:cubicBezTo>
                <a:cubicBezTo>
                  <a:pt x="150370" y="382763"/>
                  <a:pt x="133606" y="399527"/>
                  <a:pt x="112997" y="399527"/>
                </a:cubicBezTo>
                <a:close/>
                <a:moveTo>
                  <a:pt x="112997" y="274949"/>
                </a:moveTo>
                <a:cubicBezTo>
                  <a:pt x="92387" y="274949"/>
                  <a:pt x="75623" y="258185"/>
                  <a:pt x="75623" y="237576"/>
                </a:cubicBezTo>
                <a:cubicBezTo>
                  <a:pt x="75623" y="216966"/>
                  <a:pt x="92387" y="200202"/>
                  <a:pt x="112997" y="200202"/>
                </a:cubicBezTo>
                <a:cubicBezTo>
                  <a:pt x="133606" y="200202"/>
                  <a:pt x="150370" y="216966"/>
                  <a:pt x="150370" y="237576"/>
                </a:cubicBezTo>
                <a:cubicBezTo>
                  <a:pt x="150370" y="258185"/>
                  <a:pt x="133606" y="274949"/>
                  <a:pt x="112997" y="274949"/>
                </a:cubicBezTo>
                <a:close/>
                <a:moveTo>
                  <a:pt x="125455" y="75623"/>
                </a:moveTo>
                <a:lnTo>
                  <a:pt x="125455" y="63165"/>
                </a:lnTo>
                <a:cubicBezTo>
                  <a:pt x="125455" y="56292"/>
                  <a:pt x="131039" y="50707"/>
                  <a:pt x="137913" y="50707"/>
                </a:cubicBezTo>
                <a:lnTo>
                  <a:pt x="182197" y="50707"/>
                </a:lnTo>
                <a:cubicBezTo>
                  <a:pt x="186626" y="50707"/>
                  <a:pt x="190725" y="48346"/>
                  <a:pt x="192964" y="44514"/>
                </a:cubicBezTo>
                <a:cubicBezTo>
                  <a:pt x="199790" y="32786"/>
                  <a:pt x="211809" y="25791"/>
                  <a:pt x="225119" y="25791"/>
                </a:cubicBezTo>
                <a:cubicBezTo>
                  <a:pt x="238428" y="25791"/>
                  <a:pt x="250448" y="32787"/>
                  <a:pt x="257273" y="44514"/>
                </a:cubicBezTo>
                <a:cubicBezTo>
                  <a:pt x="259512" y="48346"/>
                  <a:pt x="263611" y="50707"/>
                  <a:pt x="268040" y="50707"/>
                </a:cubicBezTo>
                <a:lnTo>
                  <a:pt x="312324" y="50707"/>
                </a:lnTo>
                <a:cubicBezTo>
                  <a:pt x="319197" y="50707"/>
                  <a:pt x="324782" y="56290"/>
                  <a:pt x="324782" y="63165"/>
                </a:cubicBezTo>
                <a:lnTo>
                  <a:pt x="324782" y="75623"/>
                </a:lnTo>
                <a:cubicBezTo>
                  <a:pt x="324782" y="89358"/>
                  <a:pt x="313602" y="100538"/>
                  <a:pt x="299867" y="100538"/>
                </a:cubicBezTo>
                <a:lnTo>
                  <a:pt x="150370" y="100538"/>
                </a:lnTo>
                <a:cubicBezTo>
                  <a:pt x="136635" y="100538"/>
                  <a:pt x="125455" y="89358"/>
                  <a:pt x="125455" y="75623"/>
                </a:cubicBezTo>
                <a:close/>
                <a:moveTo>
                  <a:pt x="362153" y="499191"/>
                </a:moveTo>
                <a:lnTo>
                  <a:pt x="212659" y="499191"/>
                </a:lnTo>
                <a:cubicBezTo>
                  <a:pt x="205773" y="499191"/>
                  <a:pt x="200201" y="493618"/>
                  <a:pt x="200201" y="486732"/>
                </a:cubicBezTo>
                <a:cubicBezTo>
                  <a:pt x="200201" y="479846"/>
                  <a:pt x="205773" y="474274"/>
                  <a:pt x="212659" y="474274"/>
                </a:cubicBezTo>
                <a:lnTo>
                  <a:pt x="362153" y="474274"/>
                </a:lnTo>
                <a:cubicBezTo>
                  <a:pt x="369039" y="474274"/>
                  <a:pt x="374612" y="479846"/>
                  <a:pt x="374612" y="486732"/>
                </a:cubicBezTo>
                <a:cubicBezTo>
                  <a:pt x="374612" y="493618"/>
                  <a:pt x="369039" y="499191"/>
                  <a:pt x="362153" y="499191"/>
                </a:cubicBezTo>
                <a:close/>
                <a:moveTo>
                  <a:pt x="362153" y="374612"/>
                </a:moveTo>
                <a:lnTo>
                  <a:pt x="212659" y="374612"/>
                </a:lnTo>
                <a:cubicBezTo>
                  <a:pt x="205773" y="374612"/>
                  <a:pt x="200201" y="369039"/>
                  <a:pt x="200201" y="362153"/>
                </a:cubicBezTo>
                <a:cubicBezTo>
                  <a:pt x="200201" y="355267"/>
                  <a:pt x="205773" y="349695"/>
                  <a:pt x="212659" y="349695"/>
                </a:cubicBezTo>
                <a:lnTo>
                  <a:pt x="362153" y="349695"/>
                </a:lnTo>
                <a:cubicBezTo>
                  <a:pt x="369039" y="349695"/>
                  <a:pt x="374612" y="355267"/>
                  <a:pt x="374612" y="362153"/>
                </a:cubicBezTo>
                <a:cubicBezTo>
                  <a:pt x="374612" y="369039"/>
                  <a:pt x="369039" y="374612"/>
                  <a:pt x="362153" y="374612"/>
                </a:cubicBezTo>
                <a:close/>
                <a:moveTo>
                  <a:pt x="362153" y="250033"/>
                </a:moveTo>
                <a:lnTo>
                  <a:pt x="212659" y="250033"/>
                </a:lnTo>
                <a:cubicBezTo>
                  <a:pt x="205773" y="250033"/>
                  <a:pt x="200201" y="244460"/>
                  <a:pt x="200201" y="237574"/>
                </a:cubicBezTo>
                <a:cubicBezTo>
                  <a:pt x="200201" y="230688"/>
                  <a:pt x="205773" y="225116"/>
                  <a:pt x="212659" y="225116"/>
                </a:cubicBezTo>
                <a:lnTo>
                  <a:pt x="362153" y="225116"/>
                </a:lnTo>
                <a:cubicBezTo>
                  <a:pt x="369039" y="225116"/>
                  <a:pt x="374612" y="230688"/>
                  <a:pt x="374612" y="237574"/>
                </a:cubicBezTo>
                <a:cubicBezTo>
                  <a:pt x="374612" y="244462"/>
                  <a:pt x="369039" y="250033"/>
                  <a:pt x="362153" y="25003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2" name="Freeform 58">
            <a:extLst>
              <a:ext uri="{FF2B5EF4-FFF2-40B4-BE49-F238E27FC236}">
                <a16:creationId xmlns:a16="http://schemas.microsoft.com/office/drawing/2014/main" id="{680B8C24-9358-26E0-0544-6DD9CF73B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984" y="6054637"/>
            <a:ext cx="2560612" cy="693790"/>
          </a:xfrm>
          <a:custGeom>
            <a:avLst/>
            <a:gdLst>
              <a:gd name="T0" fmla="*/ 4955 w 5779"/>
              <a:gd name="T1" fmla="*/ 0 h 1627"/>
              <a:gd name="T2" fmla="*/ 4955 w 5779"/>
              <a:gd name="T3" fmla="*/ 0 h 1627"/>
              <a:gd name="T4" fmla="*/ 823 w 5779"/>
              <a:gd name="T5" fmla="*/ 0 h 1627"/>
              <a:gd name="T6" fmla="*/ 0 w 5779"/>
              <a:gd name="T7" fmla="*/ 823 h 1627"/>
              <a:gd name="T8" fmla="*/ 0 w 5779"/>
              <a:gd name="T9" fmla="*/ 823 h 1627"/>
              <a:gd name="T10" fmla="*/ 823 w 5779"/>
              <a:gd name="T11" fmla="*/ 1626 h 1627"/>
              <a:gd name="T12" fmla="*/ 4955 w 5779"/>
              <a:gd name="T13" fmla="*/ 1626 h 1627"/>
              <a:gd name="T14" fmla="*/ 5778 w 5779"/>
              <a:gd name="T15" fmla="*/ 823 h 1627"/>
              <a:gd name="T16" fmla="*/ 5778 w 5779"/>
              <a:gd name="T17" fmla="*/ 823 h 1627"/>
              <a:gd name="T18" fmla="*/ 4955 w 5779"/>
              <a:gd name="T19" fmla="*/ 0 h 1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79" h="1627">
                <a:moveTo>
                  <a:pt x="4955" y="0"/>
                </a:moveTo>
                <a:lnTo>
                  <a:pt x="4955" y="0"/>
                </a:lnTo>
                <a:cubicBezTo>
                  <a:pt x="823" y="0"/>
                  <a:pt x="823" y="0"/>
                  <a:pt x="823" y="0"/>
                </a:cubicBezTo>
                <a:cubicBezTo>
                  <a:pt x="372" y="0"/>
                  <a:pt x="0" y="372"/>
                  <a:pt x="0" y="823"/>
                </a:cubicBezTo>
                <a:lnTo>
                  <a:pt x="0" y="823"/>
                </a:lnTo>
                <a:cubicBezTo>
                  <a:pt x="0" y="1273"/>
                  <a:pt x="372" y="1626"/>
                  <a:pt x="823" y="1626"/>
                </a:cubicBezTo>
                <a:cubicBezTo>
                  <a:pt x="4955" y="1626"/>
                  <a:pt x="4955" y="1626"/>
                  <a:pt x="4955" y="1626"/>
                </a:cubicBezTo>
                <a:cubicBezTo>
                  <a:pt x="5406" y="1626"/>
                  <a:pt x="5778" y="1273"/>
                  <a:pt x="5778" y="823"/>
                </a:cubicBezTo>
                <a:lnTo>
                  <a:pt x="5778" y="823"/>
                </a:lnTo>
                <a:cubicBezTo>
                  <a:pt x="5778" y="372"/>
                  <a:pt x="5406" y="0"/>
                  <a:pt x="4955" y="0"/>
                </a:cubicBezTo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844F5-95C5-9F31-DBB2-C42E7C04472A}"/>
              </a:ext>
            </a:extLst>
          </p:cNvPr>
          <p:cNvSpPr txBox="1"/>
          <p:nvPr/>
        </p:nvSpPr>
        <p:spPr>
          <a:xfrm>
            <a:off x="4224067" y="6071441"/>
            <a:ext cx="7904673" cy="58477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914217"/>
            <a:r>
              <a:rPr lang="en-US" sz="1600" dirty="0">
                <a:solidFill>
                  <a:srgbClr val="030416"/>
                </a:solidFill>
                <a:latin typeface="LatoWeb"/>
              </a:rPr>
              <a:t>Shared data insights can align accident reduction efforts across DOT, law enforcement, and emergency services.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806C347-75A8-C19F-F663-599EA991EA1D}"/>
              </a:ext>
            </a:extLst>
          </p:cNvPr>
          <p:cNvSpPr/>
          <p:nvPr/>
        </p:nvSpPr>
        <p:spPr>
          <a:xfrm>
            <a:off x="2041645" y="6095395"/>
            <a:ext cx="18327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Cross Agency Collaboration</a:t>
            </a:r>
            <a:endParaRPr lang="en-US" sz="2700" b="1" dirty="0">
              <a:solidFill>
                <a:srgbClr val="FFFFFF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88" name="Freeform 82">
            <a:extLst>
              <a:ext uri="{FF2B5EF4-FFF2-40B4-BE49-F238E27FC236}">
                <a16:creationId xmlns:a16="http://schemas.microsoft.com/office/drawing/2014/main" id="{D009AF54-1BCD-1F43-CD76-011F606FC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823" y="6173475"/>
            <a:ext cx="535855" cy="535854"/>
          </a:xfrm>
          <a:custGeom>
            <a:avLst/>
            <a:gdLst>
              <a:gd name="T0" fmla="*/ 0 w 1255"/>
              <a:gd name="T1" fmla="*/ 627 h 1255"/>
              <a:gd name="T2" fmla="*/ 0 w 1255"/>
              <a:gd name="T3" fmla="*/ 627 h 1255"/>
              <a:gd name="T4" fmla="*/ 627 w 1255"/>
              <a:gd name="T5" fmla="*/ 0 h 1255"/>
              <a:gd name="T6" fmla="*/ 1254 w 1255"/>
              <a:gd name="T7" fmla="*/ 627 h 1255"/>
              <a:gd name="T8" fmla="*/ 627 w 1255"/>
              <a:gd name="T9" fmla="*/ 1254 h 1255"/>
              <a:gd name="T10" fmla="*/ 0 w 1255"/>
              <a:gd name="T11" fmla="*/ 627 h 1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55" h="1255">
                <a:moveTo>
                  <a:pt x="0" y="627"/>
                </a:moveTo>
                <a:lnTo>
                  <a:pt x="0" y="627"/>
                </a:lnTo>
                <a:cubicBezTo>
                  <a:pt x="0" y="294"/>
                  <a:pt x="275" y="0"/>
                  <a:pt x="627" y="0"/>
                </a:cubicBezTo>
                <a:cubicBezTo>
                  <a:pt x="980" y="0"/>
                  <a:pt x="1254" y="294"/>
                  <a:pt x="1254" y="627"/>
                </a:cubicBezTo>
                <a:cubicBezTo>
                  <a:pt x="1254" y="980"/>
                  <a:pt x="980" y="1254"/>
                  <a:pt x="627" y="1254"/>
                </a:cubicBezTo>
                <a:cubicBezTo>
                  <a:pt x="275" y="1254"/>
                  <a:pt x="0" y="980"/>
                  <a:pt x="0" y="627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C066FEF-1250-D864-EBFD-BBE05FB73054}"/>
              </a:ext>
            </a:extLst>
          </p:cNvPr>
          <p:cNvSpPr/>
          <p:nvPr/>
        </p:nvSpPr>
        <p:spPr>
          <a:xfrm>
            <a:off x="3503691" y="4390171"/>
            <a:ext cx="18327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Policy Development</a:t>
            </a:r>
            <a:endParaRPr lang="en-US" sz="2700" b="1" dirty="0">
              <a:solidFill>
                <a:srgbClr val="FFFFFF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EF3310B-8206-1A32-6C89-F7B7A0508D8E}"/>
              </a:ext>
            </a:extLst>
          </p:cNvPr>
          <p:cNvSpPr txBox="1"/>
          <p:nvPr/>
        </p:nvSpPr>
        <p:spPr>
          <a:xfrm>
            <a:off x="3974634" y="970964"/>
            <a:ext cx="8159857" cy="58477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30416"/>
                </a:solidFill>
                <a:latin typeface="LatoWeb"/>
              </a:rPr>
              <a:t>Understanding accident patterns guides how emerging vehicle technologies should be regulated to maximize safety benefits.</a:t>
            </a:r>
          </a:p>
        </p:txBody>
      </p:sp>
      <p:sp>
        <p:nvSpPr>
          <p:cNvPr id="108" name="Freeform 62">
            <a:extLst>
              <a:ext uri="{FF2B5EF4-FFF2-40B4-BE49-F238E27FC236}">
                <a16:creationId xmlns:a16="http://schemas.microsoft.com/office/drawing/2014/main" id="{142C0C02-D4EB-DB2A-26E1-C3AD2334F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301" y="1096997"/>
            <a:ext cx="535855" cy="533975"/>
          </a:xfrm>
          <a:custGeom>
            <a:avLst/>
            <a:gdLst>
              <a:gd name="T0" fmla="*/ 0 w 1255"/>
              <a:gd name="T1" fmla="*/ 626 h 1254"/>
              <a:gd name="T2" fmla="*/ 0 w 1255"/>
              <a:gd name="T3" fmla="*/ 626 h 1254"/>
              <a:gd name="T4" fmla="*/ 627 w 1255"/>
              <a:gd name="T5" fmla="*/ 0 h 1254"/>
              <a:gd name="T6" fmla="*/ 1254 w 1255"/>
              <a:gd name="T7" fmla="*/ 626 h 1254"/>
              <a:gd name="T8" fmla="*/ 627 w 1255"/>
              <a:gd name="T9" fmla="*/ 1253 h 1254"/>
              <a:gd name="T10" fmla="*/ 0 w 1255"/>
              <a:gd name="T11" fmla="*/ 626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55" h="1254">
                <a:moveTo>
                  <a:pt x="0" y="626"/>
                </a:moveTo>
                <a:lnTo>
                  <a:pt x="0" y="626"/>
                </a:lnTo>
                <a:cubicBezTo>
                  <a:pt x="0" y="294"/>
                  <a:pt x="275" y="0"/>
                  <a:pt x="627" y="0"/>
                </a:cubicBezTo>
                <a:cubicBezTo>
                  <a:pt x="980" y="0"/>
                  <a:pt x="1254" y="294"/>
                  <a:pt x="1254" y="626"/>
                </a:cubicBezTo>
                <a:cubicBezTo>
                  <a:pt x="1254" y="979"/>
                  <a:pt x="980" y="1253"/>
                  <a:pt x="627" y="1253"/>
                </a:cubicBezTo>
                <a:cubicBezTo>
                  <a:pt x="275" y="1253"/>
                  <a:pt x="0" y="979"/>
                  <a:pt x="0" y="626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232323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09" name="Freeform 60">
            <a:extLst>
              <a:ext uri="{FF2B5EF4-FFF2-40B4-BE49-F238E27FC236}">
                <a16:creationId xmlns:a16="http://schemas.microsoft.com/office/drawing/2014/main" id="{941C3E4E-078C-B556-8BF7-030D093DC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043" y="2029531"/>
            <a:ext cx="191780" cy="193661"/>
          </a:xfrm>
          <a:custGeom>
            <a:avLst/>
            <a:gdLst>
              <a:gd name="T0" fmla="*/ 235 w 451"/>
              <a:gd name="T1" fmla="*/ 451 h 452"/>
              <a:gd name="T2" fmla="*/ 235 w 451"/>
              <a:gd name="T3" fmla="*/ 451 h 452"/>
              <a:gd name="T4" fmla="*/ 0 w 451"/>
              <a:gd name="T5" fmla="*/ 216 h 452"/>
              <a:gd name="T6" fmla="*/ 235 w 451"/>
              <a:gd name="T7" fmla="*/ 0 h 452"/>
              <a:gd name="T8" fmla="*/ 450 w 451"/>
              <a:gd name="T9" fmla="*/ 216 h 452"/>
              <a:gd name="T10" fmla="*/ 235 w 451"/>
              <a:gd name="T11" fmla="*/ 451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51" h="452">
                <a:moveTo>
                  <a:pt x="235" y="451"/>
                </a:moveTo>
                <a:lnTo>
                  <a:pt x="235" y="451"/>
                </a:lnTo>
                <a:cubicBezTo>
                  <a:pt x="118" y="451"/>
                  <a:pt x="0" y="352"/>
                  <a:pt x="0" y="216"/>
                </a:cubicBezTo>
                <a:cubicBezTo>
                  <a:pt x="0" y="98"/>
                  <a:pt x="118" y="0"/>
                  <a:pt x="235" y="0"/>
                </a:cubicBezTo>
                <a:cubicBezTo>
                  <a:pt x="353" y="0"/>
                  <a:pt x="450" y="98"/>
                  <a:pt x="450" y="216"/>
                </a:cubicBezTo>
                <a:cubicBezTo>
                  <a:pt x="450" y="352"/>
                  <a:pt x="353" y="451"/>
                  <a:pt x="235" y="451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10" name="Freeform 61">
            <a:extLst>
              <a:ext uri="{FF2B5EF4-FFF2-40B4-BE49-F238E27FC236}">
                <a16:creationId xmlns:a16="http://schemas.microsoft.com/office/drawing/2014/main" id="{8DDC9D8B-5CE3-A10B-DD2B-E9F3AADEA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9" y="2071836"/>
            <a:ext cx="109051" cy="109051"/>
          </a:xfrm>
          <a:custGeom>
            <a:avLst/>
            <a:gdLst>
              <a:gd name="T0" fmla="*/ 0 w 256"/>
              <a:gd name="T1" fmla="*/ 118 h 255"/>
              <a:gd name="T2" fmla="*/ 0 w 256"/>
              <a:gd name="T3" fmla="*/ 118 h 255"/>
              <a:gd name="T4" fmla="*/ 137 w 256"/>
              <a:gd name="T5" fmla="*/ 0 h 255"/>
              <a:gd name="T6" fmla="*/ 255 w 256"/>
              <a:gd name="T7" fmla="*/ 118 h 255"/>
              <a:gd name="T8" fmla="*/ 137 w 256"/>
              <a:gd name="T9" fmla="*/ 254 h 255"/>
              <a:gd name="T10" fmla="*/ 0 w 256"/>
              <a:gd name="T11" fmla="*/ 11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6" h="255">
                <a:moveTo>
                  <a:pt x="0" y="118"/>
                </a:moveTo>
                <a:lnTo>
                  <a:pt x="0" y="118"/>
                </a:lnTo>
                <a:cubicBezTo>
                  <a:pt x="0" y="59"/>
                  <a:pt x="59" y="0"/>
                  <a:pt x="137" y="0"/>
                </a:cubicBezTo>
                <a:cubicBezTo>
                  <a:pt x="196" y="0"/>
                  <a:pt x="255" y="59"/>
                  <a:pt x="255" y="118"/>
                </a:cubicBezTo>
                <a:cubicBezTo>
                  <a:pt x="255" y="196"/>
                  <a:pt x="196" y="254"/>
                  <a:pt x="137" y="254"/>
                </a:cubicBezTo>
                <a:cubicBezTo>
                  <a:pt x="59" y="254"/>
                  <a:pt x="0" y="196"/>
                  <a:pt x="0" y="118"/>
                </a:cubicBez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11" name="Freeform 81">
            <a:extLst>
              <a:ext uri="{FF2B5EF4-FFF2-40B4-BE49-F238E27FC236}">
                <a16:creationId xmlns:a16="http://schemas.microsoft.com/office/drawing/2014/main" id="{361BD357-116E-E829-4B25-53F0CEC77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301" y="5444900"/>
            <a:ext cx="109051" cy="109051"/>
          </a:xfrm>
          <a:custGeom>
            <a:avLst/>
            <a:gdLst>
              <a:gd name="T0" fmla="*/ 0 w 256"/>
              <a:gd name="T1" fmla="*/ 136 h 255"/>
              <a:gd name="T2" fmla="*/ 0 w 256"/>
              <a:gd name="T3" fmla="*/ 136 h 255"/>
              <a:gd name="T4" fmla="*/ 137 w 256"/>
              <a:gd name="T5" fmla="*/ 0 h 255"/>
              <a:gd name="T6" fmla="*/ 255 w 256"/>
              <a:gd name="T7" fmla="*/ 136 h 255"/>
              <a:gd name="T8" fmla="*/ 137 w 256"/>
              <a:gd name="T9" fmla="*/ 254 h 255"/>
              <a:gd name="T10" fmla="*/ 0 w 256"/>
              <a:gd name="T11" fmla="*/ 136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6" h="255">
                <a:moveTo>
                  <a:pt x="0" y="136"/>
                </a:moveTo>
                <a:lnTo>
                  <a:pt x="0" y="136"/>
                </a:lnTo>
                <a:cubicBezTo>
                  <a:pt x="0" y="58"/>
                  <a:pt x="59" y="0"/>
                  <a:pt x="137" y="0"/>
                </a:cubicBezTo>
                <a:cubicBezTo>
                  <a:pt x="196" y="0"/>
                  <a:pt x="255" y="58"/>
                  <a:pt x="255" y="136"/>
                </a:cubicBezTo>
                <a:cubicBezTo>
                  <a:pt x="255" y="195"/>
                  <a:pt x="196" y="254"/>
                  <a:pt x="137" y="254"/>
                </a:cubicBezTo>
                <a:cubicBezTo>
                  <a:pt x="59" y="254"/>
                  <a:pt x="0" y="195"/>
                  <a:pt x="0" y="136"/>
                </a:cubicBezTo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13" name="Freeform 59">
            <a:extLst>
              <a:ext uri="{FF2B5EF4-FFF2-40B4-BE49-F238E27FC236}">
                <a16:creationId xmlns:a16="http://schemas.microsoft.com/office/drawing/2014/main" id="{EAB048E4-CFCB-52D5-23E1-6674AD40D797}"/>
              </a:ext>
            </a:extLst>
          </p:cNvPr>
          <p:cNvSpPr>
            <a:spLocks noChangeArrowheads="1"/>
          </p:cNvSpPr>
          <p:nvPr/>
        </p:nvSpPr>
        <p:spPr bwMode="auto">
          <a:xfrm rot="20701697">
            <a:off x="1089761" y="1619816"/>
            <a:ext cx="319364" cy="388692"/>
          </a:xfrm>
          <a:custGeom>
            <a:avLst/>
            <a:gdLst>
              <a:gd name="T0" fmla="*/ 39 w 843"/>
              <a:gd name="T1" fmla="*/ 1077 h 1078"/>
              <a:gd name="T2" fmla="*/ 0 w 843"/>
              <a:gd name="T3" fmla="*/ 1039 h 1078"/>
              <a:gd name="T4" fmla="*/ 803 w 843"/>
              <a:gd name="T5" fmla="*/ 0 h 1078"/>
              <a:gd name="T6" fmla="*/ 842 w 843"/>
              <a:gd name="T7" fmla="*/ 20 h 1078"/>
              <a:gd name="T8" fmla="*/ 39 w 843"/>
              <a:gd name="T9" fmla="*/ 1077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3" h="1078">
                <a:moveTo>
                  <a:pt x="39" y="1077"/>
                </a:moveTo>
                <a:lnTo>
                  <a:pt x="0" y="1039"/>
                </a:lnTo>
                <a:lnTo>
                  <a:pt x="803" y="0"/>
                </a:lnTo>
                <a:lnTo>
                  <a:pt x="842" y="20"/>
                </a:lnTo>
                <a:lnTo>
                  <a:pt x="39" y="1077"/>
                </a:lnTo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bg1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14" name="Freeform 59">
            <a:extLst>
              <a:ext uri="{FF2B5EF4-FFF2-40B4-BE49-F238E27FC236}">
                <a16:creationId xmlns:a16="http://schemas.microsoft.com/office/drawing/2014/main" id="{2AAABA80-66A6-EE7D-0453-743036405BF5}"/>
              </a:ext>
            </a:extLst>
          </p:cNvPr>
          <p:cNvSpPr>
            <a:spLocks noChangeArrowheads="1"/>
          </p:cNvSpPr>
          <p:nvPr/>
        </p:nvSpPr>
        <p:spPr bwMode="auto">
          <a:xfrm rot="7301691">
            <a:off x="1193666" y="5609219"/>
            <a:ext cx="399283" cy="546305"/>
          </a:xfrm>
          <a:custGeom>
            <a:avLst/>
            <a:gdLst>
              <a:gd name="T0" fmla="*/ 39 w 843"/>
              <a:gd name="T1" fmla="*/ 1077 h 1078"/>
              <a:gd name="T2" fmla="*/ 0 w 843"/>
              <a:gd name="T3" fmla="*/ 1039 h 1078"/>
              <a:gd name="T4" fmla="*/ 803 w 843"/>
              <a:gd name="T5" fmla="*/ 0 h 1078"/>
              <a:gd name="T6" fmla="*/ 842 w 843"/>
              <a:gd name="T7" fmla="*/ 20 h 1078"/>
              <a:gd name="T8" fmla="*/ 39 w 843"/>
              <a:gd name="T9" fmla="*/ 1077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3" h="1078">
                <a:moveTo>
                  <a:pt x="39" y="1077"/>
                </a:moveTo>
                <a:lnTo>
                  <a:pt x="0" y="1039"/>
                </a:lnTo>
                <a:lnTo>
                  <a:pt x="803" y="0"/>
                </a:lnTo>
                <a:lnTo>
                  <a:pt x="842" y="20"/>
                </a:lnTo>
                <a:lnTo>
                  <a:pt x="39" y="1077"/>
                </a:lnTo>
              </a:path>
            </a:pathLst>
          </a:custGeom>
          <a:solidFill>
            <a:schemeClr val="bg1">
              <a:lumMod val="95000"/>
            </a:schemeClr>
          </a:solidFill>
          <a:ln w="9525" cap="flat">
            <a:solidFill>
              <a:schemeClr val="bg1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pPr defTabSz="914217"/>
            <a:endParaRPr lang="en-SV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3249EC-B8F6-1C5E-DD8A-18C7E163E56D}"/>
              </a:ext>
            </a:extLst>
          </p:cNvPr>
          <p:cNvSpPr txBox="1"/>
          <p:nvPr/>
        </p:nvSpPr>
        <p:spPr>
          <a:xfrm>
            <a:off x="1311660" y="1207480"/>
            <a:ext cx="26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6A5177B-78CB-0D2E-52AF-B60960D13AC2}"/>
              </a:ext>
            </a:extLst>
          </p:cNvPr>
          <p:cNvSpPr txBox="1"/>
          <p:nvPr/>
        </p:nvSpPr>
        <p:spPr>
          <a:xfrm>
            <a:off x="2429434" y="1900456"/>
            <a:ext cx="26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4344549-8B8E-0B1D-1140-25684B018E37}"/>
              </a:ext>
            </a:extLst>
          </p:cNvPr>
          <p:cNvSpPr txBox="1"/>
          <p:nvPr/>
        </p:nvSpPr>
        <p:spPr>
          <a:xfrm>
            <a:off x="2979860" y="2740608"/>
            <a:ext cx="26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8E023C0-3E64-4C67-3888-7687C00513BC}"/>
              </a:ext>
            </a:extLst>
          </p:cNvPr>
          <p:cNvSpPr txBox="1"/>
          <p:nvPr/>
        </p:nvSpPr>
        <p:spPr>
          <a:xfrm>
            <a:off x="3114294" y="3630632"/>
            <a:ext cx="26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9B760BA-B184-E6AD-D05F-5D86A9C6195D}"/>
              </a:ext>
            </a:extLst>
          </p:cNvPr>
          <p:cNvSpPr txBox="1"/>
          <p:nvPr/>
        </p:nvSpPr>
        <p:spPr>
          <a:xfrm>
            <a:off x="2959433" y="4543492"/>
            <a:ext cx="26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23F54C4-411B-1769-5E37-CC6AEA1C7C29}"/>
              </a:ext>
            </a:extLst>
          </p:cNvPr>
          <p:cNvSpPr txBox="1"/>
          <p:nvPr/>
        </p:nvSpPr>
        <p:spPr>
          <a:xfrm>
            <a:off x="2265930" y="5407050"/>
            <a:ext cx="41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7E1D205-C2D8-7F8A-B019-77D257FE3036}"/>
              </a:ext>
            </a:extLst>
          </p:cNvPr>
          <p:cNvSpPr txBox="1"/>
          <p:nvPr/>
        </p:nvSpPr>
        <p:spPr>
          <a:xfrm>
            <a:off x="1515631" y="6237546"/>
            <a:ext cx="41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61608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3118902" y="7137"/>
            <a:ext cx="6288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b="1" dirty="0">
                <a:solidFill>
                  <a:srgbClr val="494949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Actionable Insight Plan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1322579" y="628161"/>
            <a:ext cx="952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Goal, Key Questions to Consider &amp; Defining Success</a:t>
            </a:r>
          </a:p>
        </p:txBody>
      </p:sp>
      <p:sp>
        <p:nvSpPr>
          <p:cNvPr id="29" name="Freeform 43">
            <a:extLst>
              <a:ext uri="{FF2B5EF4-FFF2-40B4-BE49-F238E27FC236}">
                <a16:creationId xmlns:a16="http://schemas.microsoft.com/office/drawing/2014/main" id="{059377BE-F8FC-6646-A74C-7CE6C86CD31C}"/>
              </a:ext>
            </a:extLst>
          </p:cNvPr>
          <p:cNvSpPr>
            <a:spLocks/>
          </p:cNvSpPr>
          <p:nvPr/>
        </p:nvSpPr>
        <p:spPr bwMode="auto">
          <a:xfrm>
            <a:off x="5094239" y="2369251"/>
            <a:ext cx="561153" cy="1612795"/>
          </a:xfrm>
          <a:custGeom>
            <a:avLst/>
            <a:gdLst>
              <a:gd name="T0" fmla="*/ 0 w 1217"/>
              <a:gd name="T1" fmla="*/ 0 h 3494"/>
              <a:gd name="T2" fmla="*/ 0 w 1217"/>
              <a:gd name="T3" fmla="*/ 3494 h 3494"/>
              <a:gd name="T4" fmla="*/ 89 w 1217"/>
              <a:gd name="T5" fmla="*/ 3455 h 3494"/>
              <a:gd name="T6" fmla="*/ 260 w 1217"/>
              <a:gd name="T7" fmla="*/ 3364 h 3494"/>
              <a:gd name="T8" fmla="*/ 420 w 1217"/>
              <a:gd name="T9" fmla="*/ 3256 h 3494"/>
              <a:gd name="T10" fmla="*/ 569 w 1217"/>
              <a:gd name="T11" fmla="*/ 3134 h 3494"/>
              <a:gd name="T12" fmla="*/ 704 w 1217"/>
              <a:gd name="T13" fmla="*/ 2999 h 3494"/>
              <a:gd name="T14" fmla="*/ 826 w 1217"/>
              <a:gd name="T15" fmla="*/ 2850 h 3494"/>
              <a:gd name="T16" fmla="*/ 934 w 1217"/>
              <a:gd name="T17" fmla="*/ 2689 h 3494"/>
              <a:gd name="T18" fmla="*/ 1026 w 1217"/>
              <a:gd name="T19" fmla="*/ 2520 h 3494"/>
              <a:gd name="T20" fmla="*/ 1065 w 1217"/>
              <a:gd name="T21" fmla="*/ 2430 h 3494"/>
              <a:gd name="T22" fmla="*/ 1100 w 1217"/>
              <a:gd name="T23" fmla="*/ 2343 h 3494"/>
              <a:gd name="T24" fmla="*/ 1156 w 1217"/>
              <a:gd name="T25" fmla="*/ 2158 h 3494"/>
              <a:gd name="T26" fmla="*/ 1195 w 1217"/>
              <a:gd name="T27" fmla="*/ 1968 h 3494"/>
              <a:gd name="T28" fmla="*/ 1214 w 1217"/>
              <a:gd name="T29" fmla="*/ 1773 h 3494"/>
              <a:gd name="T30" fmla="*/ 1217 w 1217"/>
              <a:gd name="T31" fmla="*/ 1672 h 3494"/>
              <a:gd name="T32" fmla="*/ 1217 w 1217"/>
              <a:gd name="T33" fmla="*/ 0 h 3494"/>
              <a:gd name="T34" fmla="*/ 0 w 1217"/>
              <a:gd name="T35" fmla="*/ 0 h 3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17" h="3494">
                <a:moveTo>
                  <a:pt x="0" y="0"/>
                </a:moveTo>
                <a:lnTo>
                  <a:pt x="0" y="3494"/>
                </a:lnTo>
                <a:lnTo>
                  <a:pt x="89" y="3455"/>
                </a:lnTo>
                <a:lnTo>
                  <a:pt x="260" y="3364"/>
                </a:lnTo>
                <a:lnTo>
                  <a:pt x="420" y="3256"/>
                </a:lnTo>
                <a:lnTo>
                  <a:pt x="569" y="3134"/>
                </a:lnTo>
                <a:lnTo>
                  <a:pt x="704" y="2999"/>
                </a:lnTo>
                <a:lnTo>
                  <a:pt x="826" y="2850"/>
                </a:lnTo>
                <a:lnTo>
                  <a:pt x="934" y="2689"/>
                </a:lnTo>
                <a:lnTo>
                  <a:pt x="1026" y="2520"/>
                </a:lnTo>
                <a:lnTo>
                  <a:pt x="1065" y="2430"/>
                </a:lnTo>
                <a:lnTo>
                  <a:pt x="1100" y="2343"/>
                </a:lnTo>
                <a:lnTo>
                  <a:pt x="1156" y="2158"/>
                </a:lnTo>
                <a:lnTo>
                  <a:pt x="1195" y="1968"/>
                </a:lnTo>
                <a:lnTo>
                  <a:pt x="1214" y="1773"/>
                </a:lnTo>
                <a:lnTo>
                  <a:pt x="1217" y="1672"/>
                </a:lnTo>
                <a:lnTo>
                  <a:pt x="121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pPr defTabSz="914217"/>
            <a:endParaRPr lang="en-US">
              <a:solidFill>
                <a:srgbClr val="999999"/>
              </a:solidFill>
              <a:latin typeface="Calibri" panose="020F0502020204030204"/>
            </a:endParaRPr>
          </a:p>
        </p:txBody>
      </p:sp>
      <p:sp>
        <p:nvSpPr>
          <p:cNvPr id="30" name="Freeform 44">
            <a:extLst>
              <a:ext uri="{FF2B5EF4-FFF2-40B4-BE49-F238E27FC236}">
                <a16:creationId xmlns:a16="http://schemas.microsoft.com/office/drawing/2014/main" id="{A65D2378-B1A8-D446-87C5-75D85BFC09DC}"/>
              </a:ext>
            </a:extLst>
          </p:cNvPr>
          <p:cNvSpPr>
            <a:spLocks/>
          </p:cNvSpPr>
          <p:nvPr/>
        </p:nvSpPr>
        <p:spPr bwMode="auto">
          <a:xfrm>
            <a:off x="3196019" y="3322517"/>
            <a:ext cx="2390095" cy="874290"/>
          </a:xfrm>
          <a:custGeom>
            <a:avLst/>
            <a:gdLst>
              <a:gd name="T0" fmla="*/ 1656 w 5174"/>
              <a:gd name="T1" fmla="*/ 364 h 1892"/>
              <a:gd name="T2" fmla="*/ 2019 w 5174"/>
              <a:gd name="T3" fmla="*/ 0 h 1892"/>
              <a:gd name="T4" fmla="*/ 940 w 5174"/>
              <a:gd name="T5" fmla="*/ 0 h 1892"/>
              <a:gd name="T6" fmla="*/ 576 w 5174"/>
              <a:gd name="T7" fmla="*/ 364 h 1892"/>
              <a:gd name="T8" fmla="*/ 576 w 5174"/>
              <a:gd name="T9" fmla="*/ 364 h 1892"/>
              <a:gd name="T10" fmla="*/ 29 w 5174"/>
              <a:gd name="T11" fmla="*/ 911 h 1892"/>
              <a:gd name="T12" fmla="*/ 29 w 5174"/>
              <a:gd name="T13" fmla="*/ 911 h 1892"/>
              <a:gd name="T14" fmla="*/ 0 w 5174"/>
              <a:gd name="T15" fmla="*/ 940 h 1892"/>
              <a:gd name="T16" fmla="*/ 7 w 5174"/>
              <a:gd name="T17" fmla="*/ 946 h 1892"/>
              <a:gd name="T18" fmla="*/ 0 w 5174"/>
              <a:gd name="T19" fmla="*/ 953 h 1892"/>
              <a:gd name="T20" fmla="*/ 29 w 5174"/>
              <a:gd name="T21" fmla="*/ 982 h 1892"/>
              <a:gd name="T22" fmla="*/ 428 w 5174"/>
              <a:gd name="T23" fmla="*/ 1380 h 1892"/>
              <a:gd name="T24" fmla="*/ 627 w 5174"/>
              <a:gd name="T25" fmla="*/ 1579 h 1892"/>
              <a:gd name="T26" fmla="*/ 627 w 5174"/>
              <a:gd name="T27" fmla="*/ 1579 h 1892"/>
              <a:gd name="T28" fmla="*/ 940 w 5174"/>
              <a:gd name="T29" fmla="*/ 1892 h 1892"/>
              <a:gd name="T30" fmla="*/ 2019 w 5174"/>
              <a:gd name="T31" fmla="*/ 1892 h 1892"/>
              <a:gd name="T32" fmla="*/ 1707 w 5174"/>
              <a:gd name="T33" fmla="*/ 1579 h 1892"/>
              <a:gd name="T34" fmla="*/ 3351 w 5174"/>
              <a:gd name="T35" fmla="*/ 1579 h 1892"/>
              <a:gd name="T36" fmla="*/ 3452 w 5174"/>
              <a:gd name="T37" fmla="*/ 1577 h 1892"/>
              <a:gd name="T38" fmla="*/ 3648 w 5174"/>
              <a:gd name="T39" fmla="*/ 1557 h 1892"/>
              <a:gd name="T40" fmla="*/ 3838 w 5174"/>
              <a:gd name="T41" fmla="*/ 1520 h 1892"/>
              <a:gd name="T42" fmla="*/ 4021 w 5174"/>
              <a:gd name="T43" fmla="*/ 1464 h 1892"/>
              <a:gd name="T44" fmla="*/ 4109 w 5174"/>
              <a:gd name="T45" fmla="*/ 1428 h 1892"/>
              <a:gd name="T46" fmla="*/ 4198 w 5174"/>
              <a:gd name="T47" fmla="*/ 1389 h 1892"/>
              <a:gd name="T48" fmla="*/ 4369 w 5174"/>
              <a:gd name="T49" fmla="*/ 1298 h 1892"/>
              <a:gd name="T50" fmla="*/ 4529 w 5174"/>
              <a:gd name="T51" fmla="*/ 1190 h 1892"/>
              <a:gd name="T52" fmla="*/ 4678 w 5174"/>
              <a:gd name="T53" fmla="*/ 1068 h 1892"/>
              <a:gd name="T54" fmla="*/ 4813 w 5174"/>
              <a:gd name="T55" fmla="*/ 933 h 1892"/>
              <a:gd name="T56" fmla="*/ 4935 w 5174"/>
              <a:gd name="T57" fmla="*/ 784 h 1892"/>
              <a:gd name="T58" fmla="*/ 5043 w 5174"/>
              <a:gd name="T59" fmla="*/ 623 h 1892"/>
              <a:gd name="T60" fmla="*/ 5135 w 5174"/>
              <a:gd name="T61" fmla="*/ 454 h 1892"/>
              <a:gd name="T62" fmla="*/ 5174 w 5174"/>
              <a:gd name="T63" fmla="*/ 364 h 1892"/>
              <a:gd name="T64" fmla="*/ 1656 w 5174"/>
              <a:gd name="T65" fmla="*/ 364 h 1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74" h="1892">
                <a:moveTo>
                  <a:pt x="1656" y="364"/>
                </a:moveTo>
                <a:lnTo>
                  <a:pt x="2019" y="0"/>
                </a:lnTo>
                <a:lnTo>
                  <a:pt x="940" y="0"/>
                </a:lnTo>
                <a:lnTo>
                  <a:pt x="576" y="364"/>
                </a:lnTo>
                <a:lnTo>
                  <a:pt x="576" y="364"/>
                </a:lnTo>
                <a:lnTo>
                  <a:pt x="29" y="911"/>
                </a:lnTo>
                <a:lnTo>
                  <a:pt x="29" y="911"/>
                </a:lnTo>
                <a:lnTo>
                  <a:pt x="0" y="940"/>
                </a:lnTo>
                <a:lnTo>
                  <a:pt x="7" y="946"/>
                </a:lnTo>
                <a:lnTo>
                  <a:pt x="0" y="953"/>
                </a:lnTo>
                <a:lnTo>
                  <a:pt x="29" y="982"/>
                </a:lnTo>
                <a:lnTo>
                  <a:pt x="428" y="1380"/>
                </a:lnTo>
                <a:lnTo>
                  <a:pt x="627" y="1579"/>
                </a:lnTo>
                <a:lnTo>
                  <a:pt x="627" y="1579"/>
                </a:lnTo>
                <a:lnTo>
                  <a:pt x="940" y="1892"/>
                </a:lnTo>
                <a:lnTo>
                  <a:pt x="2019" y="1892"/>
                </a:lnTo>
                <a:lnTo>
                  <a:pt x="1707" y="1579"/>
                </a:lnTo>
                <a:lnTo>
                  <a:pt x="3351" y="1579"/>
                </a:lnTo>
                <a:lnTo>
                  <a:pt x="3452" y="1577"/>
                </a:lnTo>
                <a:lnTo>
                  <a:pt x="3648" y="1557"/>
                </a:lnTo>
                <a:lnTo>
                  <a:pt x="3838" y="1520"/>
                </a:lnTo>
                <a:lnTo>
                  <a:pt x="4021" y="1464"/>
                </a:lnTo>
                <a:lnTo>
                  <a:pt x="4109" y="1428"/>
                </a:lnTo>
                <a:lnTo>
                  <a:pt x="4198" y="1389"/>
                </a:lnTo>
                <a:lnTo>
                  <a:pt x="4369" y="1298"/>
                </a:lnTo>
                <a:lnTo>
                  <a:pt x="4529" y="1190"/>
                </a:lnTo>
                <a:lnTo>
                  <a:pt x="4678" y="1068"/>
                </a:lnTo>
                <a:lnTo>
                  <a:pt x="4813" y="933"/>
                </a:lnTo>
                <a:lnTo>
                  <a:pt x="4935" y="784"/>
                </a:lnTo>
                <a:lnTo>
                  <a:pt x="5043" y="623"/>
                </a:lnTo>
                <a:lnTo>
                  <a:pt x="5135" y="454"/>
                </a:lnTo>
                <a:lnTo>
                  <a:pt x="5174" y="364"/>
                </a:lnTo>
                <a:lnTo>
                  <a:pt x="1656" y="3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pPr defTabSz="914217"/>
            <a:endParaRPr lang="en-US">
              <a:solidFill>
                <a:srgbClr val="999999"/>
              </a:solidFill>
              <a:latin typeface="Calibri" panose="020F0502020204030204"/>
            </a:endParaRPr>
          </a:p>
        </p:txBody>
      </p:sp>
      <p:sp>
        <p:nvSpPr>
          <p:cNvPr id="31" name="Freeform 48">
            <a:extLst>
              <a:ext uri="{FF2B5EF4-FFF2-40B4-BE49-F238E27FC236}">
                <a16:creationId xmlns:a16="http://schemas.microsoft.com/office/drawing/2014/main" id="{986F469C-E5BC-6741-9E73-A934C22262C6}"/>
              </a:ext>
            </a:extLst>
          </p:cNvPr>
          <p:cNvSpPr>
            <a:spLocks/>
          </p:cNvSpPr>
          <p:nvPr/>
        </p:nvSpPr>
        <p:spPr bwMode="auto">
          <a:xfrm>
            <a:off x="5645693" y="2369251"/>
            <a:ext cx="874290" cy="2869500"/>
          </a:xfrm>
          <a:custGeom>
            <a:avLst/>
            <a:gdLst>
              <a:gd name="T0" fmla="*/ 1893 w 1893"/>
              <a:gd name="T1" fmla="*/ 4196 h 6213"/>
              <a:gd name="T2" fmla="*/ 1555 w 1893"/>
              <a:gd name="T3" fmla="*/ 4534 h 6213"/>
              <a:gd name="T4" fmla="*/ 1555 w 1893"/>
              <a:gd name="T5" fmla="*/ 0 h 6213"/>
              <a:gd name="T6" fmla="*/ 338 w 1893"/>
              <a:gd name="T7" fmla="*/ 0 h 6213"/>
              <a:gd name="T8" fmla="*/ 338 w 1893"/>
              <a:gd name="T9" fmla="*/ 4534 h 6213"/>
              <a:gd name="T10" fmla="*/ 0 w 1893"/>
              <a:gd name="T11" fmla="*/ 4196 h 6213"/>
              <a:gd name="T12" fmla="*/ 0 w 1893"/>
              <a:gd name="T13" fmla="*/ 5275 h 6213"/>
              <a:gd name="T14" fmla="*/ 338 w 1893"/>
              <a:gd name="T15" fmla="*/ 5613 h 6213"/>
              <a:gd name="T16" fmla="*/ 338 w 1893"/>
              <a:gd name="T17" fmla="*/ 5613 h 6213"/>
              <a:gd name="T18" fmla="*/ 338 w 1893"/>
              <a:gd name="T19" fmla="*/ 5613 h 6213"/>
              <a:gd name="T20" fmla="*/ 940 w 1893"/>
              <a:gd name="T21" fmla="*/ 6213 h 6213"/>
              <a:gd name="T22" fmla="*/ 946 w 1893"/>
              <a:gd name="T23" fmla="*/ 6207 h 6213"/>
              <a:gd name="T24" fmla="*/ 953 w 1893"/>
              <a:gd name="T25" fmla="*/ 6213 h 6213"/>
              <a:gd name="T26" fmla="*/ 1553 w 1893"/>
              <a:gd name="T27" fmla="*/ 5613 h 6213"/>
              <a:gd name="T28" fmla="*/ 1555 w 1893"/>
              <a:gd name="T29" fmla="*/ 5613 h 6213"/>
              <a:gd name="T30" fmla="*/ 1555 w 1893"/>
              <a:gd name="T31" fmla="*/ 5613 h 6213"/>
              <a:gd name="T32" fmla="*/ 1893 w 1893"/>
              <a:gd name="T33" fmla="*/ 5275 h 6213"/>
              <a:gd name="T34" fmla="*/ 1893 w 1893"/>
              <a:gd name="T35" fmla="*/ 4196 h 6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893" h="6213">
                <a:moveTo>
                  <a:pt x="1893" y="4196"/>
                </a:moveTo>
                <a:lnTo>
                  <a:pt x="1555" y="4534"/>
                </a:lnTo>
                <a:lnTo>
                  <a:pt x="1555" y="0"/>
                </a:lnTo>
                <a:lnTo>
                  <a:pt x="338" y="0"/>
                </a:lnTo>
                <a:lnTo>
                  <a:pt x="338" y="4534"/>
                </a:lnTo>
                <a:lnTo>
                  <a:pt x="0" y="4196"/>
                </a:lnTo>
                <a:lnTo>
                  <a:pt x="0" y="5275"/>
                </a:lnTo>
                <a:lnTo>
                  <a:pt x="338" y="5613"/>
                </a:lnTo>
                <a:lnTo>
                  <a:pt x="338" y="5613"/>
                </a:lnTo>
                <a:lnTo>
                  <a:pt x="338" y="5613"/>
                </a:lnTo>
                <a:lnTo>
                  <a:pt x="940" y="6213"/>
                </a:lnTo>
                <a:lnTo>
                  <a:pt x="946" y="6207"/>
                </a:lnTo>
                <a:lnTo>
                  <a:pt x="953" y="6213"/>
                </a:lnTo>
                <a:lnTo>
                  <a:pt x="1553" y="5613"/>
                </a:lnTo>
                <a:lnTo>
                  <a:pt x="1555" y="5613"/>
                </a:lnTo>
                <a:lnTo>
                  <a:pt x="1555" y="5613"/>
                </a:lnTo>
                <a:lnTo>
                  <a:pt x="1893" y="5275"/>
                </a:lnTo>
                <a:lnTo>
                  <a:pt x="1893" y="41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pPr defTabSz="914217"/>
            <a:endParaRPr lang="en-US">
              <a:solidFill>
                <a:srgbClr val="999999"/>
              </a:solidFill>
              <a:latin typeface="Calibri" panose="020F0502020204030204"/>
            </a:endParaRPr>
          </a:p>
        </p:txBody>
      </p:sp>
      <p:sp>
        <p:nvSpPr>
          <p:cNvPr id="32" name="Freeform 52">
            <a:extLst>
              <a:ext uri="{FF2B5EF4-FFF2-40B4-BE49-F238E27FC236}">
                <a16:creationId xmlns:a16="http://schemas.microsoft.com/office/drawing/2014/main" id="{91C20FB9-44A1-7B40-B4F8-54749BFF3F78}"/>
              </a:ext>
            </a:extLst>
          </p:cNvPr>
          <p:cNvSpPr>
            <a:spLocks/>
          </p:cNvSpPr>
          <p:nvPr/>
        </p:nvSpPr>
        <p:spPr bwMode="auto">
          <a:xfrm>
            <a:off x="6550465" y="2369251"/>
            <a:ext cx="561153" cy="1612795"/>
          </a:xfrm>
          <a:custGeom>
            <a:avLst/>
            <a:gdLst>
              <a:gd name="T0" fmla="*/ 1215 w 1215"/>
              <a:gd name="T1" fmla="*/ 0 h 3494"/>
              <a:gd name="T2" fmla="*/ 1215 w 1215"/>
              <a:gd name="T3" fmla="*/ 3494 h 3494"/>
              <a:gd name="T4" fmla="*/ 1126 w 1215"/>
              <a:gd name="T5" fmla="*/ 3455 h 3494"/>
              <a:gd name="T6" fmla="*/ 956 w 1215"/>
              <a:gd name="T7" fmla="*/ 3364 h 3494"/>
              <a:gd name="T8" fmla="*/ 795 w 1215"/>
              <a:gd name="T9" fmla="*/ 3256 h 3494"/>
              <a:gd name="T10" fmla="*/ 647 w 1215"/>
              <a:gd name="T11" fmla="*/ 3134 h 3494"/>
              <a:gd name="T12" fmla="*/ 511 w 1215"/>
              <a:gd name="T13" fmla="*/ 2999 h 3494"/>
              <a:gd name="T14" fmla="*/ 389 w 1215"/>
              <a:gd name="T15" fmla="*/ 2850 h 3494"/>
              <a:gd name="T16" fmla="*/ 281 w 1215"/>
              <a:gd name="T17" fmla="*/ 2689 h 3494"/>
              <a:gd name="T18" fmla="*/ 189 w 1215"/>
              <a:gd name="T19" fmla="*/ 2520 h 3494"/>
              <a:gd name="T20" fmla="*/ 150 w 1215"/>
              <a:gd name="T21" fmla="*/ 2430 h 3494"/>
              <a:gd name="T22" fmla="*/ 115 w 1215"/>
              <a:gd name="T23" fmla="*/ 2343 h 3494"/>
              <a:gd name="T24" fmla="*/ 59 w 1215"/>
              <a:gd name="T25" fmla="*/ 2158 h 3494"/>
              <a:gd name="T26" fmla="*/ 20 w 1215"/>
              <a:gd name="T27" fmla="*/ 1968 h 3494"/>
              <a:gd name="T28" fmla="*/ 1 w 1215"/>
              <a:gd name="T29" fmla="*/ 1773 h 3494"/>
              <a:gd name="T30" fmla="*/ 0 w 1215"/>
              <a:gd name="T31" fmla="*/ 1672 h 3494"/>
              <a:gd name="T32" fmla="*/ 0 w 1215"/>
              <a:gd name="T33" fmla="*/ 0 h 3494"/>
              <a:gd name="T34" fmla="*/ 1215 w 1215"/>
              <a:gd name="T35" fmla="*/ 0 h 3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15" h="3494">
                <a:moveTo>
                  <a:pt x="1215" y="0"/>
                </a:moveTo>
                <a:lnTo>
                  <a:pt x="1215" y="3494"/>
                </a:lnTo>
                <a:lnTo>
                  <a:pt x="1126" y="3455"/>
                </a:lnTo>
                <a:lnTo>
                  <a:pt x="956" y="3364"/>
                </a:lnTo>
                <a:lnTo>
                  <a:pt x="795" y="3256"/>
                </a:lnTo>
                <a:lnTo>
                  <a:pt x="647" y="3134"/>
                </a:lnTo>
                <a:lnTo>
                  <a:pt x="511" y="2999"/>
                </a:lnTo>
                <a:lnTo>
                  <a:pt x="389" y="2850"/>
                </a:lnTo>
                <a:lnTo>
                  <a:pt x="281" y="2689"/>
                </a:lnTo>
                <a:lnTo>
                  <a:pt x="189" y="2520"/>
                </a:lnTo>
                <a:lnTo>
                  <a:pt x="150" y="2430"/>
                </a:lnTo>
                <a:lnTo>
                  <a:pt x="115" y="2343"/>
                </a:lnTo>
                <a:lnTo>
                  <a:pt x="59" y="2158"/>
                </a:lnTo>
                <a:lnTo>
                  <a:pt x="20" y="1968"/>
                </a:lnTo>
                <a:lnTo>
                  <a:pt x="1" y="1773"/>
                </a:lnTo>
                <a:lnTo>
                  <a:pt x="0" y="1672"/>
                </a:lnTo>
                <a:lnTo>
                  <a:pt x="0" y="0"/>
                </a:lnTo>
                <a:lnTo>
                  <a:pt x="1215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pPr defTabSz="914217"/>
            <a:endParaRPr lang="en-US">
              <a:solidFill>
                <a:srgbClr val="999999"/>
              </a:solidFill>
              <a:latin typeface="Calibri" panose="020F0502020204030204"/>
            </a:endParaRPr>
          </a:p>
        </p:txBody>
      </p:sp>
      <p:sp>
        <p:nvSpPr>
          <p:cNvPr id="33" name="Freeform 53">
            <a:extLst>
              <a:ext uri="{FF2B5EF4-FFF2-40B4-BE49-F238E27FC236}">
                <a16:creationId xmlns:a16="http://schemas.microsoft.com/office/drawing/2014/main" id="{F1BB3437-6EDB-CE4D-844A-C4D47E8D2A9D}"/>
              </a:ext>
            </a:extLst>
          </p:cNvPr>
          <p:cNvSpPr>
            <a:spLocks/>
          </p:cNvSpPr>
          <p:nvPr/>
        </p:nvSpPr>
        <p:spPr bwMode="auto">
          <a:xfrm>
            <a:off x="6621128" y="3322517"/>
            <a:ext cx="2374854" cy="874290"/>
          </a:xfrm>
          <a:custGeom>
            <a:avLst/>
            <a:gdLst>
              <a:gd name="T0" fmla="*/ 5143 w 5143"/>
              <a:gd name="T1" fmla="*/ 940 h 1892"/>
              <a:gd name="T2" fmla="*/ 4202 w 5143"/>
              <a:gd name="T3" fmla="*/ 0 h 1892"/>
              <a:gd name="T4" fmla="*/ 3124 w 5143"/>
              <a:gd name="T5" fmla="*/ 0 h 1892"/>
              <a:gd name="T6" fmla="*/ 3487 w 5143"/>
              <a:gd name="T7" fmla="*/ 364 h 1892"/>
              <a:gd name="T8" fmla="*/ 0 w 5143"/>
              <a:gd name="T9" fmla="*/ 364 h 1892"/>
              <a:gd name="T10" fmla="*/ 39 w 5143"/>
              <a:gd name="T11" fmla="*/ 454 h 1892"/>
              <a:gd name="T12" fmla="*/ 130 w 5143"/>
              <a:gd name="T13" fmla="*/ 623 h 1892"/>
              <a:gd name="T14" fmla="*/ 238 w 5143"/>
              <a:gd name="T15" fmla="*/ 784 h 1892"/>
              <a:gd name="T16" fmla="*/ 360 w 5143"/>
              <a:gd name="T17" fmla="*/ 933 h 1892"/>
              <a:gd name="T18" fmla="*/ 496 w 5143"/>
              <a:gd name="T19" fmla="*/ 1068 h 1892"/>
              <a:gd name="T20" fmla="*/ 644 w 5143"/>
              <a:gd name="T21" fmla="*/ 1190 h 1892"/>
              <a:gd name="T22" fmla="*/ 805 w 5143"/>
              <a:gd name="T23" fmla="*/ 1298 h 1892"/>
              <a:gd name="T24" fmla="*/ 975 w 5143"/>
              <a:gd name="T25" fmla="*/ 1389 h 1892"/>
              <a:gd name="T26" fmla="*/ 1064 w 5143"/>
              <a:gd name="T27" fmla="*/ 1429 h 1892"/>
              <a:gd name="T28" fmla="*/ 1152 w 5143"/>
              <a:gd name="T29" fmla="*/ 1464 h 1892"/>
              <a:gd name="T30" fmla="*/ 1335 w 5143"/>
              <a:gd name="T31" fmla="*/ 1520 h 1892"/>
              <a:gd name="T32" fmla="*/ 1525 w 5143"/>
              <a:gd name="T33" fmla="*/ 1557 h 1892"/>
              <a:gd name="T34" fmla="*/ 1722 w 5143"/>
              <a:gd name="T35" fmla="*/ 1577 h 1892"/>
              <a:gd name="T36" fmla="*/ 1822 w 5143"/>
              <a:gd name="T37" fmla="*/ 1579 h 1892"/>
              <a:gd name="T38" fmla="*/ 3436 w 5143"/>
              <a:gd name="T39" fmla="*/ 1579 h 1892"/>
              <a:gd name="T40" fmla="*/ 3124 w 5143"/>
              <a:gd name="T41" fmla="*/ 1892 h 1892"/>
              <a:gd name="T42" fmla="*/ 4202 w 5143"/>
              <a:gd name="T43" fmla="*/ 1892 h 1892"/>
              <a:gd name="T44" fmla="*/ 4516 w 5143"/>
              <a:gd name="T45" fmla="*/ 1579 h 1892"/>
              <a:gd name="T46" fmla="*/ 5143 w 5143"/>
              <a:gd name="T47" fmla="*/ 953 h 1892"/>
              <a:gd name="T48" fmla="*/ 5135 w 5143"/>
              <a:gd name="T49" fmla="*/ 947 h 1892"/>
              <a:gd name="T50" fmla="*/ 5143 w 5143"/>
              <a:gd name="T51" fmla="*/ 940 h 1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143" h="1892">
                <a:moveTo>
                  <a:pt x="5143" y="940"/>
                </a:moveTo>
                <a:lnTo>
                  <a:pt x="4202" y="0"/>
                </a:lnTo>
                <a:lnTo>
                  <a:pt x="3124" y="0"/>
                </a:lnTo>
                <a:lnTo>
                  <a:pt x="3487" y="364"/>
                </a:lnTo>
                <a:lnTo>
                  <a:pt x="0" y="364"/>
                </a:lnTo>
                <a:lnTo>
                  <a:pt x="39" y="454"/>
                </a:lnTo>
                <a:lnTo>
                  <a:pt x="130" y="623"/>
                </a:lnTo>
                <a:lnTo>
                  <a:pt x="238" y="784"/>
                </a:lnTo>
                <a:lnTo>
                  <a:pt x="360" y="933"/>
                </a:lnTo>
                <a:lnTo>
                  <a:pt x="496" y="1068"/>
                </a:lnTo>
                <a:lnTo>
                  <a:pt x="644" y="1190"/>
                </a:lnTo>
                <a:lnTo>
                  <a:pt x="805" y="1298"/>
                </a:lnTo>
                <a:lnTo>
                  <a:pt x="975" y="1389"/>
                </a:lnTo>
                <a:lnTo>
                  <a:pt x="1064" y="1429"/>
                </a:lnTo>
                <a:lnTo>
                  <a:pt x="1152" y="1464"/>
                </a:lnTo>
                <a:lnTo>
                  <a:pt x="1335" y="1520"/>
                </a:lnTo>
                <a:lnTo>
                  <a:pt x="1525" y="1557"/>
                </a:lnTo>
                <a:lnTo>
                  <a:pt x="1722" y="1577"/>
                </a:lnTo>
                <a:lnTo>
                  <a:pt x="1822" y="1579"/>
                </a:lnTo>
                <a:lnTo>
                  <a:pt x="3436" y="1579"/>
                </a:lnTo>
                <a:lnTo>
                  <a:pt x="3124" y="1892"/>
                </a:lnTo>
                <a:lnTo>
                  <a:pt x="4202" y="1892"/>
                </a:lnTo>
                <a:lnTo>
                  <a:pt x="4516" y="1579"/>
                </a:lnTo>
                <a:lnTo>
                  <a:pt x="5143" y="953"/>
                </a:lnTo>
                <a:lnTo>
                  <a:pt x="5135" y="947"/>
                </a:lnTo>
                <a:lnTo>
                  <a:pt x="5143" y="9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pPr defTabSz="914217"/>
            <a:endParaRPr lang="en-US">
              <a:solidFill>
                <a:srgbClr val="999999"/>
              </a:solidFill>
              <a:latin typeface="Calibri" panose="020F0502020204030204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A00417F-4392-A143-8520-27E10872AAF8}"/>
              </a:ext>
            </a:extLst>
          </p:cNvPr>
          <p:cNvGrpSpPr/>
          <p:nvPr/>
        </p:nvGrpSpPr>
        <p:grpSpPr>
          <a:xfrm>
            <a:off x="70808" y="1980450"/>
            <a:ext cx="2782008" cy="3491455"/>
            <a:chOff x="14388294" y="2482590"/>
            <a:chExt cx="4282887" cy="959654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DE59619-0767-B246-A62E-7777A972D3A9}"/>
                </a:ext>
              </a:extLst>
            </p:cNvPr>
            <p:cNvSpPr/>
            <p:nvPr/>
          </p:nvSpPr>
          <p:spPr>
            <a:xfrm>
              <a:off x="14388294" y="2482590"/>
              <a:ext cx="4282887" cy="1015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/>
              <a:r>
                <a:rPr lang="en-US" b="1" dirty="0">
                  <a:solidFill>
                    <a:srgbClr val="494949"/>
                  </a:solidFill>
                  <a:latin typeface="Poppins SemiBold" pitchFamily="2" charset="77"/>
                  <a:ea typeface="Roboto Medium" panose="02000000000000000000" pitchFamily="2" charset="0"/>
                  <a:cs typeface="Montserrat" charset="0"/>
                </a:rPr>
                <a:t>Goal</a:t>
              </a:r>
              <a:endParaRPr lang="en-US" sz="2700" b="1" dirty="0">
                <a:solidFill>
                  <a:srgbClr val="494949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CB7219E-CA04-E244-A7BA-45260A46B735}"/>
                </a:ext>
              </a:extLst>
            </p:cNvPr>
            <p:cNvSpPr txBox="1"/>
            <p:nvPr/>
          </p:nvSpPr>
          <p:spPr>
            <a:xfrm>
              <a:off x="14388294" y="3535054"/>
              <a:ext cx="4282887" cy="8544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2"/>
                  </a:solidFill>
                </a:rPr>
                <a:t>Understand WHEN and WHERE accidents happen most frequently.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2"/>
                  </a:solidFill>
                </a:rPr>
                <a:t>Identify HOW weather and infrastructure relate to accident frequency and severity.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2"/>
                  </a:solidFill>
                </a:rPr>
                <a:t>Compare URBAN vs RURAL patterns.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2"/>
                  </a:solidFill>
                </a:rPr>
                <a:t>Derive other insights</a:t>
              </a:r>
            </a:p>
            <a:p>
              <a:pPr algn="r" defTabSz="914217"/>
              <a:r>
                <a:rPr lang="en-US" sz="1600" dirty="0">
                  <a:solidFill>
                    <a:srgbClr val="999999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4FD100-8C59-DD45-98B2-A450D7F81CD6}"/>
              </a:ext>
            </a:extLst>
          </p:cNvPr>
          <p:cNvGrpSpPr/>
          <p:nvPr/>
        </p:nvGrpSpPr>
        <p:grpSpPr>
          <a:xfrm>
            <a:off x="9040135" y="1882960"/>
            <a:ext cx="2983291" cy="4811674"/>
            <a:chOff x="14388294" y="2285324"/>
            <a:chExt cx="4282889" cy="962333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370933E-54E2-0F46-92F0-942D7BDF8C15}"/>
                </a:ext>
              </a:extLst>
            </p:cNvPr>
            <p:cNvSpPr/>
            <p:nvPr/>
          </p:nvSpPr>
          <p:spPr>
            <a:xfrm>
              <a:off x="14388294" y="2285324"/>
              <a:ext cx="4282887" cy="738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/>
              <a:r>
                <a:rPr lang="en-US" b="1" dirty="0">
                  <a:solidFill>
                    <a:srgbClr val="494949"/>
                  </a:solidFill>
                  <a:latin typeface="Poppins SemiBold" pitchFamily="2" charset="77"/>
                  <a:ea typeface="Roboto Medium" panose="02000000000000000000" pitchFamily="2" charset="0"/>
                  <a:cs typeface="Montserrat" charset="0"/>
                </a:rPr>
                <a:t>Key Questions</a:t>
              </a:r>
              <a:endParaRPr lang="en-US" sz="2700" b="1" dirty="0">
                <a:solidFill>
                  <a:srgbClr val="494949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9805AF5-326E-FD4A-B55B-5595E34605E5}"/>
                </a:ext>
              </a:extLst>
            </p:cNvPr>
            <p:cNvSpPr txBox="1"/>
            <p:nvPr/>
          </p:nvSpPr>
          <p:spPr>
            <a:xfrm>
              <a:off x="14388295" y="2860041"/>
              <a:ext cx="4282888" cy="9048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1. Temporal patterns: At what times of day / week / year do accidents peak?</a:t>
              </a:r>
            </a:p>
            <a:p>
              <a:r>
                <a:rPr lang="en-US" dirty="0">
                  <a:solidFill>
                    <a:schemeClr val="tx2"/>
                  </a:solidFill>
                </a:rPr>
                <a:t>2. Spatial patterns: Which states / cities are hotspots?</a:t>
              </a:r>
            </a:p>
            <a:p>
              <a:r>
                <a:rPr lang="en-US" dirty="0">
                  <a:solidFill>
                    <a:schemeClr val="tx2"/>
                  </a:solidFill>
                </a:rPr>
                <a:t>3. Environmental factors: Do poor visibility, rain/snow, or low temperature increase accident severity?</a:t>
              </a:r>
            </a:p>
            <a:p>
              <a:r>
                <a:rPr lang="en-US" dirty="0">
                  <a:solidFill>
                    <a:schemeClr val="tx2"/>
                  </a:solidFill>
                </a:rPr>
                <a:t>4. Infrastructure: Which road features (junctions, traffic signals, etc.) relate to severity?</a:t>
              </a:r>
            </a:p>
            <a:p>
              <a:r>
                <a:rPr lang="en-US" dirty="0">
                  <a:solidFill>
                    <a:schemeClr val="tx2"/>
                  </a:solidFill>
                </a:rPr>
                <a:t>5. Urban vs rural: Are severity patterns different between urban and rural areas?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177EE63-DD4A-424E-8C71-41470FC5E50A}"/>
              </a:ext>
            </a:extLst>
          </p:cNvPr>
          <p:cNvGrpSpPr/>
          <p:nvPr/>
        </p:nvGrpSpPr>
        <p:grpSpPr>
          <a:xfrm>
            <a:off x="3743864" y="5280139"/>
            <a:ext cx="4318541" cy="1210689"/>
            <a:chOff x="14388294" y="2285324"/>
            <a:chExt cx="4282890" cy="242137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A342B43-6227-874A-B180-0E4AD34ED40F}"/>
                </a:ext>
              </a:extLst>
            </p:cNvPr>
            <p:cNvSpPr/>
            <p:nvPr/>
          </p:nvSpPr>
          <p:spPr>
            <a:xfrm>
              <a:off x="14388294" y="2285324"/>
              <a:ext cx="4282887" cy="738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/>
              <a:r>
                <a:rPr lang="en-US" b="1" dirty="0">
                  <a:solidFill>
                    <a:srgbClr val="494949"/>
                  </a:solidFill>
                  <a:latin typeface="Poppins SemiBold" pitchFamily="2" charset="77"/>
                  <a:ea typeface="Roboto Medium" panose="02000000000000000000" pitchFamily="2" charset="0"/>
                  <a:cs typeface="Montserrat" charset="0"/>
                </a:rPr>
                <a:t>Success</a:t>
              </a:r>
              <a:endParaRPr lang="en-US" sz="2700" b="1" dirty="0">
                <a:solidFill>
                  <a:srgbClr val="494949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8BFF9F-F803-FF40-AC8F-432DFF8EC32A}"/>
                </a:ext>
              </a:extLst>
            </p:cNvPr>
            <p:cNvSpPr txBox="1"/>
            <p:nvPr/>
          </p:nvSpPr>
          <p:spPr>
            <a:xfrm>
              <a:off x="14388297" y="2860041"/>
              <a:ext cx="4282887" cy="1846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2"/>
                  </a:solidFill>
                </a:rPr>
                <a:t>Data Driven Insights that can be used by Department of Transportation.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788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2432957" y="0"/>
            <a:ext cx="7457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b="1" dirty="0">
                <a:solidFill>
                  <a:srgbClr val="494949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Data Preparation Approach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155275" y="745531"/>
            <a:ext cx="11703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dirty="0">
                <a:solidFill>
                  <a:schemeClr val="tx2"/>
                </a:solidFill>
              </a:rPr>
              <a:t>Cleaning and preprocessing the data, handling missing values, outliers, and duplicates. Creating derived features that might provide additional insights (e.g., time of day categories, weather condition groupings).</a:t>
            </a:r>
            <a:endParaRPr lang="en-US" dirty="0">
              <a:solidFill>
                <a:schemeClr val="tx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450B8A-8B6E-0B4E-9CD3-E19BBCEF7706}"/>
              </a:ext>
            </a:extLst>
          </p:cNvPr>
          <p:cNvGrpSpPr/>
          <p:nvPr/>
        </p:nvGrpSpPr>
        <p:grpSpPr>
          <a:xfrm>
            <a:off x="182533" y="1519337"/>
            <a:ext cx="2095500" cy="1292039"/>
            <a:chOff x="914400" y="6324600"/>
            <a:chExt cx="4191000" cy="30099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F478C4A-4DEB-414B-8250-CA5630768C3A}"/>
                </a:ext>
              </a:extLst>
            </p:cNvPr>
            <p:cNvSpPr/>
            <p:nvPr/>
          </p:nvSpPr>
          <p:spPr>
            <a:xfrm>
              <a:off x="914400" y="6324600"/>
              <a:ext cx="3333750" cy="7181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640FDE8-6329-D546-9BA6-AFABC5C535FC}"/>
                </a:ext>
              </a:extLst>
            </p:cNvPr>
            <p:cNvSpPr/>
            <p:nvPr/>
          </p:nvSpPr>
          <p:spPr>
            <a:xfrm>
              <a:off x="914400" y="8616312"/>
              <a:ext cx="3333750" cy="7181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" name="Chevron 2">
              <a:extLst>
                <a:ext uri="{FF2B5EF4-FFF2-40B4-BE49-F238E27FC236}">
                  <a16:creationId xmlns:a16="http://schemas.microsoft.com/office/drawing/2014/main" id="{46762EFF-76F0-724A-A970-C891A9137F37}"/>
                </a:ext>
              </a:extLst>
            </p:cNvPr>
            <p:cNvSpPr/>
            <p:nvPr/>
          </p:nvSpPr>
          <p:spPr>
            <a:xfrm>
              <a:off x="3390900" y="6324600"/>
              <a:ext cx="1714500" cy="3009900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7843B83-EC0F-4247-8120-38B529FEFFE2}"/>
              </a:ext>
            </a:extLst>
          </p:cNvPr>
          <p:cNvGrpSpPr/>
          <p:nvPr/>
        </p:nvGrpSpPr>
        <p:grpSpPr>
          <a:xfrm>
            <a:off x="3425169" y="1524144"/>
            <a:ext cx="2095500" cy="1292039"/>
            <a:chOff x="914400" y="6324600"/>
            <a:chExt cx="4191000" cy="30099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C52FD1-3EEB-AA48-9E89-DCD5AC136115}"/>
                </a:ext>
              </a:extLst>
            </p:cNvPr>
            <p:cNvSpPr/>
            <p:nvPr/>
          </p:nvSpPr>
          <p:spPr>
            <a:xfrm>
              <a:off x="914400" y="6324600"/>
              <a:ext cx="3333750" cy="71818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5A6FFF7-C9D8-9547-9459-D88DD8745DD7}"/>
                </a:ext>
              </a:extLst>
            </p:cNvPr>
            <p:cNvSpPr/>
            <p:nvPr/>
          </p:nvSpPr>
          <p:spPr>
            <a:xfrm>
              <a:off x="914400" y="8616312"/>
              <a:ext cx="3333750" cy="71818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2" name="Chevron 31">
              <a:extLst>
                <a:ext uri="{FF2B5EF4-FFF2-40B4-BE49-F238E27FC236}">
                  <a16:creationId xmlns:a16="http://schemas.microsoft.com/office/drawing/2014/main" id="{F1AC437B-DAF8-9E4F-8560-46B2312D7E62}"/>
                </a:ext>
              </a:extLst>
            </p:cNvPr>
            <p:cNvSpPr/>
            <p:nvPr/>
          </p:nvSpPr>
          <p:spPr>
            <a:xfrm>
              <a:off x="3390900" y="6324600"/>
              <a:ext cx="1714500" cy="30099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DFF6BD-65A4-8941-B83F-26387BA244EF}"/>
              </a:ext>
            </a:extLst>
          </p:cNvPr>
          <p:cNvGrpSpPr/>
          <p:nvPr/>
        </p:nvGrpSpPr>
        <p:grpSpPr>
          <a:xfrm>
            <a:off x="6338519" y="1486691"/>
            <a:ext cx="2095500" cy="1292039"/>
            <a:chOff x="914400" y="6324600"/>
            <a:chExt cx="4191000" cy="30099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3782A24-BA96-BF41-A4A4-8F9E85A0A5C3}"/>
                </a:ext>
              </a:extLst>
            </p:cNvPr>
            <p:cNvSpPr/>
            <p:nvPr/>
          </p:nvSpPr>
          <p:spPr>
            <a:xfrm>
              <a:off x="914400" y="6324600"/>
              <a:ext cx="3333750" cy="71818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A09CF5-7DBF-4D46-BE64-38D8343507D5}"/>
                </a:ext>
              </a:extLst>
            </p:cNvPr>
            <p:cNvSpPr/>
            <p:nvPr/>
          </p:nvSpPr>
          <p:spPr>
            <a:xfrm>
              <a:off x="914400" y="8616312"/>
              <a:ext cx="3333750" cy="71818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8" name="Chevron 37">
              <a:extLst>
                <a:ext uri="{FF2B5EF4-FFF2-40B4-BE49-F238E27FC236}">
                  <a16:creationId xmlns:a16="http://schemas.microsoft.com/office/drawing/2014/main" id="{669D9437-CAE4-114B-B480-CD2F345F56EE}"/>
                </a:ext>
              </a:extLst>
            </p:cNvPr>
            <p:cNvSpPr/>
            <p:nvPr/>
          </p:nvSpPr>
          <p:spPr>
            <a:xfrm>
              <a:off x="3390900" y="6324600"/>
              <a:ext cx="1714500" cy="3009900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588CC66-F045-474E-BF3C-003348614CCC}"/>
              </a:ext>
            </a:extLst>
          </p:cNvPr>
          <p:cNvGrpSpPr/>
          <p:nvPr/>
        </p:nvGrpSpPr>
        <p:grpSpPr>
          <a:xfrm>
            <a:off x="9268401" y="1519336"/>
            <a:ext cx="2095500" cy="1292039"/>
            <a:chOff x="914400" y="6324600"/>
            <a:chExt cx="4191000" cy="30099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771F8FF-9960-D142-87CC-C676342ABF22}"/>
                </a:ext>
              </a:extLst>
            </p:cNvPr>
            <p:cNvSpPr/>
            <p:nvPr/>
          </p:nvSpPr>
          <p:spPr>
            <a:xfrm>
              <a:off x="914400" y="6324600"/>
              <a:ext cx="3333750" cy="71818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D1BE98C-408D-1F4C-9C5E-188FD0891F33}"/>
                </a:ext>
              </a:extLst>
            </p:cNvPr>
            <p:cNvSpPr/>
            <p:nvPr/>
          </p:nvSpPr>
          <p:spPr>
            <a:xfrm>
              <a:off x="914400" y="8616312"/>
              <a:ext cx="3333750" cy="71818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2" name="Chevron 41">
              <a:extLst>
                <a:ext uri="{FF2B5EF4-FFF2-40B4-BE49-F238E27FC236}">
                  <a16:creationId xmlns:a16="http://schemas.microsoft.com/office/drawing/2014/main" id="{683827B3-20EA-9246-8798-4AF2614CB13A}"/>
                </a:ext>
              </a:extLst>
            </p:cNvPr>
            <p:cNvSpPr/>
            <p:nvPr/>
          </p:nvSpPr>
          <p:spPr>
            <a:xfrm>
              <a:off x="3390900" y="6324600"/>
              <a:ext cx="1714500" cy="3009900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999999"/>
                </a:solidFill>
                <a:latin typeface="Calibri" panose="020F0502020204030204"/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A6D7586F-1007-DA46-8FCC-C1FD9F2371DB}"/>
              </a:ext>
            </a:extLst>
          </p:cNvPr>
          <p:cNvSpPr/>
          <p:nvPr/>
        </p:nvSpPr>
        <p:spPr>
          <a:xfrm>
            <a:off x="71055" y="1877196"/>
            <a:ext cx="19414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/>
            <a:r>
              <a:rPr lang="en-US" sz="1400" b="1" dirty="0">
                <a:solidFill>
                  <a:srgbClr val="494949"/>
                </a:solidFill>
                <a:ea typeface="Roboto Medium" panose="02000000000000000000" pitchFamily="2" charset="0"/>
                <a:cs typeface="Montserrat" charset="0"/>
              </a:rPr>
              <a:t>Data Loading &amp; Exploratory Analysis</a:t>
            </a:r>
            <a:endParaRPr lang="en-US" sz="2000" b="1" dirty="0">
              <a:solidFill>
                <a:srgbClr val="494949"/>
              </a:solidFill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6D297B-F277-A44E-8059-4E4D408A0824}"/>
              </a:ext>
            </a:extLst>
          </p:cNvPr>
          <p:cNvSpPr txBox="1"/>
          <p:nvPr/>
        </p:nvSpPr>
        <p:spPr>
          <a:xfrm>
            <a:off x="0" y="2930274"/>
            <a:ext cx="30940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Goal: Understand Dataset, Identify missing values, errors, outliers, relationship between variables, form hypotheses for analysis, prepare data for modeling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Total Entries within data~ 7.7 Million, Columns 46 , 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Data Types and memory usage for dataset. 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Using python libraries like pandas, </a:t>
            </a:r>
            <a:r>
              <a:rPr lang="en-US" sz="1600" dirty="0" err="1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numpy</a:t>
            </a: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, matplotlib, and </a:t>
            </a:r>
            <a:r>
              <a:rPr lang="en-US" sz="1600" dirty="0" err="1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scipy</a:t>
            </a: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 to conduct exploratory data analysis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985B6B2-D6EE-7F44-B65E-07F7EB8AF219}"/>
              </a:ext>
            </a:extLst>
          </p:cNvPr>
          <p:cNvSpPr/>
          <p:nvPr/>
        </p:nvSpPr>
        <p:spPr>
          <a:xfrm>
            <a:off x="3391046" y="1996394"/>
            <a:ext cx="16668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/>
            <a:r>
              <a:rPr lang="en-US" sz="1400" b="1" dirty="0">
                <a:solidFill>
                  <a:srgbClr val="494949"/>
                </a:solidFill>
                <a:ea typeface="Roboto Medium" panose="02000000000000000000" pitchFamily="2" charset="0"/>
              </a:rPr>
              <a:t>Statistical Analysis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AE1F29-83F6-2743-9EE4-9AF512EA8FCB}"/>
              </a:ext>
            </a:extLst>
          </p:cNvPr>
          <p:cNvSpPr txBox="1"/>
          <p:nvPr/>
        </p:nvSpPr>
        <p:spPr>
          <a:xfrm>
            <a:off x="2992571" y="2979626"/>
            <a:ext cx="29502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Focus on Numerical Columns to checking basic Statistics like Count, Mean, Standard Deviation, Min, max Values helps better understand the dataset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Additional Temporal &amp; spatial pattern analysis to gain timebound &amp; geography based insights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F0E46F-E9E4-DE4D-A5F6-3F50C35EB1D2}"/>
              </a:ext>
            </a:extLst>
          </p:cNvPr>
          <p:cNvSpPr/>
          <p:nvPr/>
        </p:nvSpPr>
        <p:spPr>
          <a:xfrm>
            <a:off x="6313762" y="1961358"/>
            <a:ext cx="13788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/>
            <a:r>
              <a:rPr lang="en-US" sz="1400" b="1" dirty="0">
                <a:solidFill>
                  <a:srgbClr val="494949"/>
                </a:solidFill>
                <a:ea typeface="Roboto Medium" panose="02000000000000000000" pitchFamily="2" charset="0"/>
              </a:rPr>
              <a:t>Missing Values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FDD148-6C78-794A-ACF4-D4BBD9F099D7}"/>
              </a:ext>
            </a:extLst>
          </p:cNvPr>
          <p:cNvSpPr txBox="1"/>
          <p:nvPr/>
        </p:nvSpPr>
        <p:spPr>
          <a:xfrm>
            <a:off x="5942805" y="2979626"/>
            <a:ext cx="30588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Identify the Percentage of Missing values within the data.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Take care of errors, Handle Data Perform Basic cleaning by filling missing numeric values with mean, dropping rows missing critical fields 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errors="coerce" :If a value cannot be parsed as a date → it becomes </a:t>
            </a:r>
            <a:r>
              <a:rPr lang="en-US" sz="1600" dirty="0" err="1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NaT</a:t>
            </a: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 (Not a Time)..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5EAA9F-663D-2147-9307-D1279B6CAC91}"/>
              </a:ext>
            </a:extLst>
          </p:cNvPr>
          <p:cNvSpPr/>
          <p:nvPr/>
        </p:nvSpPr>
        <p:spPr>
          <a:xfrm>
            <a:off x="9268401" y="1996394"/>
            <a:ext cx="122015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/>
            <a:r>
              <a:rPr lang="en-US" sz="1400" b="1" dirty="0">
                <a:solidFill>
                  <a:srgbClr val="494949"/>
                </a:solidFill>
                <a:ea typeface="Roboto Medium" panose="02000000000000000000" pitchFamily="2" charset="0"/>
              </a:rPr>
              <a:t>Format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2AB5DE-76D6-5243-AD0D-7BAB5DF4B503}"/>
              </a:ext>
            </a:extLst>
          </p:cNvPr>
          <p:cNvSpPr txBox="1"/>
          <p:nvPr/>
        </p:nvSpPr>
        <p:spPr>
          <a:xfrm>
            <a:off x="8935376" y="2915847"/>
            <a:ext cx="31991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Converts date columns into proper datetime format and then creates new time-based features from them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Other Temporal features like Year, Month, Hour, </a:t>
            </a:r>
            <a:r>
              <a:rPr lang="en-US" sz="1600" dirty="0" err="1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etc</a:t>
            </a: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 are extracted from the Start Time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New Categorical column Daypart- Morning, Midday, Night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Easy to understand Weather descriptions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Column creation- Urban V Rural</a:t>
            </a:r>
          </a:p>
        </p:txBody>
      </p:sp>
    </p:spTree>
    <p:extLst>
      <p:ext uri="{BB962C8B-B14F-4D97-AF65-F5344CB8AC3E}">
        <p14:creationId xmlns:p14="http://schemas.microsoft.com/office/powerpoint/2010/main" val="248209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upo 349">
            <a:extLst>
              <a:ext uri="{FF2B5EF4-FFF2-40B4-BE49-F238E27FC236}">
                <a16:creationId xmlns:a16="http://schemas.microsoft.com/office/drawing/2014/main" id="{348927B2-11EF-9B43-8F14-3C6D5FC962C2}"/>
              </a:ext>
            </a:extLst>
          </p:cNvPr>
          <p:cNvGrpSpPr/>
          <p:nvPr/>
        </p:nvGrpSpPr>
        <p:grpSpPr>
          <a:xfrm>
            <a:off x="1335741" y="93868"/>
            <a:ext cx="9520518" cy="1019050"/>
            <a:chOff x="2668306" y="26972"/>
            <a:chExt cx="19041035" cy="2038098"/>
          </a:xfrm>
        </p:grpSpPr>
        <p:sp>
          <p:nvSpPr>
            <p:cNvPr id="44" name="CuadroTexto 350">
              <a:extLst>
                <a:ext uri="{FF2B5EF4-FFF2-40B4-BE49-F238E27FC236}">
                  <a16:creationId xmlns:a16="http://schemas.microsoft.com/office/drawing/2014/main" id="{EB85846B-B4DD-D346-BE0C-37F878C3F360}"/>
                </a:ext>
              </a:extLst>
            </p:cNvPr>
            <p:cNvSpPr txBox="1"/>
            <p:nvPr/>
          </p:nvSpPr>
          <p:spPr>
            <a:xfrm>
              <a:off x="5816980" y="26972"/>
              <a:ext cx="13055497" cy="1415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217"/>
              <a:r>
                <a:rPr lang="en-US" sz="4000" b="1" dirty="0">
                  <a:solidFill>
                    <a:srgbClr val="001C5E"/>
                  </a:solidFill>
                  <a:latin typeface="Poppins" pitchFamily="2" charset="77"/>
                  <a:ea typeface="Lato Heavy" charset="0"/>
                  <a:cs typeface="Poppins" pitchFamily="2" charset="77"/>
                </a:rPr>
                <a:t>Dashboard Introduction</a:t>
              </a:r>
            </a:p>
          </p:txBody>
        </p:sp>
        <p:sp>
          <p:nvSpPr>
            <p:cNvPr id="45" name="CuadroTexto 351">
              <a:extLst>
                <a:ext uri="{FF2B5EF4-FFF2-40B4-BE49-F238E27FC236}">
                  <a16:creationId xmlns:a16="http://schemas.microsoft.com/office/drawing/2014/main" id="{14CCF53B-4E8A-804A-9EAC-C1FF6A3EC7E9}"/>
                </a:ext>
              </a:extLst>
            </p:cNvPr>
            <p:cNvSpPr txBox="1"/>
            <p:nvPr/>
          </p:nvSpPr>
          <p:spPr>
            <a:xfrm>
              <a:off x="2668306" y="1326407"/>
              <a:ext cx="19041035" cy="73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17"/>
              <a:r>
                <a:rPr lang="en-US" dirty="0">
                  <a:solidFill>
                    <a:srgbClr val="7F7A7E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Tableau Dashboard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069939-B5EB-A34A-97CF-D837C2BCAB53}"/>
              </a:ext>
            </a:extLst>
          </p:cNvPr>
          <p:cNvGrpSpPr/>
          <p:nvPr/>
        </p:nvGrpSpPr>
        <p:grpSpPr>
          <a:xfrm>
            <a:off x="2795909" y="1685032"/>
            <a:ext cx="6602660" cy="3144673"/>
            <a:chOff x="5588643" y="7005855"/>
            <a:chExt cx="13205320" cy="6289346"/>
          </a:xfrm>
        </p:grpSpPr>
        <p:sp>
          <p:nvSpPr>
            <p:cNvPr id="24" name="AutoShape 18">
              <a:extLst>
                <a:ext uri="{FF2B5EF4-FFF2-40B4-BE49-F238E27FC236}">
                  <a16:creationId xmlns:a16="http://schemas.microsoft.com/office/drawing/2014/main" id="{0D89F703-8A47-1143-9C50-C43286DD597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734050" y="7793788"/>
              <a:ext cx="6914685" cy="2317036"/>
            </a:xfrm>
            <a:custGeom>
              <a:avLst/>
              <a:gdLst>
                <a:gd name="T0" fmla="*/ 10800 w 21600"/>
                <a:gd name="T1" fmla="+- 0 12261 2923"/>
                <a:gd name="T2" fmla="*/ 12261 h 18677"/>
                <a:gd name="T3" fmla="*/ 10800 w 21600"/>
                <a:gd name="T4" fmla="+- 0 12261 2923"/>
                <a:gd name="T5" fmla="*/ 12261 h 18677"/>
                <a:gd name="T6" fmla="*/ 10800 w 21600"/>
                <a:gd name="T7" fmla="+- 0 12261 2923"/>
                <a:gd name="T8" fmla="*/ 12261 h 18677"/>
                <a:gd name="T9" fmla="*/ 10800 w 21600"/>
                <a:gd name="T10" fmla="+- 0 12261 2923"/>
                <a:gd name="T11" fmla="*/ 12261 h 18677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18677">
                  <a:moveTo>
                    <a:pt x="0" y="18677"/>
                  </a:moveTo>
                  <a:cubicBezTo>
                    <a:pt x="565" y="14923"/>
                    <a:pt x="1448" y="11555"/>
                    <a:pt x="2560" y="8730"/>
                  </a:cubicBezTo>
                  <a:cubicBezTo>
                    <a:pt x="7135" y="-2897"/>
                    <a:pt x="14475" y="-2923"/>
                    <a:pt x="19040" y="8730"/>
                  </a:cubicBezTo>
                  <a:cubicBezTo>
                    <a:pt x="20185" y="11651"/>
                    <a:pt x="21048" y="15035"/>
                    <a:pt x="21600" y="18677"/>
                  </a:cubicBezTo>
                </a:path>
              </a:pathLst>
            </a:custGeom>
            <a:noFill/>
            <a:ln w="50800" cap="flat" cmpd="sng">
              <a:solidFill>
                <a:schemeClr val="tx1">
                  <a:lumMod val="20000"/>
                  <a:lumOff val="8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4888F8AA-30DF-1B43-8FFC-101C7F60CB1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963924" y="9895139"/>
              <a:ext cx="454936" cy="45491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31" name="Oval 21">
              <a:extLst>
                <a:ext uri="{FF2B5EF4-FFF2-40B4-BE49-F238E27FC236}">
                  <a16:creationId xmlns:a16="http://schemas.microsoft.com/office/drawing/2014/main" id="{8D428190-EA40-EB4B-9388-EDAB943D1FF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4144075" y="9186089"/>
              <a:ext cx="454936" cy="45491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33" name="Oval 23">
              <a:extLst>
                <a:ext uri="{FF2B5EF4-FFF2-40B4-BE49-F238E27FC236}">
                  <a16:creationId xmlns:a16="http://schemas.microsoft.com/office/drawing/2014/main" id="{9BF3F701-70DF-B34A-B6B6-D6FF0C5BC2A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783775" y="9186089"/>
              <a:ext cx="454936" cy="4549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46" name="Oval 25">
              <a:extLst>
                <a:ext uri="{FF2B5EF4-FFF2-40B4-BE49-F238E27FC236}">
                  <a16:creationId xmlns:a16="http://schemas.microsoft.com/office/drawing/2014/main" id="{592EB328-5AF0-CA46-ADFC-B3B7B022A90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437585" y="7340443"/>
              <a:ext cx="454936" cy="45491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48" name="Oval 27">
              <a:extLst>
                <a:ext uri="{FF2B5EF4-FFF2-40B4-BE49-F238E27FC236}">
                  <a16:creationId xmlns:a16="http://schemas.microsoft.com/office/drawing/2014/main" id="{176A5891-B963-8A49-B230-CE216BDCF44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5490265" y="7340443"/>
              <a:ext cx="454936" cy="45491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52" name="AutoShape 31">
              <a:extLst>
                <a:ext uri="{FF2B5EF4-FFF2-40B4-BE49-F238E27FC236}">
                  <a16:creationId xmlns:a16="http://schemas.microsoft.com/office/drawing/2014/main" id="{B5302EE2-FB89-1D47-95EE-29F03D4DA8F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999797" y="10616817"/>
              <a:ext cx="2383191" cy="2678384"/>
            </a:xfrm>
            <a:custGeom>
              <a:avLst/>
              <a:gdLst>
                <a:gd name="T0" fmla="+- 0 10800 961"/>
                <a:gd name="T1" fmla="*/ T0 w 19679"/>
                <a:gd name="T2" fmla="*/ 10800 h 21600"/>
                <a:gd name="T3" fmla="+- 0 10800 961"/>
                <a:gd name="T4" fmla="*/ T3 w 19679"/>
                <a:gd name="T5" fmla="*/ 10800 h 21600"/>
                <a:gd name="T6" fmla="+- 0 10800 961"/>
                <a:gd name="T7" fmla="*/ T6 w 19679"/>
                <a:gd name="T8" fmla="*/ 10800 h 21600"/>
                <a:gd name="T9" fmla="+- 0 10800 961"/>
                <a:gd name="T10" fmla="*/ T9 w 19679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9679" h="21600">
                  <a:moveTo>
                    <a:pt x="9839" y="0"/>
                  </a:moveTo>
                  <a:cubicBezTo>
                    <a:pt x="7321" y="0"/>
                    <a:pt x="4803" y="937"/>
                    <a:pt x="2882" y="2813"/>
                  </a:cubicBezTo>
                  <a:cubicBezTo>
                    <a:pt x="-961" y="6566"/>
                    <a:pt x="-961" y="12653"/>
                    <a:pt x="2882" y="16406"/>
                  </a:cubicBezTo>
                  <a:cubicBezTo>
                    <a:pt x="4480" y="17967"/>
                    <a:pt x="6493" y="18867"/>
                    <a:pt x="8574" y="19129"/>
                  </a:cubicBezTo>
                  <a:lnTo>
                    <a:pt x="9839" y="21600"/>
                  </a:lnTo>
                  <a:lnTo>
                    <a:pt x="11104" y="19129"/>
                  </a:lnTo>
                  <a:cubicBezTo>
                    <a:pt x="13185" y="18867"/>
                    <a:pt x="15198" y="17967"/>
                    <a:pt x="16796" y="16406"/>
                  </a:cubicBezTo>
                  <a:cubicBezTo>
                    <a:pt x="20639" y="12653"/>
                    <a:pt x="20639" y="6566"/>
                    <a:pt x="16796" y="2813"/>
                  </a:cubicBezTo>
                  <a:cubicBezTo>
                    <a:pt x="14875" y="937"/>
                    <a:pt x="12357" y="0"/>
                    <a:pt x="9839" y="0"/>
                  </a:cubicBezTo>
                  <a:close/>
                  <a:moveTo>
                    <a:pt x="9839" y="2266"/>
                  </a:moveTo>
                  <a:cubicBezTo>
                    <a:pt x="11763" y="2266"/>
                    <a:pt x="13686" y="2983"/>
                    <a:pt x="15154" y="4417"/>
                  </a:cubicBezTo>
                  <a:cubicBezTo>
                    <a:pt x="18090" y="7284"/>
                    <a:pt x="18090" y="11935"/>
                    <a:pt x="15154" y="14802"/>
                  </a:cubicBezTo>
                  <a:cubicBezTo>
                    <a:pt x="12218" y="17670"/>
                    <a:pt x="7460" y="17670"/>
                    <a:pt x="4524" y="14802"/>
                  </a:cubicBezTo>
                  <a:cubicBezTo>
                    <a:pt x="1588" y="11935"/>
                    <a:pt x="1588" y="7284"/>
                    <a:pt x="4524" y="4417"/>
                  </a:cubicBezTo>
                  <a:cubicBezTo>
                    <a:pt x="5992" y="2983"/>
                    <a:pt x="7915" y="2266"/>
                    <a:pt x="9839" y="226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53" name="AutoShape 32">
              <a:extLst>
                <a:ext uri="{FF2B5EF4-FFF2-40B4-BE49-F238E27FC236}">
                  <a16:creationId xmlns:a16="http://schemas.microsoft.com/office/drawing/2014/main" id="{8B4B943F-8A2C-1849-BC58-9BD6DFB3235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667385" y="9824691"/>
              <a:ext cx="2383741" cy="2406710"/>
            </a:xfrm>
            <a:custGeom>
              <a:avLst/>
              <a:gdLst>
                <a:gd name="T0" fmla="+- 0 10800 792"/>
                <a:gd name="T1" fmla="*/ T0 w 20016"/>
                <a:gd name="T2" fmla="+- 0 10781 17"/>
                <a:gd name="T3" fmla="*/ 10781 h 21529"/>
                <a:gd name="T4" fmla="+- 0 10800 792"/>
                <a:gd name="T5" fmla="*/ T4 w 20016"/>
                <a:gd name="T6" fmla="+- 0 10781 17"/>
                <a:gd name="T7" fmla="*/ 10781 h 21529"/>
                <a:gd name="T8" fmla="+- 0 10800 792"/>
                <a:gd name="T9" fmla="*/ T8 w 20016"/>
                <a:gd name="T10" fmla="+- 0 10781 17"/>
                <a:gd name="T11" fmla="*/ 10781 h 21529"/>
                <a:gd name="T12" fmla="+- 0 10800 792"/>
                <a:gd name="T13" fmla="*/ T12 w 20016"/>
                <a:gd name="T14" fmla="+- 0 10781 17"/>
                <a:gd name="T15" fmla="*/ 10781 h 2152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0016" h="21529">
                  <a:moveTo>
                    <a:pt x="10331" y="5"/>
                  </a:moveTo>
                  <a:cubicBezTo>
                    <a:pt x="9667" y="-17"/>
                    <a:pt x="8989" y="33"/>
                    <a:pt x="8308" y="158"/>
                  </a:cubicBezTo>
                  <a:cubicBezTo>
                    <a:pt x="2862" y="1158"/>
                    <a:pt x="-792" y="6675"/>
                    <a:pt x="147" y="12476"/>
                  </a:cubicBezTo>
                  <a:cubicBezTo>
                    <a:pt x="538" y="14890"/>
                    <a:pt x="1668" y="16959"/>
                    <a:pt x="3240" y="18497"/>
                  </a:cubicBezTo>
                  <a:lnTo>
                    <a:pt x="2807" y="21529"/>
                  </a:lnTo>
                  <a:lnTo>
                    <a:pt x="5343" y="20080"/>
                  </a:lnTo>
                  <a:cubicBezTo>
                    <a:pt x="7229" y="21143"/>
                    <a:pt x="9442" y="21583"/>
                    <a:pt x="11708" y="21167"/>
                  </a:cubicBezTo>
                  <a:cubicBezTo>
                    <a:pt x="17154" y="20166"/>
                    <a:pt x="20808" y="14650"/>
                    <a:pt x="19869" y="8848"/>
                  </a:cubicBezTo>
                  <a:cubicBezTo>
                    <a:pt x="19399" y="5947"/>
                    <a:pt x="17869" y="3527"/>
                    <a:pt x="15777" y="1954"/>
                  </a:cubicBezTo>
                  <a:cubicBezTo>
                    <a:pt x="14207" y="774"/>
                    <a:pt x="12325" y="71"/>
                    <a:pt x="10331" y="5"/>
                  </a:cubicBezTo>
                  <a:close/>
                  <a:moveTo>
                    <a:pt x="10255" y="2519"/>
                  </a:moveTo>
                  <a:cubicBezTo>
                    <a:pt x="13809" y="2636"/>
                    <a:pt x="16915" y="5399"/>
                    <a:pt x="17543" y="9278"/>
                  </a:cubicBezTo>
                  <a:cubicBezTo>
                    <a:pt x="18260" y="13710"/>
                    <a:pt x="15469" y="17924"/>
                    <a:pt x="11308" y="18689"/>
                  </a:cubicBezTo>
                  <a:cubicBezTo>
                    <a:pt x="7147" y="19453"/>
                    <a:pt x="3191" y="16479"/>
                    <a:pt x="2473" y="12047"/>
                  </a:cubicBezTo>
                  <a:cubicBezTo>
                    <a:pt x="1756" y="7614"/>
                    <a:pt x="4547" y="3400"/>
                    <a:pt x="8708" y="2636"/>
                  </a:cubicBezTo>
                  <a:cubicBezTo>
                    <a:pt x="9228" y="2540"/>
                    <a:pt x="9747" y="2502"/>
                    <a:pt x="10255" y="25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54" name="AutoShape 33">
              <a:extLst>
                <a:ext uri="{FF2B5EF4-FFF2-40B4-BE49-F238E27FC236}">
                  <a16:creationId xmlns:a16="http://schemas.microsoft.com/office/drawing/2014/main" id="{9FE9D09F-346A-164A-86AA-0F02B0D0236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4352144" y="9820622"/>
              <a:ext cx="2383642" cy="2383412"/>
            </a:xfrm>
            <a:custGeom>
              <a:avLst/>
              <a:gdLst>
                <a:gd name="T0" fmla="+- 0 10800 687"/>
                <a:gd name="T1" fmla="*/ T0 w 20226"/>
                <a:gd name="T2" fmla="+- 0 10727 93"/>
                <a:gd name="T3" fmla="*/ 10727 h 21268"/>
                <a:gd name="T4" fmla="+- 0 10800 687"/>
                <a:gd name="T5" fmla="*/ T4 w 20226"/>
                <a:gd name="T6" fmla="+- 0 10727 93"/>
                <a:gd name="T7" fmla="*/ 10727 h 21268"/>
                <a:gd name="T8" fmla="+- 0 10800 687"/>
                <a:gd name="T9" fmla="*/ T8 w 20226"/>
                <a:gd name="T10" fmla="+- 0 10727 93"/>
                <a:gd name="T11" fmla="*/ 10727 h 21268"/>
                <a:gd name="T12" fmla="+- 0 10800 687"/>
                <a:gd name="T13" fmla="*/ T12 w 20226"/>
                <a:gd name="T14" fmla="+- 0 10727 93"/>
                <a:gd name="T15" fmla="*/ 10727 h 2126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0226" h="21268">
                  <a:moveTo>
                    <a:pt x="10512" y="9"/>
                  </a:moveTo>
                  <a:cubicBezTo>
                    <a:pt x="8123" y="-93"/>
                    <a:pt x="5858" y="702"/>
                    <a:pt x="4046" y="2130"/>
                  </a:cubicBezTo>
                  <a:cubicBezTo>
                    <a:pt x="1976" y="3763"/>
                    <a:pt x="497" y="6225"/>
                    <a:pt x="103" y="9132"/>
                  </a:cubicBezTo>
                  <a:cubicBezTo>
                    <a:pt x="-687" y="14945"/>
                    <a:pt x="3158" y="20331"/>
                    <a:pt x="8687" y="21162"/>
                  </a:cubicBezTo>
                  <a:cubicBezTo>
                    <a:pt x="10987" y="21507"/>
                    <a:pt x="13209" y="21001"/>
                    <a:pt x="15085" y="19883"/>
                  </a:cubicBezTo>
                  <a:lnTo>
                    <a:pt x="17685" y="21250"/>
                  </a:lnTo>
                  <a:lnTo>
                    <a:pt x="17163" y="18244"/>
                  </a:lnTo>
                  <a:cubicBezTo>
                    <a:pt x="18709" y="16662"/>
                    <a:pt x="19795" y="14560"/>
                    <a:pt x="20123" y="12142"/>
                  </a:cubicBezTo>
                  <a:cubicBezTo>
                    <a:pt x="20913" y="6328"/>
                    <a:pt x="17071" y="939"/>
                    <a:pt x="11543" y="108"/>
                  </a:cubicBezTo>
                  <a:cubicBezTo>
                    <a:pt x="11197" y="56"/>
                    <a:pt x="10853" y="24"/>
                    <a:pt x="10512" y="9"/>
                  </a:cubicBezTo>
                  <a:close/>
                  <a:moveTo>
                    <a:pt x="10418" y="2516"/>
                  </a:moveTo>
                  <a:cubicBezTo>
                    <a:pt x="10679" y="2527"/>
                    <a:pt x="10942" y="2555"/>
                    <a:pt x="11206" y="2594"/>
                  </a:cubicBezTo>
                  <a:cubicBezTo>
                    <a:pt x="15430" y="3229"/>
                    <a:pt x="18366" y="7342"/>
                    <a:pt x="17763" y="11784"/>
                  </a:cubicBezTo>
                  <a:cubicBezTo>
                    <a:pt x="17159" y="16226"/>
                    <a:pt x="13244" y="19313"/>
                    <a:pt x="9020" y="18679"/>
                  </a:cubicBezTo>
                  <a:cubicBezTo>
                    <a:pt x="4796" y="18045"/>
                    <a:pt x="1863" y="13928"/>
                    <a:pt x="2467" y="9486"/>
                  </a:cubicBezTo>
                  <a:cubicBezTo>
                    <a:pt x="3032" y="5321"/>
                    <a:pt x="6505" y="2349"/>
                    <a:pt x="10418" y="25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55" name="AutoShape 34">
              <a:extLst>
                <a:ext uri="{FF2B5EF4-FFF2-40B4-BE49-F238E27FC236}">
                  <a16:creationId xmlns:a16="http://schemas.microsoft.com/office/drawing/2014/main" id="{BEAB2B84-5E46-A94E-9A87-2635C609E1F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191466" y="7005855"/>
              <a:ext cx="2602497" cy="2383801"/>
            </a:xfrm>
            <a:custGeom>
              <a:avLst/>
              <a:gdLst>
                <a:gd name="T0" fmla="+- 0 10943 286"/>
                <a:gd name="T1" fmla="*/ T0 w 21314"/>
                <a:gd name="T2" fmla="+- 0 10114 50"/>
                <a:gd name="T3" fmla="*/ 10114 h 20129"/>
                <a:gd name="T4" fmla="+- 0 10943 286"/>
                <a:gd name="T5" fmla="*/ T4 w 21314"/>
                <a:gd name="T6" fmla="+- 0 10114 50"/>
                <a:gd name="T7" fmla="*/ 10114 h 20129"/>
                <a:gd name="T8" fmla="+- 0 10943 286"/>
                <a:gd name="T9" fmla="*/ T8 w 21314"/>
                <a:gd name="T10" fmla="+- 0 10114 50"/>
                <a:gd name="T11" fmla="*/ 10114 h 20129"/>
                <a:gd name="T12" fmla="+- 0 10943 286"/>
                <a:gd name="T13" fmla="*/ T12 w 21314"/>
                <a:gd name="T14" fmla="+- 0 10114 50"/>
                <a:gd name="T15" fmla="*/ 10114 h 2012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314" h="20129">
                  <a:moveTo>
                    <a:pt x="10091" y="6"/>
                  </a:moveTo>
                  <a:cubicBezTo>
                    <a:pt x="8517" y="-50"/>
                    <a:pt x="6911" y="286"/>
                    <a:pt x="5404" y="1062"/>
                  </a:cubicBezTo>
                  <a:cubicBezTo>
                    <a:pt x="2992" y="2303"/>
                    <a:pt x="1297" y="4433"/>
                    <a:pt x="505" y="6876"/>
                  </a:cubicBezTo>
                  <a:cubicBezTo>
                    <a:pt x="-286" y="9319"/>
                    <a:pt x="-175" y="12074"/>
                    <a:pt x="1029" y="14560"/>
                  </a:cubicBezTo>
                  <a:cubicBezTo>
                    <a:pt x="3436" y="19532"/>
                    <a:pt x="9302" y="21550"/>
                    <a:pt x="14124" y="19068"/>
                  </a:cubicBezTo>
                  <a:cubicBezTo>
                    <a:pt x="16130" y="18035"/>
                    <a:pt x="17628" y="16381"/>
                    <a:pt x="18535" y="14450"/>
                  </a:cubicBezTo>
                  <a:lnTo>
                    <a:pt x="21314" y="14041"/>
                  </a:lnTo>
                  <a:lnTo>
                    <a:pt x="19331" y="11997"/>
                  </a:lnTo>
                  <a:cubicBezTo>
                    <a:pt x="19733" y="9891"/>
                    <a:pt x="19498" y="7641"/>
                    <a:pt x="18496" y="5572"/>
                  </a:cubicBezTo>
                  <a:cubicBezTo>
                    <a:pt x="16841" y="2154"/>
                    <a:pt x="13551" y="130"/>
                    <a:pt x="10091" y="6"/>
                  </a:cubicBezTo>
                  <a:close/>
                  <a:moveTo>
                    <a:pt x="10013" y="2379"/>
                  </a:moveTo>
                  <a:cubicBezTo>
                    <a:pt x="12656" y="2473"/>
                    <a:pt x="15171" y="4020"/>
                    <a:pt x="16435" y="6631"/>
                  </a:cubicBezTo>
                  <a:cubicBezTo>
                    <a:pt x="18275" y="10430"/>
                    <a:pt x="16778" y="15046"/>
                    <a:pt x="13094" y="16943"/>
                  </a:cubicBezTo>
                  <a:cubicBezTo>
                    <a:pt x="9409" y="18840"/>
                    <a:pt x="4929" y="17297"/>
                    <a:pt x="3089" y="13498"/>
                  </a:cubicBezTo>
                  <a:cubicBezTo>
                    <a:pt x="1250" y="9699"/>
                    <a:pt x="2746" y="5083"/>
                    <a:pt x="6431" y="3186"/>
                  </a:cubicBezTo>
                  <a:cubicBezTo>
                    <a:pt x="7582" y="2594"/>
                    <a:pt x="8811" y="2336"/>
                    <a:pt x="10013" y="237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56" name="AutoShape 35">
              <a:extLst>
                <a:ext uri="{FF2B5EF4-FFF2-40B4-BE49-F238E27FC236}">
                  <a16:creationId xmlns:a16="http://schemas.microsoft.com/office/drawing/2014/main" id="{A3B5FFAE-DD3A-5744-B847-E5BC54BF08C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588643" y="7006101"/>
              <a:ext cx="2604661" cy="2383768"/>
            </a:xfrm>
            <a:custGeom>
              <a:avLst/>
              <a:gdLst>
                <a:gd name="T0" fmla="*/ 10655 w 21311"/>
                <a:gd name="T1" fmla="+- 0 10110 44"/>
                <a:gd name="T2" fmla="*/ 10110 h 20133"/>
                <a:gd name="T3" fmla="*/ 10655 w 21311"/>
                <a:gd name="T4" fmla="+- 0 10110 44"/>
                <a:gd name="T5" fmla="*/ 10110 h 20133"/>
                <a:gd name="T6" fmla="*/ 10655 w 21311"/>
                <a:gd name="T7" fmla="+- 0 10110 44"/>
                <a:gd name="T8" fmla="*/ 10110 h 20133"/>
                <a:gd name="T9" fmla="*/ 10655 w 21311"/>
                <a:gd name="T10" fmla="+- 0 10110 44"/>
                <a:gd name="T11" fmla="*/ 10110 h 201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311" h="20133">
                  <a:moveTo>
                    <a:pt x="11277" y="4"/>
                  </a:moveTo>
                  <a:cubicBezTo>
                    <a:pt x="7820" y="111"/>
                    <a:pt x="4524" y="2117"/>
                    <a:pt x="2854" y="5528"/>
                  </a:cubicBezTo>
                  <a:cubicBezTo>
                    <a:pt x="1844" y="7592"/>
                    <a:pt x="1599" y="9842"/>
                    <a:pt x="1991" y="11950"/>
                  </a:cubicBezTo>
                  <a:lnTo>
                    <a:pt x="0" y="13988"/>
                  </a:lnTo>
                  <a:lnTo>
                    <a:pt x="2773" y="14410"/>
                  </a:lnTo>
                  <a:cubicBezTo>
                    <a:pt x="3670" y="16347"/>
                    <a:pt x="5161" y="18007"/>
                    <a:pt x="7160" y="19049"/>
                  </a:cubicBezTo>
                  <a:cubicBezTo>
                    <a:pt x="11966" y="21556"/>
                    <a:pt x="17834" y="19566"/>
                    <a:pt x="20262" y="14605"/>
                  </a:cubicBezTo>
                  <a:cubicBezTo>
                    <a:pt x="21477" y="12124"/>
                    <a:pt x="21600" y="9373"/>
                    <a:pt x="20821" y="6926"/>
                  </a:cubicBezTo>
                  <a:cubicBezTo>
                    <a:pt x="20042" y="4479"/>
                    <a:pt x="18360" y="2337"/>
                    <a:pt x="15957" y="1084"/>
                  </a:cubicBezTo>
                  <a:cubicBezTo>
                    <a:pt x="14455" y="300"/>
                    <a:pt x="12849" y="-44"/>
                    <a:pt x="11277" y="4"/>
                  </a:cubicBezTo>
                  <a:close/>
                  <a:moveTo>
                    <a:pt x="11342" y="2381"/>
                  </a:moveTo>
                  <a:cubicBezTo>
                    <a:pt x="12543" y="2344"/>
                    <a:pt x="13770" y="2607"/>
                    <a:pt x="14917" y="3205"/>
                  </a:cubicBezTo>
                  <a:cubicBezTo>
                    <a:pt x="18590" y="5121"/>
                    <a:pt x="20062" y="9745"/>
                    <a:pt x="18207" y="13536"/>
                  </a:cubicBezTo>
                  <a:cubicBezTo>
                    <a:pt x="16352" y="17326"/>
                    <a:pt x="11871" y="18846"/>
                    <a:pt x="8199" y="16931"/>
                  </a:cubicBezTo>
                  <a:cubicBezTo>
                    <a:pt x="4527" y="15016"/>
                    <a:pt x="3054" y="10391"/>
                    <a:pt x="4910" y="6601"/>
                  </a:cubicBezTo>
                  <a:cubicBezTo>
                    <a:pt x="6185" y="3995"/>
                    <a:pt x="8701" y="2462"/>
                    <a:pt x="11342" y="2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/>
            <a:lstStyle/>
            <a:p>
              <a:pPr defTabSz="914217"/>
              <a:endParaRPr lang="en-US" altLang="en-US" sz="1600" dirty="0">
                <a:solidFill>
                  <a:srgbClr val="FFFFFF"/>
                </a:solidFill>
                <a:latin typeface="Poppins" pitchFamily="2" charset="77"/>
                <a:ea typeface="Helvetica Light" panose="020B0403020202020204" pitchFamily="34" charset="0"/>
                <a:cs typeface="Poppins" pitchFamily="2" charset="77"/>
                <a:sym typeface="Helvetica Light" panose="020B0403020202020204" pitchFamily="34" charset="0"/>
              </a:endParaRPr>
            </a:p>
          </p:txBody>
        </p:sp>
        <p:sp>
          <p:nvSpPr>
            <p:cNvPr id="57" name="Text Box 36">
              <a:extLst>
                <a:ext uri="{FF2B5EF4-FFF2-40B4-BE49-F238E27FC236}">
                  <a16:creationId xmlns:a16="http://schemas.microsoft.com/office/drawing/2014/main" id="{41BC0292-0AFF-2B4A-A63C-243C66E742C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487933" y="7730965"/>
              <a:ext cx="2210960" cy="933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>
              <a:spAutoFit/>
            </a:bodyPr>
            <a:lstStyle/>
            <a:p>
              <a:pPr algn="ctr" defTabSz="914217"/>
              <a:r>
                <a:rPr lang="en-US" altLang="en-US" sz="2700" dirty="0">
                  <a:solidFill>
                    <a:srgbClr val="F8E146"/>
                  </a:solidFill>
                  <a:latin typeface="Poppins" pitchFamily="2" charset="77"/>
                  <a:ea typeface="Roboto Medium" panose="02000000000000000000" pitchFamily="2" charset="0"/>
                  <a:cs typeface="Arial" panose="020B0604020202020204" pitchFamily="34" charset="0"/>
                  <a:sym typeface="Arial" panose="020B0604020202020204" pitchFamily="34" charset="0"/>
                </a:rPr>
                <a:t>5</a:t>
              </a:r>
            </a:p>
          </p:txBody>
        </p:sp>
        <p:sp>
          <p:nvSpPr>
            <p:cNvPr id="58" name="Text Box 37">
              <a:extLst>
                <a:ext uri="{FF2B5EF4-FFF2-40B4-BE49-F238E27FC236}">
                  <a16:creationId xmlns:a16="http://schemas.microsoft.com/office/drawing/2014/main" id="{3132DD02-BB7A-EA4F-B856-D13BD86F62B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696593" y="7739431"/>
              <a:ext cx="2210960" cy="933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>
              <a:spAutoFit/>
            </a:bodyPr>
            <a:lstStyle/>
            <a:p>
              <a:pPr algn="ctr" defTabSz="914217"/>
              <a:r>
                <a:rPr lang="en-US" altLang="en-US" sz="2700" dirty="0">
                  <a:solidFill>
                    <a:srgbClr val="16ABBA"/>
                  </a:solidFill>
                  <a:latin typeface="Poppins" pitchFamily="2" charset="77"/>
                  <a:ea typeface="Roboto Medium" panose="02000000000000000000" pitchFamily="2" charset="0"/>
                  <a:cs typeface="Arial" panose="020B0604020202020204" pitchFamily="34" charset="0"/>
                  <a:sym typeface="Arial" panose="020B0604020202020204" pitchFamily="34" charset="0"/>
                </a:rPr>
                <a:t>1</a:t>
              </a:r>
            </a:p>
          </p:txBody>
        </p:sp>
        <p:sp>
          <p:nvSpPr>
            <p:cNvPr id="59" name="Text Box 38">
              <a:extLst>
                <a:ext uri="{FF2B5EF4-FFF2-40B4-BE49-F238E27FC236}">
                  <a16:creationId xmlns:a16="http://schemas.microsoft.com/office/drawing/2014/main" id="{8D5324FE-C295-8B40-BF29-B0C9D9586F6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753777" y="10561255"/>
              <a:ext cx="2210960" cy="933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>
              <a:spAutoFit/>
            </a:bodyPr>
            <a:lstStyle/>
            <a:p>
              <a:pPr algn="ctr" defTabSz="914217"/>
              <a:r>
                <a:rPr lang="en-US" altLang="en-US" sz="2700" dirty="0">
                  <a:solidFill>
                    <a:srgbClr val="F76466"/>
                  </a:solidFill>
                  <a:latin typeface="Poppins" pitchFamily="2" charset="77"/>
                  <a:ea typeface="Roboto Medium" panose="02000000000000000000" pitchFamily="2" charset="0"/>
                  <a:cs typeface="Arial" panose="020B0604020202020204" pitchFamily="34" charset="0"/>
                  <a:sym typeface="Arial" panose="020B0604020202020204" pitchFamily="34" charset="0"/>
                </a:rPr>
                <a:t>2</a:t>
              </a:r>
            </a:p>
          </p:txBody>
        </p:sp>
        <p:sp>
          <p:nvSpPr>
            <p:cNvPr id="60" name="Text Box 39">
              <a:extLst>
                <a:ext uri="{FF2B5EF4-FFF2-40B4-BE49-F238E27FC236}">
                  <a16:creationId xmlns:a16="http://schemas.microsoft.com/office/drawing/2014/main" id="{DCD0B10E-1243-2844-982C-898E553A4A6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4425787" y="10545535"/>
              <a:ext cx="2210958" cy="933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>
              <a:spAutoFit/>
            </a:bodyPr>
            <a:lstStyle/>
            <a:p>
              <a:pPr algn="ctr" defTabSz="914217"/>
              <a:r>
                <a:rPr lang="en-US" altLang="en-US" sz="2700" dirty="0">
                  <a:solidFill>
                    <a:srgbClr val="FFAB69"/>
                  </a:solidFill>
                  <a:latin typeface="Poppins" pitchFamily="2" charset="77"/>
                  <a:ea typeface="Roboto Medium" panose="02000000000000000000" pitchFamily="2" charset="0"/>
                  <a:cs typeface="Arial" panose="020B0604020202020204" pitchFamily="34" charset="0"/>
                  <a:sym typeface="Arial" panose="020B0604020202020204" pitchFamily="34" charset="0"/>
                </a:rPr>
                <a:t>4</a:t>
              </a:r>
            </a:p>
          </p:txBody>
        </p:sp>
        <p:sp>
          <p:nvSpPr>
            <p:cNvPr id="61" name="Text Box 40">
              <a:extLst>
                <a:ext uri="{FF2B5EF4-FFF2-40B4-BE49-F238E27FC236}">
                  <a16:creationId xmlns:a16="http://schemas.microsoft.com/office/drawing/2014/main" id="{0A66EFAC-71B3-AF41-AB81-027177D7166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1098621" y="11654309"/>
              <a:ext cx="2210960" cy="933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25400" tIns="25400" rIns="25400" bIns="25400" anchor="ctr">
              <a:spAutoFit/>
            </a:bodyPr>
            <a:lstStyle/>
            <a:p>
              <a:pPr algn="ctr" defTabSz="914217"/>
              <a:r>
                <a:rPr lang="en-US" altLang="en-US" sz="2700" dirty="0">
                  <a:solidFill>
                    <a:srgbClr val="FEA998"/>
                  </a:solidFill>
                  <a:latin typeface="Poppins" pitchFamily="2" charset="77"/>
                  <a:ea typeface="Roboto Medium" panose="02000000000000000000" pitchFamily="2" charset="0"/>
                  <a:cs typeface="Arial" panose="020B0604020202020204" pitchFamily="34" charset="0"/>
                  <a:sym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A707BB8-87FE-654A-B483-5E5AA21890EF}"/>
              </a:ext>
            </a:extLst>
          </p:cNvPr>
          <p:cNvGrpSpPr/>
          <p:nvPr/>
        </p:nvGrpSpPr>
        <p:grpSpPr>
          <a:xfrm>
            <a:off x="9396092" y="1756951"/>
            <a:ext cx="2653656" cy="901306"/>
            <a:chOff x="10285375" y="8565841"/>
            <a:chExt cx="5307311" cy="133064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01A1825-04CF-AE43-96AB-3FA10FEB303A}"/>
                </a:ext>
              </a:extLst>
            </p:cNvPr>
            <p:cNvSpPr txBox="1"/>
            <p:nvPr/>
          </p:nvSpPr>
          <p:spPr>
            <a:xfrm>
              <a:off x="10285375" y="9214908"/>
              <a:ext cx="4689341" cy="681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217"/>
              <a:r>
                <a:rPr lang="en-US" sz="1200" dirty="0">
                  <a:solidFill>
                    <a:srgbClr val="7F7A7E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Recommendations based on Analysis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11FE2D9-9460-7849-98F4-376F76565D0D}"/>
                </a:ext>
              </a:extLst>
            </p:cNvPr>
            <p:cNvSpPr/>
            <p:nvPr/>
          </p:nvSpPr>
          <p:spPr>
            <a:xfrm>
              <a:off x="10285375" y="8565841"/>
              <a:ext cx="5307311" cy="5452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/>
              <a:r>
                <a:rPr lang="en-US" dirty="0">
                  <a:solidFill>
                    <a:srgbClr val="001C5E"/>
                  </a:solidFill>
                  <a:latin typeface="Poppins" pitchFamily="2" charset="77"/>
                  <a:ea typeface="Roboto Medium" panose="02000000000000000000" pitchFamily="2" charset="0"/>
                  <a:cs typeface="Poppins" pitchFamily="2" charset="77"/>
                </a:rPr>
                <a:t>Overall Takeaways</a:t>
              </a:r>
              <a:endParaRPr lang="en-US" sz="2700" dirty="0">
                <a:solidFill>
                  <a:srgbClr val="001C5E"/>
                </a:solidFill>
                <a:latin typeface="Poppins" pitchFamily="2" charset="77"/>
                <a:ea typeface="Roboto Medium" panose="02000000000000000000" pitchFamily="2" charset="0"/>
                <a:cs typeface="Poppins" pitchFamily="2" charset="77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9BDD830-1F72-7648-9DE1-6CE49EC20A59}"/>
              </a:ext>
            </a:extLst>
          </p:cNvPr>
          <p:cNvGrpSpPr/>
          <p:nvPr/>
        </p:nvGrpSpPr>
        <p:grpSpPr>
          <a:xfrm flipH="1">
            <a:off x="326620" y="1733335"/>
            <a:ext cx="2354076" cy="679807"/>
            <a:chOff x="10219335" y="6953856"/>
            <a:chExt cx="4708151" cy="1359612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4CB6BE2-9FF2-1E47-AEF8-B0BD0A373063}"/>
                </a:ext>
              </a:extLst>
            </p:cNvPr>
            <p:cNvSpPr txBox="1"/>
            <p:nvPr/>
          </p:nvSpPr>
          <p:spPr>
            <a:xfrm>
              <a:off x="10233191" y="7759471"/>
              <a:ext cx="4694295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217"/>
              <a:r>
                <a:rPr lang="en-US" sz="1200" dirty="0">
                  <a:solidFill>
                    <a:srgbClr val="7F7A7E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Navigable Me.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B2C0A4A-88EE-2447-A0A4-53B3C84ACFC9}"/>
                </a:ext>
              </a:extLst>
            </p:cNvPr>
            <p:cNvSpPr/>
            <p:nvPr/>
          </p:nvSpPr>
          <p:spPr>
            <a:xfrm>
              <a:off x="10219335" y="6953856"/>
              <a:ext cx="2981025" cy="738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17"/>
              <a:r>
                <a:rPr lang="en-US" dirty="0">
                  <a:solidFill>
                    <a:srgbClr val="001C5E"/>
                  </a:solidFill>
                  <a:latin typeface="Poppins" pitchFamily="2" charset="77"/>
                  <a:ea typeface="Roboto Medium" panose="02000000000000000000" pitchFamily="2" charset="0"/>
                  <a:cs typeface="Poppins" pitchFamily="2" charset="77"/>
                </a:rPr>
                <a:t>Main Page</a:t>
              </a:r>
              <a:endParaRPr lang="en-US" sz="2700" dirty="0">
                <a:solidFill>
                  <a:srgbClr val="001C5E"/>
                </a:solidFill>
                <a:latin typeface="Poppins" pitchFamily="2" charset="77"/>
                <a:ea typeface="Roboto Medium" panose="02000000000000000000" pitchFamily="2" charset="0"/>
                <a:cs typeface="Poppins" pitchFamily="2" charset="77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58F6A16-5B6E-9D4D-B69D-E5DA1ACA07B0}"/>
              </a:ext>
            </a:extLst>
          </p:cNvPr>
          <p:cNvGrpSpPr/>
          <p:nvPr/>
        </p:nvGrpSpPr>
        <p:grpSpPr>
          <a:xfrm>
            <a:off x="8459181" y="3213616"/>
            <a:ext cx="3490630" cy="853517"/>
            <a:chOff x="10238069" y="10953557"/>
            <a:chExt cx="6981259" cy="1707032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38C1165-4EB2-0747-955B-5833AB3A1A90}"/>
                </a:ext>
              </a:extLst>
            </p:cNvPr>
            <p:cNvSpPr txBox="1"/>
            <p:nvPr/>
          </p:nvSpPr>
          <p:spPr>
            <a:xfrm>
              <a:off x="10285375" y="12106592"/>
              <a:ext cx="468934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217"/>
              <a:r>
                <a:rPr lang="en-US" sz="1200" dirty="0">
                  <a:solidFill>
                    <a:srgbClr val="7F7A7E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Interactive Dashboard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2C3178A-2469-1143-ADD9-C3124E5F9B23}"/>
                </a:ext>
              </a:extLst>
            </p:cNvPr>
            <p:cNvSpPr/>
            <p:nvPr/>
          </p:nvSpPr>
          <p:spPr>
            <a:xfrm>
              <a:off x="10238069" y="10953557"/>
              <a:ext cx="6981259" cy="1292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217"/>
              <a:r>
                <a:rPr lang="en-US" dirty="0">
                  <a:solidFill>
                    <a:srgbClr val="001C5E"/>
                  </a:solidFill>
                  <a:latin typeface="Poppins" pitchFamily="2" charset="77"/>
                  <a:ea typeface="Roboto Medium" panose="02000000000000000000" pitchFamily="2" charset="0"/>
                  <a:cs typeface="Poppins" pitchFamily="2" charset="77"/>
                </a:rPr>
                <a:t>Accident Based on Weather conditions, 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E06B2FB-0497-3540-A0AD-59A2E2930EA4}"/>
              </a:ext>
            </a:extLst>
          </p:cNvPr>
          <p:cNvGrpSpPr/>
          <p:nvPr/>
        </p:nvGrpSpPr>
        <p:grpSpPr>
          <a:xfrm flipH="1">
            <a:off x="1348317" y="3274858"/>
            <a:ext cx="2344671" cy="786199"/>
            <a:chOff x="10285375" y="8565841"/>
            <a:chExt cx="4689341" cy="1572395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480E17-1AD4-2545-A843-F3682F8A1E47}"/>
                </a:ext>
              </a:extLst>
            </p:cNvPr>
            <p:cNvSpPr txBox="1"/>
            <p:nvPr/>
          </p:nvSpPr>
          <p:spPr>
            <a:xfrm>
              <a:off x="10285375" y="9214908"/>
              <a:ext cx="4689341" cy="923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217"/>
              <a:r>
                <a:rPr lang="en-US" sz="1200" dirty="0">
                  <a:solidFill>
                    <a:srgbClr val="7F7A7E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Overall Geographic Interactive Map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E886FD2-7F20-2840-AC0F-83E7D8B62128}"/>
                </a:ext>
              </a:extLst>
            </p:cNvPr>
            <p:cNvSpPr/>
            <p:nvPr/>
          </p:nvSpPr>
          <p:spPr>
            <a:xfrm>
              <a:off x="10285375" y="8565841"/>
              <a:ext cx="2981025" cy="738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914217"/>
              <a:r>
                <a:rPr lang="en-US" dirty="0">
                  <a:solidFill>
                    <a:srgbClr val="001C5E"/>
                  </a:solidFill>
                  <a:latin typeface="Poppins" pitchFamily="2" charset="77"/>
                  <a:ea typeface="Roboto Medium" panose="02000000000000000000" pitchFamily="2" charset="0"/>
                  <a:cs typeface="Poppins" pitchFamily="2" charset="77"/>
                </a:rPr>
                <a:t>Map</a:t>
              </a:r>
              <a:endParaRPr lang="en-US" sz="2700" dirty="0">
                <a:solidFill>
                  <a:srgbClr val="001C5E"/>
                </a:solidFill>
                <a:latin typeface="Poppins" pitchFamily="2" charset="77"/>
                <a:ea typeface="Roboto Medium" panose="02000000000000000000" pitchFamily="2" charset="0"/>
                <a:cs typeface="Poppins" pitchFamily="2" charset="77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B8C5830-95D2-ED4B-ACB1-D1D5E6D95C1C}"/>
              </a:ext>
            </a:extLst>
          </p:cNvPr>
          <p:cNvGrpSpPr/>
          <p:nvPr/>
        </p:nvGrpSpPr>
        <p:grpSpPr>
          <a:xfrm>
            <a:off x="4098240" y="4942456"/>
            <a:ext cx="3648480" cy="830508"/>
            <a:chOff x="8619251" y="8565841"/>
            <a:chExt cx="7296959" cy="1661013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1FBD005-7E28-0C43-B173-7E2010DF5180}"/>
                </a:ext>
              </a:extLst>
            </p:cNvPr>
            <p:cNvSpPr txBox="1"/>
            <p:nvPr/>
          </p:nvSpPr>
          <p:spPr>
            <a:xfrm>
              <a:off x="9289169" y="9672857"/>
              <a:ext cx="623608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17"/>
              <a:r>
                <a:rPr lang="en-US" sz="1200" dirty="0">
                  <a:solidFill>
                    <a:srgbClr val="7F7A7E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Interactive Dashboard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DAE2EE1-3208-9A4D-B7D6-251A7A2E4545}"/>
                </a:ext>
              </a:extLst>
            </p:cNvPr>
            <p:cNvSpPr/>
            <p:nvPr/>
          </p:nvSpPr>
          <p:spPr>
            <a:xfrm>
              <a:off x="8619251" y="8565841"/>
              <a:ext cx="7296959" cy="12926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217"/>
              <a:r>
                <a:rPr lang="en-US" dirty="0">
                  <a:solidFill>
                    <a:srgbClr val="001C5E"/>
                  </a:solidFill>
                  <a:latin typeface="Poppins" pitchFamily="2" charset="77"/>
                  <a:ea typeface="Roboto Medium" panose="02000000000000000000" pitchFamily="2" charset="0"/>
                  <a:cs typeface="Poppins" pitchFamily="2" charset="77"/>
                </a:rPr>
                <a:t>Accidents by State, Time Zone, Severity</a:t>
              </a:r>
              <a:endParaRPr lang="en-US" sz="2700" dirty="0">
                <a:solidFill>
                  <a:srgbClr val="001C5E"/>
                </a:solidFill>
                <a:latin typeface="Poppins" pitchFamily="2" charset="77"/>
                <a:ea typeface="Roboto Medium" panose="02000000000000000000" pitchFamily="2" charset="0"/>
                <a:cs typeface="Montserra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9789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049806-A6CC-7C3E-799F-8A20942D0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993" y="1081070"/>
            <a:ext cx="8744014" cy="4695859"/>
          </a:xfrm>
          <a:prstGeom prst="rect">
            <a:avLst/>
          </a:prstGeom>
        </p:spPr>
      </p:pic>
      <p:sp>
        <p:nvSpPr>
          <p:cNvPr id="8" name="CuadroTexto 350">
            <a:extLst>
              <a:ext uri="{FF2B5EF4-FFF2-40B4-BE49-F238E27FC236}">
                <a16:creationId xmlns:a16="http://schemas.microsoft.com/office/drawing/2014/main" id="{3AEEDA5C-A99E-93F5-DAA9-B525CFE720FA}"/>
              </a:ext>
            </a:extLst>
          </p:cNvPr>
          <p:cNvSpPr txBox="1"/>
          <p:nvPr/>
        </p:nvSpPr>
        <p:spPr>
          <a:xfrm>
            <a:off x="4263151" y="171789"/>
            <a:ext cx="37577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b="1" dirty="0">
                <a:solidFill>
                  <a:srgbClr val="001C5E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Landing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08E570-5757-9082-F3B7-606028119F64}"/>
              </a:ext>
            </a:extLst>
          </p:cNvPr>
          <p:cNvSpPr txBox="1"/>
          <p:nvPr/>
        </p:nvSpPr>
        <p:spPr>
          <a:xfrm>
            <a:off x="3404557" y="6038490"/>
            <a:ext cx="6222521" cy="36933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Main Dashboard Page with Navigable buttons</a:t>
            </a:r>
          </a:p>
        </p:txBody>
      </p:sp>
    </p:spTree>
    <p:extLst>
      <p:ext uri="{BB962C8B-B14F-4D97-AF65-F5344CB8AC3E}">
        <p14:creationId xmlns:p14="http://schemas.microsoft.com/office/powerpoint/2010/main" val="2737635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25690-3B0D-7FBE-3647-BDD46D031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993" y="1443023"/>
            <a:ext cx="8744014" cy="3971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B6FE6E-1A5D-9E31-BB25-E5FC1C6BE410}"/>
              </a:ext>
            </a:extLst>
          </p:cNvPr>
          <p:cNvSpPr txBox="1"/>
          <p:nvPr/>
        </p:nvSpPr>
        <p:spPr>
          <a:xfrm>
            <a:off x="2829463" y="26166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1C5E"/>
                </a:solidFill>
                <a:effectLst/>
                <a:uLnTx/>
                <a:uFillTx/>
                <a:latin typeface="Poppins" pitchFamily="2" charset="77"/>
                <a:ea typeface="Lato Heavy" charset="0"/>
                <a:cs typeface="Poppins" pitchFamily="2" charset="77"/>
              </a:rPr>
              <a:t>Insights- 1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FB5F5A-E2F6-5C8D-DB2D-954DE15079A2}"/>
              </a:ext>
            </a:extLst>
          </p:cNvPr>
          <p:cNvSpPr txBox="1"/>
          <p:nvPr/>
        </p:nvSpPr>
        <p:spPr>
          <a:xfrm>
            <a:off x="2544793" y="5831456"/>
            <a:ext cx="7102414" cy="64633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US Map with Filters for State &amp; Searching Accident Counts on a Yearly Basis</a:t>
            </a:r>
          </a:p>
        </p:txBody>
      </p:sp>
    </p:spTree>
    <p:extLst>
      <p:ext uri="{BB962C8B-B14F-4D97-AF65-F5344CB8AC3E}">
        <p14:creationId xmlns:p14="http://schemas.microsoft.com/office/powerpoint/2010/main" val="255011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49DC52-A191-E500-777E-4FDC7B91A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212" y="1504936"/>
            <a:ext cx="8744014" cy="38481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69CD61-C10C-5023-B6F5-BADB069C6FCE}"/>
              </a:ext>
            </a:extLst>
          </p:cNvPr>
          <p:cNvSpPr txBox="1"/>
          <p:nvPr/>
        </p:nvSpPr>
        <p:spPr>
          <a:xfrm>
            <a:off x="2544793" y="5831456"/>
            <a:ext cx="7102414" cy="64633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Accidents Insights Filtered by State, Year, Time, Zone, Severity with Filter options for Year, State &amp; Astronomical Twilight(Day/Night)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AE4A3-00F6-8640-B70E-6A47FC8B0183}"/>
              </a:ext>
            </a:extLst>
          </p:cNvPr>
          <p:cNvSpPr txBox="1"/>
          <p:nvPr/>
        </p:nvSpPr>
        <p:spPr>
          <a:xfrm>
            <a:off x="2829463" y="26166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1C5E"/>
                </a:solidFill>
                <a:effectLst/>
                <a:uLnTx/>
                <a:uFillTx/>
                <a:latin typeface="Poppins" pitchFamily="2" charset="77"/>
                <a:ea typeface="Lato Heavy" charset="0"/>
                <a:cs typeface="Poppins" pitchFamily="2" charset="77"/>
              </a:rPr>
              <a:t>Insights- 2</a:t>
            </a:r>
          </a:p>
        </p:txBody>
      </p:sp>
    </p:spTree>
    <p:extLst>
      <p:ext uri="{BB962C8B-B14F-4D97-AF65-F5344CB8AC3E}">
        <p14:creationId xmlns:p14="http://schemas.microsoft.com/office/powerpoint/2010/main" val="964575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9E739E-BAAC-1B6F-88EE-DD997B484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56" y="1394049"/>
            <a:ext cx="8744014" cy="39433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5F1FCF-DE74-1230-5AB3-B12FEB06AACA}"/>
              </a:ext>
            </a:extLst>
          </p:cNvPr>
          <p:cNvSpPr txBox="1"/>
          <p:nvPr/>
        </p:nvSpPr>
        <p:spPr>
          <a:xfrm>
            <a:off x="2493035" y="5670388"/>
            <a:ext cx="7102414" cy="92333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Accidents Insights Based on Weather, Year, Astronomical Twilight, Hour with Filters for Weather condition Selection, </a:t>
            </a:r>
            <a:r>
              <a:rPr lang="en-US" dirty="0" err="1">
                <a:solidFill>
                  <a:schemeClr val="tx2"/>
                </a:solidFill>
              </a:rPr>
              <a:t>TimeZone</a:t>
            </a:r>
            <a:r>
              <a:rPr lang="en-US" dirty="0">
                <a:solidFill>
                  <a:schemeClr val="tx2"/>
                </a:solidFill>
              </a:rPr>
              <a:t>, year &amp; Astronomical Twilight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76E53-15C7-3788-046E-4BD5EBCE2FA4}"/>
              </a:ext>
            </a:extLst>
          </p:cNvPr>
          <p:cNvSpPr txBox="1"/>
          <p:nvPr/>
        </p:nvSpPr>
        <p:spPr>
          <a:xfrm>
            <a:off x="2829463" y="26166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1C5E"/>
                </a:solidFill>
                <a:effectLst/>
                <a:uLnTx/>
                <a:uFillTx/>
                <a:latin typeface="Poppins" pitchFamily="2" charset="77"/>
                <a:ea typeface="Lato Heavy" charset="0"/>
                <a:cs typeface="Poppins" pitchFamily="2" charset="77"/>
              </a:rPr>
              <a:t>Insights- 3</a:t>
            </a:r>
          </a:p>
        </p:txBody>
      </p:sp>
    </p:spTree>
    <p:extLst>
      <p:ext uri="{BB962C8B-B14F-4D97-AF65-F5344CB8AC3E}">
        <p14:creationId xmlns:p14="http://schemas.microsoft.com/office/powerpoint/2010/main" val="2145156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0E697-2D63-6404-FDF4-42786966E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8" y="955645"/>
            <a:ext cx="4109490" cy="1858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3C9B1-5147-CA9F-8569-D349806B9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26" y="3081828"/>
            <a:ext cx="3752877" cy="2056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0B39C-B81A-39B6-00E3-AB2268FBB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68" y="5152421"/>
            <a:ext cx="3874635" cy="1598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22F600-3789-F878-ABED-FFBDB0294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744" y="993025"/>
            <a:ext cx="3168511" cy="1783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3382B1-DA21-310A-1B91-2057AE04C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6688" y="2998774"/>
            <a:ext cx="3493567" cy="20563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CE59E3-B084-92F9-6B51-251B45A45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224" y="5152421"/>
            <a:ext cx="3336278" cy="15663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4F17AD-C340-AF0D-27CB-81377DE262D9}"/>
              </a:ext>
            </a:extLst>
          </p:cNvPr>
          <p:cNvSpPr txBox="1"/>
          <p:nvPr/>
        </p:nvSpPr>
        <p:spPr>
          <a:xfrm>
            <a:off x="7746259" y="1315083"/>
            <a:ext cx="4228879" cy="338554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Graph 1- </a:t>
            </a:r>
            <a:r>
              <a:rPr lang="en-US" sz="1400" dirty="0">
                <a:solidFill>
                  <a:schemeClr val="tx2"/>
                </a:solidFill>
              </a:rPr>
              <a:t>Bar Chart Showing Accident distribution by Hour in a day with Hours 6, 7, 16, 17 showing Highest Accident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Graph 2 </a:t>
            </a:r>
            <a:r>
              <a:rPr lang="en-US" sz="1400" dirty="0">
                <a:solidFill>
                  <a:schemeClr val="tx2"/>
                </a:solidFill>
              </a:rPr>
              <a:t>– Bar Chart showing Accidents by Day of week, Showing Friday as the Highest Accident and lower counts over the weekend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Graph 3- </a:t>
            </a:r>
            <a:r>
              <a:rPr lang="en-US" sz="1400" dirty="0">
                <a:solidFill>
                  <a:schemeClr val="tx2"/>
                </a:solidFill>
              </a:rPr>
              <a:t>Shows Top 10 States by Accident Count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Graph 4- </a:t>
            </a:r>
            <a:r>
              <a:rPr lang="en-US" sz="1400" dirty="0">
                <a:solidFill>
                  <a:schemeClr val="tx2"/>
                </a:solidFill>
              </a:rPr>
              <a:t>Shows Severity Distribution where Sev 2 shows the Highest Accident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Graph 5- </a:t>
            </a:r>
            <a:r>
              <a:rPr lang="en-US" sz="1400" dirty="0">
                <a:solidFill>
                  <a:schemeClr val="tx2"/>
                </a:solidFill>
              </a:rPr>
              <a:t>Shows Severity distribution by Weather category with Avg Sev for ~ 2,2 for each Weather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Graph 6- </a:t>
            </a:r>
            <a:r>
              <a:rPr lang="en-US" sz="1400" dirty="0">
                <a:solidFill>
                  <a:schemeClr val="tx2"/>
                </a:solidFill>
              </a:rPr>
              <a:t>Shows Avg. Severity by Rural V Urban with Rural having more Accidents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0F0D16-CEFF-4212-EE6A-E27C974C82C4}"/>
              </a:ext>
            </a:extLst>
          </p:cNvPr>
          <p:cNvSpPr/>
          <p:nvPr/>
        </p:nvSpPr>
        <p:spPr>
          <a:xfrm>
            <a:off x="126521" y="770885"/>
            <a:ext cx="621102" cy="184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Graph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BF9A48-B6BF-6D20-0BCE-AA3ACCEEE7FA}"/>
              </a:ext>
            </a:extLst>
          </p:cNvPr>
          <p:cNvSpPr/>
          <p:nvPr/>
        </p:nvSpPr>
        <p:spPr>
          <a:xfrm>
            <a:off x="126521" y="2975160"/>
            <a:ext cx="621102" cy="184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Graph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E40F8-CF6E-3ECF-32C4-ECD3F15197AD}"/>
              </a:ext>
            </a:extLst>
          </p:cNvPr>
          <p:cNvSpPr/>
          <p:nvPr/>
        </p:nvSpPr>
        <p:spPr>
          <a:xfrm>
            <a:off x="77198" y="4967661"/>
            <a:ext cx="621102" cy="184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Graph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9403EE-931B-7321-152F-03EDED2B3283}"/>
              </a:ext>
            </a:extLst>
          </p:cNvPr>
          <p:cNvSpPr/>
          <p:nvPr/>
        </p:nvSpPr>
        <p:spPr>
          <a:xfrm>
            <a:off x="4511744" y="808266"/>
            <a:ext cx="621102" cy="184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Graph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10D2F6-8D16-3859-66F4-2A5C2F91A60D}"/>
              </a:ext>
            </a:extLst>
          </p:cNvPr>
          <p:cNvSpPr/>
          <p:nvPr/>
        </p:nvSpPr>
        <p:spPr>
          <a:xfrm>
            <a:off x="4456542" y="2915474"/>
            <a:ext cx="621102" cy="184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Graph 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445AB5-04BD-9179-B32A-6681301A6554}"/>
              </a:ext>
            </a:extLst>
          </p:cNvPr>
          <p:cNvSpPr/>
          <p:nvPr/>
        </p:nvSpPr>
        <p:spPr>
          <a:xfrm>
            <a:off x="4416285" y="4962699"/>
            <a:ext cx="621102" cy="184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Graph 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437BF0-F23A-0980-1371-246C98911D2F}"/>
              </a:ext>
            </a:extLst>
          </p:cNvPr>
          <p:cNvSpPr txBox="1"/>
          <p:nvPr/>
        </p:nvSpPr>
        <p:spPr>
          <a:xfrm>
            <a:off x="7746260" y="936948"/>
            <a:ext cx="422887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Key Highlights: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B31337-D812-89CB-418E-9D62A16F587E}"/>
              </a:ext>
            </a:extLst>
          </p:cNvPr>
          <p:cNvSpPr txBox="1"/>
          <p:nvPr/>
        </p:nvSpPr>
        <p:spPr>
          <a:xfrm>
            <a:off x="2812210" y="9541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1C5E"/>
                </a:solidFill>
                <a:effectLst/>
                <a:uLnTx/>
                <a:uFillTx/>
                <a:latin typeface="Poppins" pitchFamily="2" charset="77"/>
                <a:ea typeface="Lato Heavy" charset="0"/>
                <a:cs typeface="Poppins" pitchFamily="2" charset="77"/>
              </a:rPr>
              <a:t>Insights- 4</a:t>
            </a:r>
          </a:p>
        </p:txBody>
      </p:sp>
    </p:spTree>
    <p:extLst>
      <p:ext uri="{BB962C8B-B14F-4D97-AF65-F5344CB8AC3E}">
        <p14:creationId xmlns:p14="http://schemas.microsoft.com/office/powerpoint/2010/main" val="3784036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CC6E2B6F-6C0F-9B4B-9604-F9080B624DE0}"/>
              </a:ext>
            </a:extLst>
          </p:cNvPr>
          <p:cNvSpPr/>
          <p:nvPr/>
        </p:nvSpPr>
        <p:spPr>
          <a:xfrm>
            <a:off x="4889108" y="3222357"/>
            <a:ext cx="2448461" cy="2448460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4339455" y="62252"/>
            <a:ext cx="35477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b="1" dirty="0">
                <a:solidFill>
                  <a:srgbClr val="494949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Key Findings</a:t>
            </a:r>
          </a:p>
        </p:txBody>
      </p:sp>
      <p:sp>
        <p:nvSpPr>
          <p:cNvPr id="2" name="Trapezoid 1">
            <a:extLst>
              <a:ext uri="{FF2B5EF4-FFF2-40B4-BE49-F238E27FC236}">
                <a16:creationId xmlns:a16="http://schemas.microsoft.com/office/drawing/2014/main" id="{4D743E1F-60DE-5243-BFE7-B3FC19CACD43}"/>
              </a:ext>
            </a:extLst>
          </p:cNvPr>
          <p:cNvSpPr/>
          <p:nvPr/>
        </p:nvSpPr>
        <p:spPr>
          <a:xfrm rot="10800000">
            <a:off x="5416497" y="2723896"/>
            <a:ext cx="1359008" cy="928432"/>
          </a:xfrm>
          <a:prstGeom prst="trapezoid">
            <a:avLst>
              <a:gd name="adj" fmla="val 42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711652B7-8D59-A149-9E7A-4C498FC3FD9D}"/>
              </a:ext>
            </a:extLst>
          </p:cNvPr>
          <p:cNvSpPr/>
          <p:nvPr/>
        </p:nvSpPr>
        <p:spPr>
          <a:xfrm rot="6617230" flipH="1">
            <a:off x="4322922" y="3499595"/>
            <a:ext cx="1359009" cy="928431"/>
          </a:xfrm>
          <a:prstGeom prst="trapezoid">
            <a:avLst>
              <a:gd name="adj" fmla="val 42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A0861D84-37F0-F84F-853C-6D3CF973A509}"/>
              </a:ext>
            </a:extLst>
          </p:cNvPr>
          <p:cNvSpPr/>
          <p:nvPr/>
        </p:nvSpPr>
        <p:spPr>
          <a:xfrm rot="14982770">
            <a:off x="6510611" y="3501245"/>
            <a:ext cx="1359009" cy="928431"/>
          </a:xfrm>
          <a:prstGeom prst="trapezoid">
            <a:avLst>
              <a:gd name="adj" fmla="val 42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F821E056-A2A8-A942-8E6C-A6BF247FBBAB}"/>
              </a:ext>
            </a:extLst>
          </p:cNvPr>
          <p:cNvSpPr/>
          <p:nvPr/>
        </p:nvSpPr>
        <p:spPr>
          <a:xfrm rot="2119340">
            <a:off x="4724820" y="4856486"/>
            <a:ext cx="1359008" cy="928432"/>
          </a:xfrm>
          <a:prstGeom prst="trapezoid">
            <a:avLst>
              <a:gd name="adj" fmla="val 42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71C3C294-A307-714A-A792-30DBB0E427F9}"/>
              </a:ext>
            </a:extLst>
          </p:cNvPr>
          <p:cNvSpPr/>
          <p:nvPr/>
        </p:nvSpPr>
        <p:spPr>
          <a:xfrm rot="19480660" flipH="1">
            <a:off x="6177849" y="4856486"/>
            <a:ext cx="1359008" cy="928432"/>
          </a:xfrm>
          <a:prstGeom prst="trapezoid">
            <a:avLst>
              <a:gd name="adj" fmla="val 42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CuadroTexto 395">
            <a:extLst>
              <a:ext uri="{FF2B5EF4-FFF2-40B4-BE49-F238E27FC236}">
                <a16:creationId xmlns:a16="http://schemas.microsoft.com/office/drawing/2014/main" id="{05B8C0A6-6E3A-A74D-97BA-48B274E2B11C}"/>
              </a:ext>
            </a:extLst>
          </p:cNvPr>
          <p:cNvSpPr txBox="1"/>
          <p:nvPr/>
        </p:nvSpPr>
        <p:spPr>
          <a:xfrm>
            <a:off x="7714582" y="2931287"/>
            <a:ext cx="4214637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 defTabSz="914217"/>
            <a:r>
              <a:rPr lang="en-US" dirty="0">
                <a:solidFill>
                  <a:schemeClr val="bg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Correlation by Severity &amp; Weather</a:t>
            </a:r>
          </a:p>
        </p:txBody>
      </p:sp>
      <p:sp>
        <p:nvSpPr>
          <p:cNvPr id="20" name="Rectangle 56">
            <a:extLst>
              <a:ext uri="{FF2B5EF4-FFF2-40B4-BE49-F238E27FC236}">
                <a16:creationId xmlns:a16="http://schemas.microsoft.com/office/drawing/2014/main" id="{6B68D6AD-FF67-F146-8D63-974DCF559995}"/>
              </a:ext>
            </a:extLst>
          </p:cNvPr>
          <p:cNvSpPr/>
          <p:nvPr/>
        </p:nvSpPr>
        <p:spPr>
          <a:xfrm>
            <a:off x="7796123" y="3352383"/>
            <a:ext cx="4133096" cy="954107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Sev 2 had the Highest Accident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Average Severity was 2.3 across various Weather conditions like Rain/</a:t>
            </a:r>
            <a:r>
              <a:rPr lang="en-US" sz="1400" dirty="0" err="1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strorm</a:t>
            </a:r>
            <a:r>
              <a:rPr lang="en-US" sz="14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, Snow/Ice, Cloudy, Clear, Low Visibility, other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E35803-8AFC-8545-8A6F-BEFE64521B1D}"/>
              </a:ext>
            </a:extLst>
          </p:cNvPr>
          <p:cNvGrpSpPr/>
          <p:nvPr/>
        </p:nvGrpSpPr>
        <p:grpSpPr>
          <a:xfrm>
            <a:off x="7796123" y="4906192"/>
            <a:ext cx="4377887" cy="1581348"/>
            <a:chOff x="2491082" y="8212983"/>
            <a:chExt cx="7068860" cy="3162692"/>
          </a:xfrm>
        </p:grpSpPr>
        <p:sp>
          <p:nvSpPr>
            <p:cNvPr id="22" name="CuadroTexto 395">
              <a:extLst>
                <a:ext uri="{FF2B5EF4-FFF2-40B4-BE49-F238E27FC236}">
                  <a16:creationId xmlns:a16="http://schemas.microsoft.com/office/drawing/2014/main" id="{AAB1FAB9-D70E-0C4F-961E-09B8A5E7953F}"/>
                </a:ext>
              </a:extLst>
            </p:cNvPr>
            <p:cNvSpPr txBox="1"/>
            <p:nvPr/>
          </p:nvSpPr>
          <p:spPr>
            <a:xfrm>
              <a:off x="2501409" y="8212983"/>
              <a:ext cx="7058533" cy="738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defTabSz="914217"/>
              <a:r>
                <a:rPr lang="en-US" dirty="0">
                  <a:solidFill>
                    <a:schemeClr val="bg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Causation Analysis - Infrastructure</a:t>
              </a:r>
            </a:p>
          </p:txBody>
        </p:sp>
        <p:sp>
          <p:nvSpPr>
            <p:cNvPr id="23" name="Rectangle 56">
              <a:extLst>
                <a:ext uri="{FF2B5EF4-FFF2-40B4-BE49-F238E27FC236}">
                  <a16:creationId xmlns:a16="http://schemas.microsoft.com/office/drawing/2014/main" id="{91FC5BA0-1D3F-0643-ADA6-CAE77DCE0453}"/>
                </a:ext>
              </a:extLst>
            </p:cNvPr>
            <p:cNvSpPr/>
            <p:nvPr/>
          </p:nvSpPr>
          <p:spPr>
            <a:xfrm>
              <a:off x="2491082" y="9036576"/>
              <a:ext cx="7068860" cy="2339099"/>
            </a:xfrm>
            <a:prstGeom prst="rect">
              <a:avLst/>
            </a:prstGeom>
            <a:ln>
              <a:solidFill>
                <a:schemeClr val="tx1"/>
              </a:solidFill>
              <a:prstDash val="sysDot"/>
            </a:ln>
          </p:spPr>
          <p:txBody>
            <a:bodyPr wrap="square">
              <a:spAutoFit/>
            </a:bodyPr>
            <a:lstStyle/>
            <a:p>
              <a:pPr marL="285750" indent="-285750" defTabSz="914217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Infrastructure impact on severity (mean severity</a:t>
              </a:r>
            </a:p>
            <a:p>
              <a:pPr marL="742950" lvl="1" indent="-285750" defTabSz="914217"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Junction: </a:t>
              </a:r>
              <a:r>
                <a:rPr lang="en-US" sz="1400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present=2.322, absent=2.222</a:t>
              </a:r>
            </a:p>
            <a:p>
              <a:pPr marL="742950" lvl="1" indent="-285750" defTabSz="914217"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Traffic Signal</a:t>
              </a:r>
              <a:r>
                <a:rPr lang="en-US" sz="1400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: present=2.091, absent=2.255</a:t>
              </a:r>
            </a:p>
            <a:p>
              <a:pPr marL="742950" lvl="1" indent="-285750" defTabSz="914217"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Crossing</a:t>
              </a:r>
              <a:r>
                <a:rPr lang="en-US" sz="1400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: present=2.067, absent=2.250 </a:t>
              </a:r>
            </a:p>
            <a:p>
              <a:pPr marL="742950" lvl="1" indent="-285750" defTabSz="914217"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Stop: </a:t>
              </a:r>
              <a:r>
                <a:rPr lang="en-US" sz="1400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present=2.078, absent=2.234</a:t>
              </a:r>
            </a:p>
          </p:txBody>
        </p:sp>
      </p:grpSp>
      <p:sp>
        <p:nvSpPr>
          <p:cNvPr id="25" name="CuadroTexto 395">
            <a:extLst>
              <a:ext uri="{FF2B5EF4-FFF2-40B4-BE49-F238E27FC236}">
                <a16:creationId xmlns:a16="http://schemas.microsoft.com/office/drawing/2014/main" id="{ECC37F0E-A326-5D4D-B1AF-33B25ED57B5A}"/>
              </a:ext>
            </a:extLst>
          </p:cNvPr>
          <p:cNvSpPr txBox="1"/>
          <p:nvPr/>
        </p:nvSpPr>
        <p:spPr>
          <a:xfrm flipH="1">
            <a:off x="494358" y="3069786"/>
            <a:ext cx="3464715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defTabSz="914217"/>
            <a:r>
              <a:rPr lang="en-US" dirty="0">
                <a:solidFill>
                  <a:schemeClr val="bg2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Urban V Rural</a:t>
            </a:r>
          </a:p>
        </p:txBody>
      </p:sp>
      <p:sp>
        <p:nvSpPr>
          <p:cNvPr id="26" name="Rectangle 56">
            <a:extLst>
              <a:ext uri="{FF2B5EF4-FFF2-40B4-BE49-F238E27FC236}">
                <a16:creationId xmlns:a16="http://schemas.microsoft.com/office/drawing/2014/main" id="{906D3FEB-0522-5A46-B396-263AE9FDF907}"/>
              </a:ext>
            </a:extLst>
          </p:cNvPr>
          <p:cNvSpPr/>
          <p:nvPr/>
        </p:nvSpPr>
        <p:spPr>
          <a:xfrm flipH="1">
            <a:off x="494359" y="3487537"/>
            <a:ext cx="3464717" cy="738664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defTabSz="914217"/>
            <a:r>
              <a:rPr lang="en-US" sz="1400" dirty="0">
                <a:solidFill>
                  <a:schemeClr val="tx2"/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4 Times more accidents in Rural as compared to Urban with Rural Sev – 2.2 and Urban being at 2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89601F-328A-DA45-9AE5-B89EBC5D4CF4}"/>
              </a:ext>
            </a:extLst>
          </p:cNvPr>
          <p:cNvGrpSpPr/>
          <p:nvPr/>
        </p:nvGrpSpPr>
        <p:grpSpPr>
          <a:xfrm flipH="1">
            <a:off x="176812" y="5068169"/>
            <a:ext cx="4299218" cy="988482"/>
            <a:chOff x="2182934" y="7855309"/>
            <a:chExt cx="8417681" cy="1976961"/>
          </a:xfrm>
        </p:grpSpPr>
        <p:sp>
          <p:nvSpPr>
            <p:cNvPr id="28" name="CuadroTexto 395">
              <a:extLst>
                <a:ext uri="{FF2B5EF4-FFF2-40B4-BE49-F238E27FC236}">
                  <a16:creationId xmlns:a16="http://schemas.microsoft.com/office/drawing/2014/main" id="{7B884D3E-20C6-6B4C-92F8-92B385586B05}"/>
                </a:ext>
              </a:extLst>
            </p:cNvPr>
            <p:cNvSpPr txBox="1"/>
            <p:nvPr/>
          </p:nvSpPr>
          <p:spPr>
            <a:xfrm>
              <a:off x="2182934" y="7855309"/>
              <a:ext cx="8417679" cy="129266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defTabSz="914217"/>
              <a:r>
                <a:rPr lang="en-US" dirty="0">
                  <a:solidFill>
                    <a:schemeClr val="bg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Accidents by Day Part &amp; Severity Breakdown</a:t>
              </a:r>
            </a:p>
          </p:txBody>
        </p:sp>
        <p:sp>
          <p:nvSpPr>
            <p:cNvPr id="29" name="Rectangle 56">
              <a:extLst>
                <a:ext uri="{FF2B5EF4-FFF2-40B4-BE49-F238E27FC236}">
                  <a16:creationId xmlns:a16="http://schemas.microsoft.com/office/drawing/2014/main" id="{E7B0BD3E-D90F-B54A-8CA4-223171ED4635}"/>
                </a:ext>
              </a:extLst>
            </p:cNvPr>
            <p:cNvSpPr/>
            <p:nvPr/>
          </p:nvSpPr>
          <p:spPr>
            <a:xfrm>
              <a:off x="2215971" y="9216717"/>
              <a:ext cx="8384644" cy="615553"/>
            </a:xfrm>
            <a:prstGeom prst="rect">
              <a:avLst/>
            </a:prstGeom>
            <a:ln>
              <a:solidFill>
                <a:schemeClr val="tx1"/>
              </a:solidFill>
              <a:prstDash val="sysDot"/>
            </a:ln>
          </p:spPr>
          <p:txBody>
            <a:bodyPr wrap="square">
              <a:spAutoFit/>
            </a:bodyPr>
            <a:lstStyle/>
            <a:p>
              <a:pPr defTabSz="914217"/>
              <a:r>
                <a:rPr lang="en-US" sz="1400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Distribution of Accident by Severity Level.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EEE23B-F0BE-B046-821C-0028DA70CF3F}"/>
              </a:ext>
            </a:extLst>
          </p:cNvPr>
          <p:cNvGrpSpPr/>
          <p:nvPr/>
        </p:nvGrpSpPr>
        <p:grpSpPr>
          <a:xfrm>
            <a:off x="3923452" y="1240739"/>
            <a:ext cx="5022257" cy="1161730"/>
            <a:chOff x="4110" y="7946287"/>
            <a:chExt cx="6246993" cy="2323455"/>
          </a:xfrm>
        </p:grpSpPr>
        <p:sp>
          <p:nvSpPr>
            <p:cNvPr id="32" name="CuadroTexto 395">
              <a:extLst>
                <a:ext uri="{FF2B5EF4-FFF2-40B4-BE49-F238E27FC236}">
                  <a16:creationId xmlns:a16="http://schemas.microsoft.com/office/drawing/2014/main" id="{7A513E50-0F1F-7F47-8B4F-62C6A8A59EC4}"/>
                </a:ext>
              </a:extLst>
            </p:cNvPr>
            <p:cNvSpPr txBox="1"/>
            <p:nvPr/>
          </p:nvSpPr>
          <p:spPr>
            <a:xfrm>
              <a:off x="64769" y="7946287"/>
              <a:ext cx="6186334" cy="73866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 defTabSz="914217"/>
              <a:r>
                <a:rPr lang="en-US" dirty="0">
                  <a:solidFill>
                    <a:schemeClr val="bg2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Accidents Analysis</a:t>
              </a:r>
            </a:p>
          </p:txBody>
        </p: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7446CB0D-BEFA-524B-A6FD-2755E0CA6D45}"/>
                </a:ext>
              </a:extLst>
            </p:cNvPr>
            <p:cNvSpPr/>
            <p:nvPr/>
          </p:nvSpPr>
          <p:spPr>
            <a:xfrm>
              <a:off x="4110" y="8792417"/>
              <a:ext cx="6246993" cy="1477325"/>
            </a:xfrm>
            <a:prstGeom prst="rect">
              <a:avLst/>
            </a:prstGeom>
            <a:ln>
              <a:solidFill>
                <a:schemeClr val="tx1"/>
              </a:solidFill>
              <a:prstDash val="sysDot"/>
            </a:ln>
          </p:spPr>
          <p:txBody>
            <a:bodyPr wrap="square">
              <a:spAutoFit/>
            </a:bodyPr>
            <a:lstStyle/>
            <a:p>
              <a:pPr defTabSz="914217"/>
              <a:r>
                <a:rPr lang="en-US" sz="1400" b="1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Hourly: </a:t>
              </a:r>
              <a:r>
                <a:rPr lang="en-US" sz="1400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Hour- 7, 8 &amp; 16 &amp; 17 Show Highest Accidents</a:t>
              </a:r>
            </a:p>
            <a:p>
              <a:pPr defTabSz="914217"/>
              <a:r>
                <a:rPr lang="en-US" sz="1400" b="1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Daily: </a:t>
              </a:r>
              <a:r>
                <a:rPr lang="en-US" sz="1400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Friday saw highest accidents with weekend being the lowest</a:t>
              </a:r>
            </a:p>
            <a:p>
              <a:pPr defTabSz="914217"/>
              <a:r>
                <a:rPr lang="en-US" sz="1400" b="1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State: </a:t>
              </a:r>
              <a:r>
                <a:rPr lang="en-US" sz="1400" dirty="0">
                  <a:solidFill>
                    <a:schemeClr val="tx2"/>
                  </a:solidFill>
                  <a:ea typeface="Lato Light" panose="020F0502020204030203" pitchFamily="34" charset="0"/>
                  <a:cs typeface="Lato Light" panose="020F0502020204030203" pitchFamily="34" charset="0"/>
                </a:rPr>
                <a:t>CA, FA, TX, SC, NY are top 5 States with Accidents</a:t>
              </a:r>
            </a:p>
          </p:txBody>
        </p:sp>
      </p:grpSp>
      <p:sp>
        <p:nvSpPr>
          <p:cNvPr id="34" name="CuadroTexto 395">
            <a:extLst>
              <a:ext uri="{FF2B5EF4-FFF2-40B4-BE49-F238E27FC236}">
                <a16:creationId xmlns:a16="http://schemas.microsoft.com/office/drawing/2014/main" id="{73E97A78-FC70-7540-BAD2-B3BD889BB12C}"/>
              </a:ext>
            </a:extLst>
          </p:cNvPr>
          <p:cNvSpPr txBox="1"/>
          <p:nvPr/>
        </p:nvSpPr>
        <p:spPr>
          <a:xfrm>
            <a:off x="5646954" y="2931287"/>
            <a:ext cx="870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2700" dirty="0">
                <a:solidFill>
                  <a:srgbClr val="FFFFFF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1</a:t>
            </a:r>
          </a:p>
        </p:txBody>
      </p:sp>
      <p:sp>
        <p:nvSpPr>
          <p:cNvPr id="35" name="CuadroTexto 395">
            <a:extLst>
              <a:ext uri="{FF2B5EF4-FFF2-40B4-BE49-F238E27FC236}">
                <a16:creationId xmlns:a16="http://schemas.microsoft.com/office/drawing/2014/main" id="{31BBE809-C1A1-8A42-B1EF-0EA8E999B194}"/>
              </a:ext>
            </a:extLst>
          </p:cNvPr>
          <p:cNvSpPr txBox="1"/>
          <p:nvPr/>
        </p:nvSpPr>
        <p:spPr>
          <a:xfrm>
            <a:off x="6791723" y="3737690"/>
            <a:ext cx="870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2700" dirty="0">
                <a:solidFill>
                  <a:srgbClr val="FFFFFF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2</a:t>
            </a:r>
          </a:p>
        </p:txBody>
      </p:sp>
      <p:sp>
        <p:nvSpPr>
          <p:cNvPr id="36" name="CuadroTexto 395">
            <a:extLst>
              <a:ext uri="{FF2B5EF4-FFF2-40B4-BE49-F238E27FC236}">
                <a16:creationId xmlns:a16="http://schemas.microsoft.com/office/drawing/2014/main" id="{63BA9A86-8440-C948-B719-23C61E9D54CF}"/>
              </a:ext>
            </a:extLst>
          </p:cNvPr>
          <p:cNvSpPr txBox="1"/>
          <p:nvPr/>
        </p:nvSpPr>
        <p:spPr>
          <a:xfrm>
            <a:off x="4550044" y="3736040"/>
            <a:ext cx="870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2700" dirty="0">
                <a:solidFill>
                  <a:srgbClr val="FFFFFF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5</a:t>
            </a:r>
          </a:p>
        </p:txBody>
      </p:sp>
      <p:sp>
        <p:nvSpPr>
          <p:cNvPr id="37" name="CuadroTexto 395">
            <a:extLst>
              <a:ext uri="{FF2B5EF4-FFF2-40B4-BE49-F238E27FC236}">
                <a16:creationId xmlns:a16="http://schemas.microsoft.com/office/drawing/2014/main" id="{177CDB6B-DF99-664D-8F9A-9228B290D84A}"/>
              </a:ext>
            </a:extLst>
          </p:cNvPr>
          <p:cNvSpPr txBox="1"/>
          <p:nvPr/>
        </p:nvSpPr>
        <p:spPr>
          <a:xfrm>
            <a:off x="4953478" y="5139941"/>
            <a:ext cx="870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2700" dirty="0">
                <a:solidFill>
                  <a:srgbClr val="FFFFFF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4</a:t>
            </a:r>
          </a:p>
        </p:txBody>
      </p:sp>
      <p:sp>
        <p:nvSpPr>
          <p:cNvPr id="38" name="CuadroTexto 395">
            <a:extLst>
              <a:ext uri="{FF2B5EF4-FFF2-40B4-BE49-F238E27FC236}">
                <a16:creationId xmlns:a16="http://schemas.microsoft.com/office/drawing/2014/main" id="{C09A49AE-A8C3-5340-A9B0-FF81DAD1DB0D}"/>
              </a:ext>
            </a:extLst>
          </p:cNvPr>
          <p:cNvSpPr txBox="1"/>
          <p:nvPr/>
        </p:nvSpPr>
        <p:spPr>
          <a:xfrm>
            <a:off x="6434581" y="5139940"/>
            <a:ext cx="8701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2700" dirty="0">
                <a:solidFill>
                  <a:srgbClr val="FFFFFF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3</a:t>
            </a:r>
          </a:p>
        </p:txBody>
      </p:sp>
      <p:sp>
        <p:nvSpPr>
          <p:cNvPr id="39" name="CuadroTexto 395">
            <a:extLst>
              <a:ext uri="{FF2B5EF4-FFF2-40B4-BE49-F238E27FC236}">
                <a16:creationId xmlns:a16="http://schemas.microsoft.com/office/drawing/2014/main" id="{51391C42-38DF-E544-939C-3B93CB81F6DA}"/>
              </a:ext>
            </a:extLst>
          </p:cNvPr>
          <p:cNvSpPr txBox="1"/>
          <p:nvPr/>
        </p:nvSpPr>
        <p:spPr>
          <a:xfrm>
            <a:off x="5416495" y="4105174"/>
            <a:ext cx="135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dirty="0">
                <a:solidFill>
                  <a:srgbClr val="494949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The Five Drivers</a:t>
            </a:r>
          </a:p>
        </p:txBody>
      </p:sp>
    </p:spTree>
    <p:extLst>
      <p:ext uri="{BB962C8B-B14F-4D97-AF65-F5344CB8AC3E}">
        <p14:creationId xmlns:p14="http://schemas.microsoft.com/office/powerpoint/2010/main" val="3064194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1858237" y="91347"/>
            <a:ext cx="84593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b="1" dirty="0">
                <a:solidFill>
                  <a:srgbClr val="353E49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Data Driven Recommendations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00EEA-588D-574C-93FE-242F13D9E405}"/>
              </a:ext>
            </a:extLst>
          </p:cNvPr>
          <p:cNvSpPr/>
          <p:nvPr/>
        </p:nvSpPr>
        <p:spPr>
          <a:xfrm>
            <a:off x="9315320" y="3696632"/>
            <a:ext cx="2888947" cy="11026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B7069-4010-034E-A699-16B9FF4F3ADF}"/>
              </a:ext>
            </a:extLst>
          </p:cNvPr>
          <p:cNvSpPr/>
          <p:nvPr/>
        </p:nvSpPr>
        <p:spPr>
          <a:xfrm>
            <a:off x="9315320" y="2674128"/>
            <a:ext cx="2888947" cy="103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Flowchart: Manual Input 10">
            <a:extLst>
              <a:ext uri="{FF2B5EF4-FFF2-40B4-BE49-F238E27FC236}">
                <a16:creationId xmlns:a16="http://schemas.microsoft.com/office/drawing/2014/main" id="{B4839F2B-E0EA-5346-846B-3B924B729F11}"/>
              </a:ext>
            </a:extLst>
          </p:cNvPr>
          <p:cNvSpPr/>
          <p:nvPr/>
        </p:nvSpPr>
        <p:spPr>
          <a:xfrm flipH="1" flipV="1">
            <a:off x="8788752" y="3428699"/>
            <a:ext cx="526568" cy="1703598"/>
          </a:xfrm>
          <a:prstGeom prst="flowChartManualInpu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Flowchart: Manual Input 9">
            <a:extLst>
              <a:ext uri="{FF2B5EF4-FFF2-40B4-BE49-F238E27FC236}">
                <a16:creationId xmlns:a16="http://schemas.microsoft.com/office/drawing/2014/main" id="{BD265BED-AA93-5347-B80C-F6E5F4A85CDF}"/>
              </a:ext>
            </a:extLst>
          </p:cNvPr>
          <p:cNvSpPr/>
          <p:nvPr/>
        </p:nvSpPr>
        <p:spPr>
          <a:xfrm flipH="1">
            <a:off x="8788753" y="1322433"/>
            <a:ext cx="526568" cy="1703598"/>
          </a:xfrm>
          <a:prstGeom prst="flowChartManualInpu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6CE1A-7E26-C247-AAEB-6595EBAD0AD3}"/>
              </a:ext>
            </a:extLst>
          </p:cNvPr>
          <p:cNvSpPr/>
          <p:nvPr/>
        </p:nvSpPr>
        <p:spPr>
          <a:xfrm>
            <a:off x="6543105" y="1322433"/>
            <a:ext cx="2245652" cy="12699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71BAA-B5D5-784F-8E1E-BA358E2179F4}"/>
              </a:ext>
            </a:extLst>
          </p:cNvPr>
          <p:cNvSpPr/>
          <p:nvPr/>
        </p:nvSpPr>
        <p:spPr>
          <a:xfrm>
            <a:off x="6543105" y="2592388"/>
            <a:ext cx="2245652" cy="12699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BD8F39-B1A8-BD4C-ACE5-4668EEE1ED45}"/>
              </a:ext>
            </a:extLst>
          </p:cNvPr>
          <p:cNvSpPr/>
          <p:nvPr/>
        </p:nvSpPr>
        <p:spPr>
          <a:xfrm>
            <a:off x="6543104" y="3862343"/>
            <a:ext cx="2245652" cy="1269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Flowchart: Delay 4">
            <a:extLst>
              <a:ext uri="{FF2B5EF4-FFF2-40B4-BE49-F238E27FC236}">
                <a16:creationId xmlns:a16="http://schemas.microsoft.com/office/drawing/2014/main" id="{137D062D-3F90-2546-B63E-0AF70095B8B6}"/>
              </a:ext>
            </a:extLst>
          </p:cNvPr>
          <p:cNvSpPr/>
          <p:nvPr/>
        </p:nvSpPr>
        <p:spPr>
          <a:xfrm flipH="1">
            <a:off x="5397049" y="1322433"/>
            <a:ext cx="1146056" cy="1269955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Flowchart: Delay 5">
            <a:extLst>
              <a:ext uri="{FF2B5EF4-FFF2-40B4-BE49-F238E27FC236}">
                <a16:creationId xmlns:a16="http://schemas.microsoft.com/office/drawing/2014/main" id="{6A8D6CB0-C9B3-9A49-B2EE-45FD7B5F4969}"/>
              </a:ext>
            </a:extLst>
          </p:cNvPr>
          <p:cNvSpPr/>
          <p:nvPr/>
        </p:nvSpPr>
        <p:spPr>
          <a:xfrm flipH="1">
            <a:off x="5397048" y="2592388"/>
            <a:ext cx="1146056" cy="1269955"/>
          </a:xfrm>
          <a:prstGeom prst="flowChartDelay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Flowchart: Delay 6">
            <a:extLst>
              <a:ext uri="{FF2B5EF4-FFF2-40B4-BE49-F238E27FC236}">
                <a16:creationId xmlns:a16="http://schemas.microsoft.com/office/drawing/2014/main" id="{BE99F2BA-C64D-4243-9668-D163BB4B8CFF}"/>
              </a:ext>
            </a:extLst>
          </p:cNvPr>
          <p:cNvSpPr/>
          <p:nvPr/>
        </p:nvSpPr>
        <p:spPr>
          <a:xfrm flipH="1">
            <a:off x="5397048" y="3862343"/>
            <a:ext cx="1146056" cy="1269955"/>
          </a:xfrm>
          <a:prstGeom prst="flowChartDelay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4834E935-B0B3-2A4D-AFA0-61A8D2270681}"/>
              </a:ext>
            </a:extLst>
          </p:cNvPr>
          <p:cNvSpPr/>
          <p:nvPr/>
        </p:nvSpPr>
        <p:spPr>
          <a:xfrm rot="5400000">
            <a:off x="8417062" y="2964084"/>
            <a:ext cx="1269953" cy="526565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BF13B6-4921-0F46-A01F-289FDCD82B48}"/>
              </a:ext>
            </a:extLst>
          </p:cNvPr>
          <p:cNvSpPr/>
          <p:nvPr/>
        </p:nvSpPr>
        <p:spPr>
          <a:xfrm>
            <a:off x="9315321" y="1663152"/>
            <a:ext cx="2888947" cy="107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11F68D-A816-4742-B574-6569503AC81F}"/>
              </a:ext>
            </a:extLst>
          </p:cNvPr>
          <p:cNvSpPr/>
          <p:nvPr/>
        </p:nvSpPr>
        <p:spPr>
          <a:xfrm>
            <a:off x="5544177" y="1521830"/>
            <a:ext cx="878128" cy="878128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DAC6D4-960E-9447-8B21-232D55600B41}"/>
              </a:ext>
            </a:extLst>
          </p:cNvPr>
          <p:cNvSpPr/>
          <p:nvPr/>
        </p:nvSpPr>
        <p:spPr>
          <a:xfrm>
            <a:off x="5544177" y="2757328"/>
            <a:ext cx="878128" cy="878128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498202-0E7F-6F4C-8780-9AB4B9036C23}"/>
              </a:ext>
            </a:extLst>
          </p:cNvPr>
          <p:cNvSpPr/>
          <p:nvPr/>
        </p:nvSpPr>
        <p:spPr>
          <a:xfrm>
            <a:off x="5531010" y="4054773"/>
            <a:ext cx="878128" cy="878128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6FF2E0-99EA-174A-98DD-03C53E704BE0}"/>
              </a:ext>
            </a:extLst>
          </p:cNvPr>
          <p:cNvSpPr/>
          <p:nvPr/>
        </p:nvSpPr>
        <p:spPr>
          <a:xfrm>
            <a:off x="5544177" y="2788302"/>
            <a:ext cx="878128" cy="878128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063"/>
            <a:endParaRPr lang="en-US" sz="89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21CA1A-7F92-4644-9868-8D5005756223}"/>
              </a:ext>
            </a:extLst>
          </p:cNvPr>
          <p:cNvSpPr txBox="1"/>
          <p:nvPr/>
        </p:nvSpPr>
        <p:spPr>
          <a:xfrm>
            <a:off x="731900" y="1412876"/>
            <a:ext cx="4929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defTabSz="914217"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sz="1200" dirty="0"/>
              <a:t>The peak accident hour is around 7.0:00 with ~546789 accidents in the dataset. </a:t>
            </a:r>
          </a:p>
          <a:p>
            <a:r>
              <a:rPr lang="en-US" sz="1200" b="1" dirty="0"/>
              <a:t>Recommendation: </a:t>
            </a:r>
            <a:r>
              <a:rPr lang="en-US" sz="1200" dirty="0"/>
              <a:t>Evening rush hours and late-night periods may require targeted enforcement and campaigns.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C27BE0-2694-1841-A059-A4281046D49C}"/>
              </a:ext>
            </a:extLst>
          </p:cNvPr>
          <p:cNvSpPr txBox="1"/>
          <p:nvPr/>
        </p:nvSpPr>
        <p:spPr>
          <a:xfrm>
            <a:off x="693203" y="2519479"/>
            <a:ext cx="462175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Average severity on Clear conditions: 2.20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Average severity during Rain/Storm: 2.27  T-test p-value = 0.000000. 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Recommendation: </a:t>
            </a:r>
            <a:r>
              <a:rPr lang="en-US" sz="1200" dirty="0">
                <a:solidFill>
                  <a:schemeClr val="tx2"/>
                </a:solidFill>
              </a:rPr>
              <a:t>With p &lt; 0.05, this suggests significantly higher severity in rain/storm, supporting investment in wet-weather driving campaigns, drainage, and roadway friction improvements. </a:t>
            </a:r>
            <a:br>
              <a:rPr lang="en-US" sz="1400" dirty="0">
                <a:solidFill>
                  <a:schemeClr val="tx2"/>
                </a:solidFill>
              </a:rPr>
            </a:b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6E0EBD-7296-5248-A3B1-D2E541CEFA45}"/>
              </a:ext>
            </a:extLst>
          </p:cNvPr>
          <p:cNvSpPr txBox="1"/>
          <p:nvPr/>
        </p:nvSpPr>
        <p:spPr>
          <a:xfrm>
            <a:off x="655001" y="4043679"/>
            <a:ext cx="4675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Average severity in Urban-like areas: 2.09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Average severity in Rural-like areas: 2.25    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Chi-square p-value (Severity x </a:t>
            </a:r>
            <a:r>
              <a:rPr lang="en-US" sz="1200" dirty="0" err="1">
                <a:solidFill>
                  <a:schemeClr val="tx2"/>
                </a:solidFill>
              </a:rPr>
              <a:t>Urban_Rural</a:t>
            </a:r>
            <a:r>
              <a:rPr lang="en-US" sz="1200" dirty="0">
                <a:solidFill>
                  <a:schemeClr val="tx2"/>
                </a:solidFill>
              </a:rPr>
              <a:t>) = 0.000000. </a:t>
            </a:r>
          </a:p>
          <a:p>
            <a:pPr marL="285750" indent="-285750" defTabSz="914217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Recommendation: </a:t>
            </a:r>
            <a:r>
              <a:rPr lang="en-US" sz="1200" dirty="0">
                <a:solidFill>
                  <a:schemeClr val="tx2"/>
                </a:solidFill>
              </a:rPr>
              <a:t>With severity is higher in rural areas, DOT might prioritize EMS response time improvements, lighting, and geometric design improvements on rural roadways. </a:t>
            </a:r>
          </a:p>
        </p:txBody>
      </p:sp>
      <p:sp>
        <p:nvSpPr>
          <p:cNvPr id="30" name="CuadroTexto 350">
            <a:extLst>
              <a:ext uri="{FF2B5EF4-FFF2-40B4-BE49-F238E27FC236}">
                <a16:creationId xmlns:a16="http://schemas.microsoft.com/office/drawing/2014/main" id="{20AA1925-E973-7B48-9360-3DBECEEBD868}"/>
              </a:ext>
            </a:extLst>
          </p:cNvPr>
          <p:cNvSpPr txBox="1"/>
          <p:nvPr/>
        </p:nvSpPr>
        <p:spPr>
          <a:xfrm>
            <a:off x="20479" y="1491375"/>
            <a:ext cx="6703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dirty="0">
                <a:solidFill>
                  <a:srgbClr val="60B5B2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01</a:t>
            </a:r>
          </a:p>
        </p:txBody>
      </p:sp>
      <p:sp>
        <p:nvSpPr>
          <p:cNvPr id="31" name="CuadroTexto 350">
            <a:extLst>
              <a:ext uri="{FF2B5EF4-FFF2-40B4-BE49-F238E27FC236}">
                <a16:creationId xmlns:a16="http://schemas.microsoft.com/office/drawing/2014/main" id="{D871546D-9D77-834B-B888-9357E7A83B91}"/>
              </a:ext>
            </a:extLst>
          </p:cNvPr>
          <p:cNvSpPr txBox="1"/>
          <p:nvPr/>
        </p:nvSpPr>
        <p:spPr>
          <a:xfrm>
            <a:off x="-72136" y="2767527"/>
            <a:ext cx="8146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4000" dirty="0">
                <a:solidFill>
                  <a:srgbClr val="FCBB47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02</a:t>
            </a:r>
          </a:p>
        </p:txBody>
      </p:sp>
      <p:sp>
        <p:nvSpPr>
          <p:cNvPr id="32" name="CuadroTexto 350">
            <a:extLst>
              <a:ext uri="{FF2B5EF4-FFF2-40B4-BE49-F238E27FC236}">
                <a16:creationId xmlns:a16="http://schemas.microsoft.com/office/drawing/2014/main" id="{7C32E600-0652-0F40-B6F7-3CA1D108DA83}"/>
              </a:ext>
            </a:extLst>
          </p:cNvPr>
          <p:cNvSpPr txBox="1"/>
          <p:nvPr/>
        </p:nvSpPr>
        <p:spPr>
          <a:xfrm>
            <a:off x="-47546" y="4180102"/>
            <a:ext cx="808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4000" dirty="0">
                <a:solidFill>
                  <a:srgbClr val="358DDC"/>
                </a:solidFill>
                <a:latin typeface="Poppins" pitchFamily="2" charset="77"/>
                <a:ea typeface="Lato Heavy" charset="0"/>
                <a:cs typeface="Poppins" pitchFamily="2" charset="77"/>
              </a:rPr>
              <a:t>03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272E75-26BA-CA46-8CEF-21A28A687C39}"/>
              </a:ext>
            </a:extLst>
          </p:cNvPr>
          <p:cNvSpPr/>
          <p:nvPr/>
        </p:nvSpPr>
        <p:spPr>
          <a:xfrm>
            <a:off x="10111023" y="2016945"/>
            <a:ext cx="1320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Temporal Hotspot</a:t>
            </a:r>
            <a:endParaRPr lang="en-US" sz="2700" b="1" dirty="0">
              <a:solidFill>
                <a:srgbClr val="FFFFFF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7C5433-8967-CA4A-949A-D100D4467F05}"/>
              </a:ext>
            </a:extLst>
          </p:cNvPr>
          <p:cNvSpPr/>
          <p:nvPr/>
        </p:nvSpPr>
        <p:spPr>
          <a:xfrm>
            <a:off x="10129446" y="2754860"/>
            <a:ext cx="13202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Weather and Severity</a:t>
            </a:r>
            <a:endParaRPr lang="en-US" sz="2700" b="1" dirty="0">
              <a:solidFill>
                <a:srgbClr val="FFFFFF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11C660-C33E-3248-9120-2E1EFEFE2A2E}"/>
              </a:ext>
            </a:extLst>
          </p:cNvPr>
          <p:cNvSpPr/>
          <p:nvPr/>
        </p:nvSpPr>
        <p:spPr>
          <a:xfrm>
            <a:off x="10111023" y="4118462"/>
            <a:ext cx="1320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217"/>
            <a:r>
              <a:rPr lang="en-US" b="1" dirty="0">
                <a:solidFill>
                  <a:srgbClr val="FFFFFF"/>
                </a:solidFill>
                <a:latin typeface="Poppins SemiBold" pitchFamily="2" charset="77"/>
                <a:ea typeface="Roboto Medium" panose="02000000000000000000" pitchFamily="2" charset="0"/>
                <a:cs typeface="Montserrat" charset="0"/>
              </a:rPr>
              <a:t>Location</a:t>
            </a:r>
            <a:endParaRPr lang="en-US" sz="2700" b="1" dirty="0">
              <a:solidFill>
                <a:srgbClr val="FFFFFF"/>
              </a:solidFill>
              <a:latin typeface="Poppins SemiBold" pitchFamily="2" charset="77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36" name="Gráfico 65">
            <a:extLst>
              <a:ext uri="{FF2B5EF4-FFF2-40B4-BE49-F238E27FC236}">
                <a16:creationId xmlns:a16="http://schemas.microsoft.com/office/drawing/2014/main" id="{CC299DE7-F8AC-5448-AAD7-5F7758241B97}"/>
              </a:ext>
            </a:extLst>
          </p:cNvPr>
          <p:cNvSpPr/>
          <p:nvPr/>
        </p:nvSpPr>
        <p:spPr>
          <a:xfrm>
            <a:off x="5746613" y="4180102"/>
            <a:ext cx="398062" cy="682369"/>
          </a:xfrm>
          <a:custGeom>
            <a:avLst/>
            <a:gdLst>
              <a:gd name="connsiteX0" fmla="*/ 326255 w 332996"/>
              <a:gd name="connsiteY0" fmla="*/ 297911 h 570831"/>
              <a:gd name="connsiteX1" fmla="*/ 249020 w 332996"/>
              <a:gd name="connsiteY1" fmla="*/ 216294 h 570831"/>
              <a:gd name="connsiteX2" fmla="*/ 239269 w 332996"/>
              <a:gd name="connsiteY2" fmla="*/ 140931 h 570831"/>
              <a:gd name="connsiteX3" fmla="*/ 285422 w 332996"/>
              <a:gd name="connsiteY3" fmla="*/ 47569 h 570831"/>
              <a:gd name="connsiteX4" fmla="*/ 166498 w 332996"/>
              <a:gd name="connsiteY4" fmla="*/ 0 h 570831"/>
              <a:gd name="connsiteX5" fmla="*/ 47575 w 332996"/>
              <a:gd name="connsiteY5" fmla="*/ 47570 h 570831"/>
              <a:gd name="connsiteX6" fmla="*/ 93733 w 332996"/>
              <a:gd name="connsiteY6" fmla="*/ 140935 h 570831"/>
              <a:gd name="connsiteX7" fmla="*/ 83953 w 332996"/>
              <a:gd name="connsiteY7" fmla="*/ 216316 h 570831"/>
              <a:gd name="connsiteX8" fmla="*/ 6742 w 332996"/>
              <a:gd name="connsiteY8" fmla="*/ 297911 h 570831"/>
              <a:gd name="connsiteX9" fmla="*/ 3142 w 332996"/>
              <a:gd name="connsiteY9" fmla="*/ 345237 h 570831"/>
              <a:gd name="connsiteX10" fmla="*/ 30259 w 332996"/>
              <a:gd name="connsiteY10" fmla="*/ 377592 h 570831"/>
              <a:gd name="connsiteX11" fmla="*/ 144886 w 332996"/>
              <a:gd name="connsiteY11" fmla="*/ 403730 h 570831"/>
              <a:gd name="connsiteX12" fmla="*/ 154629 w 332996"/>
              <a:gd name="connsiteY12" fmla="*/ 559682 h 570831"/>
              <a:gd name="connsiteX13" fmla="*/ 166498 w 332996"/>
              <a:gd name="connsiteY13" fmla="*/ 570831 h 570831"/>
              <a:gd name="connsiteX14" fmla="*/ 178368 w 332996"/>
              <a:gd name="connsiteY14" fmla="*/ 559682 h 570831"/>
              <a:gd name="connsiteX15" fmla="*/ 188112 w 332996"/>
              <a:gd name="connsiteY15" fmla="*/ 403730 h 570831"/>
              <a:gd name="connsiteX16" fmla="*/ 302726 w 332996"/>
              <a:gd name="connsiteY16" fmla="*/ 377604 h 570831"/>
              <a:gd name="connsiteX17" fmla="*/ 329855 w 332996"/>
              <a:gd name="connsiteY17" fmla="*/ 345237 h 570831"/>
              <a:gd name="connsiteX18" fmla="*/ 326255 w 332996"/>
              <a:gd name="connsiteY18" fmla="*/ 297911 h 570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2996" h="570831">
                <a:moveTo>
                  <a:pt x="326255" y="297911"/>
                </a:moveTo>
                <a:cubicBezTo>
                  <a:pt x="308699" y="264673"/>
                  <a:pt x="281308" y="236110"/>
                  <a:pt x="249020" y="216294"/>
                </a:cubicBezTo>
                <a:lnTo>
                  <a:pt x="239269" y="140931"/>
                </a:lnTo>
                <a:cubicBezTo>
                  <a:pt x="267145" y="119146"/>
                  <a:pt x="285422" y="85605"/>
                  <a:pt x="285422" y="47569"/>
                </a:cubicBezTo>
                <a:cubicBezTo>
                  <a:pt x="285422" y="14888"/>
                  <a:pt x="223777" y="0"/>
                  <a:pt x="166498" y="0"/>
                </a:cubicBezTo>
                <a:cubicBezTo>
                  <a:pt x="109220" y="0"/>
                  <a:pt x="47575" y="14888"/>
                  <a:pt x="47575" y="47570"/>
                </a:cubicBezTo>
                <a:cubicBezTo>
                  <a:pt x="47575" y="85608"/>
                  <a:pt x="65854" y="119151"/>
                  <a:pt x="93733" y="140935"/>
                </a:cubicBezTo>
                <a:lnTo>
                  <a:pt x="83953" y="216316"/>
                </a:lnTo>
                <a:cubicBezTo>
                  <a:pt x="51680" y="236114"/>
                  <a:pt x="24299" y="264659"/>
                  <a:pt x="6742" y="297911"/>
                </a:cubicBezTo>
                <a:cubicBezTo>
                  <a:pt x="-761" y="312092"/>
                  <a:pt x="-2062" y="329349"/>
                  <a:pt x="3142" y="345237"/>
                </a:cubicBezTo>
                <a:cubicBezTo>
                  <a:pt x="7903" y="359765"/>
                  <a:pt x="17798" y="371553"/>
                  <a:pt x="30259" y="377592"/>
                </a:cubicBezTo>
                <a:cubicBezTo>
                  <a:pt x="67647" y="395720"/>
                  <a:pt x="110303" y="402020"/>
                  <a:pt x="144886" y="403730"/>
                </a:cubicBezTo>
                <a:lnTo>
                  <a:pt x="154629" y="559682"/>
                </a:lnTo>
                <a:cubicBezTo>
                  <a:pt x="155024" y="565953"/>
                  <a:pt x="160215" y="570831"/>
                  <a:pt x="166498" y="570831"/>
                </a:cubicBezTo>
                <a:cubicBezTo>
                  <a:pt x="172781" y="570831"/>
                  <a:pt x="177973" y="565953"/>
                  <a:pt x="178368" y="559682"/>
                </a:cubicBezTo>
                <a:lnTo>
                  <a:pt x="188112" y="403730"/>
                </a:lnTo>
                <a:cubicBezTo>
                  <a:pt x="222694" y="402020"/>
                  <a:pt x="265349" y="395721"/>
                  <a:pt x="302726" y="377604"/>
                </a:cubicBezTo>
                <a:cubicBezTo>
                  <a:pt x="315200" y="371553"/>
                  <a:pt x="325095" y="359765"/>
                  <a:pt x="329855" y="345237"/>
                </a:cubicBezTo>
                <a:cubicBezTo>
                  <a:pt x="335057" y="329349"/>
                  <a:pt x="333757" y="312092"/>
                  <a:pt x="326255" y="297911"/>
                </a:cubicBezTo>
                <a:close/>
              </a:path>
            </a:pathLst>
          </a:custGeom>
          <a:solidFill>
            <a:schemeClr val="accent3"/>
          </a:solidFill>
          <a:ln w="1098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8" name="Forma libre 136">
            <a:extLst>
              <a:ext uri="{FF2B5EF4-FFF2-40B4-BE49-F238E27FC236}">
                <a16:creationId xmlns:a16="http://schemas.microsoft.com/office/drawing/2014/main" id="{0B72CC04-0221-FD42-ACA0-2B9580D707D1}"/>
              </a:ext>
            </a:extLst>
          </p:cNvPr>
          <p:cNvSpPr/>
          <p:nvPr/>
        </p:nvSpPr>
        <p:spPr>
          <a:xfrm rot="10800000">
            <a:off x="5828867" y="3047119"/>
            <a:ext cx="303457" cy="394495"/>
          </a:xfrm>
          <a:custGeom>
            <a:avLst/>
            <a:gdLst>
              <a:gd name="connsiteX0" fmla="*/ 285419 w 356769"/>
              <a:gd name="connsiteY0" fmla="*/ 143620 h 463800"/>
              <a:gd name="connsiteX1" fmla="*/ 285419 w 356769"/>
              <a:gd name="connsiteY1" fmla="*/ 0 h 463800"/>
              <a:gd name="connsiteX2" fmla="*/ 71357 w 356769"/>
              <a:gd name="connsiteY2" fmla="*/ 0 h 463800"/>
              <a:gd name="connsiteX3" fmla="*/ 71357 w 356769"/>
              <a:gd name="connsiteY3" fmla="*/ 143620 h 463800"/>
              <a:gd name="connsiteX4" fmla="*/ 3 w 356769"/>
              <a:gd name="connsiteY4" fmla="*/ 285416 h 463800"/>
              <a:gd name="connsiteX5" fmla="*/ 178388 w 356769"/>
              <a:gd name="connsiteY5" fmla="*/ 463800 h 463800"/>
              <a:gd name="connsiteX6" fmla="*/ 356772 w 356769"/>
              <a:gd name="connsiteY6" fmla="*/ 285416 h 463800"/>
              <a:gd name="connsiteX7" fmla="*/ 285419 w 356769"/>
              <a:gd name="connsiteY7" fmla="*/ 143620 h 46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769" h="463800">
                <a:moveTo>
                  <a:pt x="285419" y="143620"/>
                </a:moveTo>
                <a:lnTo>
                  <a:pt x="285419" y="0"/>
                </a:lnTo>
                <a:lnTo>
                  <a:pt x="71357" y="0"/>
                </a:lnTo>
                <a:lnTo>
                  <a:pt x="71357" y="143620"/>
                </a:lnTo>
                <a:cubicBezTo>
                  <a:pt x="28296" y="176216"/>
                  <a:pt x="3" y="227373"/>
                  <a:pt x="3" y="285416"/>
                </a:cubicBezTo>
                <a:cubicBezTo>
                  <a:pt x="3" y="383771"/>
                  <a:pt x="80032" y="463800"/>
                  <a:pt x="178388" y="463800"/>
                </a:cubicBezTo>
                <a:cubicBezTo>
                  <a:pt x="276743" y="463800"/>
                  <a:pt x="356772" y="383771"/>
                  <a:pt x="356772" y="285416"/>
                </a:cubicBezTo>
                <a:cubicBezTo>
                  <a:pt x="356772" y="227373"/>
                  <a:pt x="328480" y="176216"/>
                  <a:pt x="285419" y="143620"/>
                </a:cubicBezTo>
                <a:close/>
              </a:path>
            </a:pathLst>
          </a:custGeom>
          <a:solidFill>
            <a:schemeClr val="accent2"/>
          </a:solidFill>
          <a:ln w="35123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39" name="Forma libre 137">
            <a:extLst>
              <a:ext uri="{FF2B5EF4-FFF2-40B4-BE49-F238E27FC236}">
                <a16:creationId xmlns:a16="http://schemas.microsoft.com/office/drawing/2014/main" id="{9F5DBE88-FC34-664A-8507-472FAD5F86C1}"/>
              </a:ext>
            </a:extLst>
          </p:cNvPr>
          <p:cNvSpPr/>
          <p:nvPr/>
        </p:nvSpPr>
        <p:spPr>
          <a:xfrm rot="10800000">
            <a:off x="5950250" y="2956083"/>
            <a:ext cx="60691" cy="60691"/>
          </a:xfrm>
          <a:custGeom>
            <a:avLst/>
            <a:gdLst>
              <a:gd name="connsiteX0" fmla="*/ 7 w 71353"/>
              <a:gd name="connsiteY0" fmla="*/ 14 h 71353"/>
              <a:gd name="connsiteX1" fmla="*/ 71361 w 71353"/>
              <a:gd name="connsiteY1" fmla="*/ 14 h 71353"/>
              <a:gd name="connsiteX2" fmla="*/ 71361 w 71353"/>
              <a:gd name="connsiteY2" fmla="*/ 71368 h 71353"/>
              <a:gd name="connsiteX3" fmla="*/ 7 w 71353"/>
              <a:gd name="connsiteY3" fmla="*/ 71368 h 7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53" h="71353">
                <a:moveTo>
                  <a:pt x="7" y="14"/>
                </a:moveTo>
                <a:lnTo>
                  <a:pt x="71361" y="14"/>
                </a:lnTo>
                <a:lnTo>
                  <a:pt x="71361" y="71368"/>
                </a:lnTo>
                <a:lnTo>
                  <a:pt x="7" y="71368"/>
                </a:lnTo>
                <a:close/>
              </a:path>
            </a:pathLst>
          </a:custGeom>
          <a:solidFill>
            <a:schemeClr val="accent2"/>
          </a:solidFill>
          <a:ln w="35123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0" name="Forma libre 138">
            <a:extLst>
              <a:ext uri="{FF2B5EF4-FFF2-40B4-BE49-F238E27FC236}">
                <a16:creationId xmlns:a16="http://schemas.microsoft.com/office/drawing/2014/main" id="{42369A96-113E-EA40-BAC6-C387AC07B91D}"/>
              </a:ext>
            </a:extLst>
          </p:cNvPr>
          <p:cNvSpPr/>
          <p:nvPr/>
        </p:nvSpPr>
        <p:spPr>
          <a:xfrm rot="10800000">
            <a:off x="5737829" y="3168503"/>
            <a:ext cx="60691" cy="60691"/>
          </a:xfrm>
          <a:custGeom>
            <a:avLst/>
            <a:gdLst>
              <a:gd name="connsiteX0" fmla="*/ 14 w 71353"/>
              <a:gd name="connsiteY0" fmla="*/ 7 h 71353"/>
              <a:gd name="connsiteX1" fmla="*/ 71368 w 71353"/>
              <a:gd name="connsiteY1" fmla="*/ 7 h 71353"/>
              <a:gd name="connsiteX2" fmla="*/ 71368 w 71353"/>
              <a:gd name="connsiteY2" fmla="*/ 71361 h 71353"/>
              <a:gd name="connsiteX3" fmla="*/ 14 w 71353"/>
              <a:gd name="connsiteY3" fmla="*/ 71361 h 7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53" h="71353">
                <a:moveTo>
                  <a:pt x="14" y="7"/>
                </a:moveTo>
                <a:lnTo>
                  <a:pt x="71368" y="7"/>
                </a:lnTo>
                <a:lnTo>
                  <a:pt x="71368" y="71361"/>
                </a:lnTo>
                <a:lnTo>
                  <a:pt x="14" y="71361"/>
                </a:lnTo>
                <a:close/>
              </a:path>
            </a:pathLst>
          </a:custGeom>
          <a:solidFill>
            <a:schemeClr val="accent2"/>
          </a:solidFill>
          <a:ln w="35123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1" name="Forma libre 139">
            <a:extLst>
              <a:ext uri="{FF2B5EF4-FFF2-40B4-BE49-F238E27FC236}">
                <a16:creationId xmlns:a16="http://schemas.microsoft.com/office/drawing/2014/main" id="{1AA93741-3356-0649-860A-480784C85A8F}"/>
              </a:ext>
            </a:extLst>
          </p:cNvPr>
          <p:cNvSpPr/>
          <p:nvPr/>
        </p:nvSpPr>
        <p:spPr>
          <a:xfrm rot="10800000">
            <a:off x="6162669" y="3168503"/>
            <a:ext cx="60691" cy="60691"/>
          </a:xfrm>
          <a:custGeom>
            <a:avLst/>
            <a:gdLst>
              <a:gd name="connsiteX0" fmla="*/ 0 w 71353"/>
              <a:gd name="connsiteY0" fmla="*/ 7 h 71353"/>
              <a:gd name="connsiteX1" fmla="*/ 71354 w 71353"/>
              <a:gd name="connsiteY1" fmla="*/ 7 h 71353"/>
              <a:gd name="connsiteX2" fmla="*/ 71354 w 71353"/>
              <a:gd name="connsiteY2" fmla="*/ 71361 h 71353"/>
              <a:gd name="connsiteX3" fmla="*/ 0 w 71353"/>
              <a:gd name="connsiteY3" fmla="*/ 71361 h 7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53" h="71353">
                <a:moveTo>
                  <a:pt x="0" y="7"/>
                </a:moveTo>
                <a:lnTo>
                  <a:pt x="71354" y="7"/>
                </a:lnTo>
                <a:lnTo>
                  <a:pt x="71354" y="71361"/>
                </a:lnTo>
                <a:lnTo>
                  <a:pt x="0" y="71361"/>
                </a:lnTo>
                <a:close/>
              </a:path>
            </a:pathLst>
          </a:custGeom>
          <a:solidFill>
            <a:schemeClr val="accent2"/>
          </a:solidFill>
          <a:ln w="35123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2" name="Forma libre 140">
            <a:extLst>
              <a:ext uri="{FF2B5EF4-FFF2-40B4-BE49-F238E27FC236}">
                <a16:creationId xmlns:a16="http://schemas.microsoft.com/office/drawing/2014/main" id="{414DFD74-17A8-214E-801E-93D39C689CFE}"/>
              </a:ext>
            </a:extLst>
          </p:cNvPr>
          <p:cNvSpPr/>
          <p:nvPr/>
        </p:nvSpPr>
        <p:spPr>
          <a:xfrm rot="8100000">
            <a:off x="6100504" y="3018321"/>
            <a:ext cx="60676" cy="60676"/>
          </a:xfrm>
          <a:custGeom>
            <a:avLst/>
            <a:gdLst>
              <a:gd name="connsiteX0" fmla="*/ 2 w 71335"/>
              <a:gd name="connsiteY0" fmla="*/ 12 h 71335"/>
              <a:gd name="connsiteX1" fmla="*/ 71338 w 71335"/>
              <a:gd name="connsiteY1" fmla="*/ 12 h 71335"/>
              <a:gd name="connsiteX2" fmla="*/ 71338 w 71335"/>
              <a:gd name="connsiteY2" fmla="*/ 71348 h 71335"/>
              <a:gd name="connsiteX3" fmla="*/ 2 w 71335"/>
              <a:gd name="connsiteY3" fmla="*/ 71348 h 71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35" h="71335">
                <a:moveTo>
                  <a:pt x="2" y="12"/>
                </a:moveTo>
                <a:lnTo>
                  <a:pt x="71338" y="12"/>
                </a:lnTo>
                <a:lnTo>
                  <a:pt x="71338" y="71348"/>
                </a:lnTo>
                <a:lnTo>
                  <a:pt x="2" y="71348"/>
                </a:lnTo>
                <a:close/>
              </a:path>
            </a:pathLst>
          </a:custGeom>
          <a:solidFill>
            <a:schemeClr val="accent2"/>
          </a:solidFill>
          <a:ln w="35118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3" name="Forma libre 141">
            <a:extLst>
              <a:ext uri="{FF2B5EF4-FFF2-40B4-BE49-F238E27FC236}">
                <a16:creationId xmlns:a16="http://schemas.microsoft.com/office/drawing/2014/main" id="{378B5270-7999-3E49-B516-C91EF53D75DC}"/>
              </a:ext>
            </a:extLst>
          </p:cNvPr>
          <p:cNvSpPr/>
          <p:nvPr/>
        </p:nvSpPr>
        <p:spPr>
          <a:xfrm rot="8100000">
            <a:off x="5800111" y="3318701"/>
            <a:ext cx="60676" cy="60676"/>
          </a:xfrm>
          <a:custGeom>
            <a:avLst/>
            <a:gdLst>
              <a:gd name="connsiteX0" fmla="*/ 12 w 71335"/>
              <a:gd name="connsiteY0" fmla="*/ 2 h 71335"/>
              <a:gd name="connsiteX1" fmla="*/ 71348 w 71335"/>
              <a:gd name="connsiteY1" fmla="*/ 2 h 71335"/>
              <a:gd name="connsiteX2" fmla="*/ 71348 w 71335"/>
              <a:gd name="connsiteY2" fmla="*/ 71338 h 71335"/>
              <a:gd name="connsiteX3" fmla="*/ 12 w 71335"/>
              <a:gd name="connsiteY3" fmla="*/ 71338 h 71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35" h="71335">
                <a:moveTo>
                  <a:pt x="12" y="2"/>
                </a:moveTo>
                <a:lnTo>
                  <a:pt x="71348" y="2"/>
                </a:lnTo>
                <a:lnTo>
                  <a:pt x="71348" y="71338"/>
                </a:lnTo>
                <a:lnTo>
                  <a:pt x="12" y="71338"/>
                </a:lnTo>
                <a:close/>
              </a:path>
            </a:pathLst>
          </a:custGeom>
          <a:solidFill>
            <a:schemeClr val="accent2"/>
          </a:solidFill>
          <a:ln w="35118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6" name="Forma libre 142">
            <a:extLst>
              <a:ext uri="{FF2B5EF4-FFF2-40B4-BE49-F238E27FC236}">
                <a16:creationId xmlns:a16="http://schemas.microsoft.com/office/drawing/2014/main" id="{927768FD-052F-AC45-B52C-680AB307C16D}"/>
              </a:ext>
            </a:extLst>
          </p:cNvPr>
          <p:cNvSpPr/>
          <p:nvPr/>
        </p:nvSpPr>
        <p:spPr>
          <a:xfrm rot="8100000">
            <a:off x="5800133" y="3018299"/>
            <a:ext cx="60676" cy="60676"/>
          </a:xfrm>
          <a:custGeom>
            <a:avLst/>
            <a:gdLst>
              <a:gd name="connsiteX0" fmla="*/ 12 w 71335"/>
              <a:gd name="connsiteY0" fmla="*/ 12 h 71335"/>
              <a:gd name="connsiteX1" fmla="*/ 71348 w 71335"/>
              <a:gd name="connsiteY1" fmla="*/ 12 h 71335"/>
              <a:gd name="connsiteX2" fmla="*/ 71348 w 71335"/>
              <a:gd name="connsiteY2" fmla="*/ 71348 h 71335"/>
              <a:gd name="connsiteX3" fmla="*/ 12 w 71335"/>
              <a:gd name="connsiteY3" fmla="*/ 71348 h 71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35" h="71335">
                <a:moveTo>
                  <a:pt x="12" y="12"/>
                </a:moveTo>
                <a:lnTo>
                  <a:pt x="71348" y="12"/>
                </a:lnTo>
                <a:lnTo>
                  <a:pt x="71348" y="71348"/>
                </a:lnTo>
                <a:lnTo>
                  <a:pt x="12" y="71348"/>
                </a:lnTo>
                <a:close/>
              </a:path>
            </a:pathLst>
          </a:custGeom>
          <a:solidFill>
            <a:schemeClr val="accent2"/>
          </a:solidFill>
          <a:ln w="35118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7" name="Forma libre 143">
            <a:extLst>
              <a:ext uri="{FF2B5EF4-FFF2-40B4-BE49-F238E27FC236}">
                <a16:creationId xmlns:a16="http://schemas.microsoft.com/office/drawing/2014/main" id="{19B55BD7-F2E7-D04C-B778-9681D7F6DC01}"/>
              </a:ext>
            </a:extLst>
          </p:cNvPr>
          <p:cNvSpPr/>
          <p:nvPr/>
        </p:nvSpPr>
        <p:spPr>
          <a:xfrm rot="8100000">
            <a:off x="6100483" y="3318722"/>
            <a:ext cx="60676" cy="60676"/>
          </a:xfrm>
          <a:custGeom>
            <a:avLst/>
            <a:gdLst>
              <a:gd name="connsiteX0" fmla="*/ 2 w 71335"/>
              <a:gd name="connsiteY0" fmla="*/ 2 h 71335"/>
              <a:gd name="connsiteX1" fmla="*/ 71338 w 71335"/>
              <a:gd name="connsiteY1" fmla="*/ 2 h 71335"/>
              <a:gd name="connsiteX2" fmla="*/ 71338 w 71335"/>
              <a:gd name="connsiteY2" fmla="*/ 71338 h 71335"/>
              <a:gd name="connsiteX3" fmla="*/ 2 w 71335"/>
              <a:gd name="connsiteY3" fmla="*/ 71338 h 71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35" h="71335">
                <a:moveTo>
                  <a:pt x="2" y="2"/>
                </a:moveTo>
                <a:lnTo>
                  <a:pt x="71338" y="2"/>
                </a:lnTo>
                <a:lnTo>
                  <a:pt x="71338" y="71338"/>
                </a:lnTo>
                <a:lnTo>
                  <a:pt x="2" y="71338"/>
                </a:lnTo>
                <a:close/>
              </a:path>
            </a:pathLst>
          </a:custGeom>
          <a:solidFill>
            <a:schemeClr val="accent2"/>
          </a:solidFill>
          <a:ln w="35118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49" name="Forma libre 117">
            <a:extLst>
              <a:ext uri="{FF2B5EF4-FFF2-40B4-BE49-F238E27FC236}">
                <a16:creationId xmlns:a16="http://schemas.microsoft.com/office/drawing/2014/main" id="{780C68B5-829F-CE4B-ADE0-D9717EDD620A}"/>
              </a:ext>
            </a:extLst>
          </p:cNvPr>
          <p:cNvSpPr/>
          <p:nvPr/>
        </p:nvSpPr>
        <p:spPr>
          <a:xfrm>
            <a:off x="5841091" y="1865327"/>
            <a:ext cx="79639" cy="79639"/>
          </a:xfrm>
          <a:custGeom>
            <a:avLst/>
            <a:gdLst>
              <a:gd name="connsiteX0" fmla="*/ 76134 w 89192"/>
              <a:gd name="connsiteY0" fmla="*/ 13067 h 89192"/>
              <a:gd name="connsiteX1" fmla="*/ 76134 w 89192"/>
              <a:gd name="connsiteY1" fmla="*/ 76135 h 89192"/>
              <a:gd name="connsiteX2" fmla="*/ 13066 w 89192"/>
              <a:gd name="connsiteY2" fmla="*/ 76135 h 89192"/>
              <a:gd name="connsiteX3" fmla="*/ 13066 w 89192"/>
              <a:gd name="connsiteY3" fmla="*/ 13067 h 89192"/>
              <a:gd name="connsiteX4" fmla="*/ 76134 w 89192"/>
              <a:gd name="connsiteY4" fmla="*/ 13067 h 8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192" h="89192">
                <a:moveTo>
                  <a:pt x="76134" y="13067"/>
                </a:moveTo>
                <a:cubicBezTo>
                  <a:pt x="93550" y="30483"/>
                  <a:pt x="93550" y="58719"/>
                  <a:pt x="76134" y="76135"/>
                </a:cubicBezTo>
                <a:cubicBezTo>
                  <a:pt x="58719" y="93551"/>
                  <a:pt x="30482" y="93551"/>
                  <a:pt x="13066" y="76135"/>
                </a:cubicBezTo>
                <a:cubicBezTo>
                  <a:pt x="-4350" y="58720"/>
                  <a:pt x="-4350" y="30483"/>
                  <a:pt x="13066" y="13067"/>
                </a:cubicBezTo>
                <a:cubicBezTo>
                  <a:pt x="30482" y="-4349"/>
                  <a:pt x="58718" y="-4349"/>
                  <a:pt x="76134" y="13067"/>
                </a:cubicBezTo>
              </a:path>
            </a:pathLst>
          </a:custGeom>
          <a:solidFill>
            <a:schemeClr val="accent1"/>
          </a:solidFill>
          <a:ln w="35123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0" name="Forma libre 118">
            <a:extLst>
              <a:ext uri="{FF2B5EF4-FFF2-40B4-BE49-F238E27FC236}">
                <a16:creationId xmlns:a16="http://schemas.microsoft.com/office/drawing/2014/main" id="{3C16F1E2-E24C-EB45-9D09-09C900186022}"/>
              </a:ext>
            </a:extLst>
          </p:cNvPr>
          <p:cNvSpPr/>
          <p:nvPr/>
        </p:nvSpPr>
        <p:spPr>
          <a:xfrm>
            <a:off x="6016299" y="1865327"/>
            <a:ext cx="79639" cy="79639"/>
          </a:xfrm>
          <a:custGeom>
            <a:avLst/>
            <a:gdLst>
              <a:gd name="connsiteX0" fmla="*/ 76140 w 89192"/>
              <a:gd name="connsiteY0" fmla="*/ 13067 h 89192"/>
              <a:gd name="connsiteX1" fmla="*/ 76140 w 89192"/>
              <a:gd name="connsiteY1" fmla="*/ 76135 h 89192"/>
              <a:gd name="connsiteX2" fmla="*/ 13071 w 89192"/>
              <a:gd name="connsiteY2" fmla="*/ 76135 h 89192"/>
              <a:gd name="connsiteX3" fmla="*/ 13071 w 89192"/>
              <a:gd name="connsiteY3" fmla="*/ 13067 h 89192"/>
              <a:gd name="connsiteX4" fmla="*/ 76140 w 89192"/>
              <a:gd name="connsiteY4" fmla="*/ 13067 h 89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192" h="89192">
                <a:moveTo>
                  <a:pt x="76140" y="13067"/>
                </a:moveTo>
                <a:cubicBezTo>
                  <a:pt x="93556" y="30483"/>
                  <a:pt x="93556" y="58719"/>
                  <a:pt x="76140" y="76135"/>
                </a:cubicBezTo>
                <a:cubicBezTo>
                  <a:pt x="58724" y="93551"/>
                  <a:pt x="30487" y="93551"/>
                  <a:pt x="13071" y="76135"/>
                </a:cubicBezTo>
                <a:cubicBezTo>
                  <a:pt x="-4345" y="58720"/>
                  <a:pt x="-4345" y="30483"/>
                  <a:pt x="13071" y="13067"/>
                </a:cubicBezTo>
                <a:cubicBezTo>
                  <a:pt x="30487" y="-4349"/>
                  <a:pt x="58724" y="-4349"/>
                  <a:pt x="76140" y="13067"/>
                </a:cubicBezTo>
              </a:path>
            </a:pathLst>
          </a:custGeom>
          <a:solidFill>
            <a:schemeClr val="accent1"/>
          </a:solidFill>
          <a:ln w="35123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1" name="Forma libre 119">
            <a:extLst>
              <a:ext uri="{FF2B5EF4-FFF2-40B4-BE49-F238E27FC236}">
                <a16:creationId xmlns:a16="http://schemas.microsoft.com/office/drawing/2014/main" id="{94A98282-1219-814D-AB50-4B86E0A0ABA8}"/>
              </a:ext>
            </a:extLst>
          </p:cNvPr>
          <p:cNvSpPr/>
          <p:nvPr/>
        </p:nvSpPr>
        <p:spPr>
          <a:xfrm>
            <a:off x="5713668" y="1706047"/>
            <a:ext cx="509692" cy="509692"/>
          </a:xfrm>
          <a:custGeom>
            <a:avLst/>
            <a:gdLst>
              <a:gd name="connsiteX0" fmla="*/ 285416 w 570831"/>
              <a:gd name="connsiteY0" fmla="*/ 0 h 570831"/>
              <a:gd name="connsiteX1" fmla="*/ 0 w 570831"/>
              <a:gd name="connsiteY1" fmla="*/ 285416 h 570831"/>
              <a:gd name="connsiteX2" fmla="*/ 285416 w 570831"/>
              <a:gd name="connsiteY2" fmla="*/ 570831 h 570831"/>
              <a:gd name="connsiteX3" fmla="*/ 570831 w 570831"/>
              <a:gd name="connsiteY3" fmla="*/ 285416 h 570831"/>
              <a:gd name="connsiteX4" fmla="*/ 285416 w 570831"/>
              <a:gd name="connsiteY4" fmla="*/ 0 h 570831"/>
              <a:gd name="connsiteX5" fmla="*/ 285416 w 570831"/>
              <a:gd name="connsiteY5" fmla="*/ 499477 h 570831"/>
              <a:gd name="connsiteX6" fmla="*/ 71354 w 570831"/>
              <a:gd name="connsiteY6" fmla="*/ 285416 h 570831"/>
              <a:gd name="connsiteX7" fmla="*/ 285416 w 570831"/>
              <a:gd name="connsiteY7" fmla="*/ 71354 h 570831"/>
              <a:gd name="connsiteX8" fmla="*/ 499477 w 570831"/>
              <a:gd name="connsiteY8" fmla="*/ 285416 h 570831"/>
              <a:gd name="connsiteX9" fmla="*/ 285416 w 570831"/>
              <a:gd name="connsiteY9" fmla="*/ 499477 h 570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0831" h="570831">
                <a:moveTo>
                  <a:pt x="285416" y="0"/>
                </a:moveTo>
                <a:cubicBezTo>
                  <a:pt x="128040" y="0"/>
                  <a:pt x="0" y="128040"/>
                  <a:pt x="0" y="285416"/>
                </a:cubicBezTo>
                <a:cubicBezTo>
                  <a:pt x="0" y="442791"/>
                  <a:pt x="128040" y="570831"/>
                  <a:pt x="285416" y="570831"/>
                </a:cubicBezTo>
                <a:cubicBezTo>
                  <a:pt x="442791" y="570831"/>
                  <a:pt x="570831" y="442791"/>
                  <a:pt x="570831" y="285416"/>
                </a:cubicBezTo>
                <a:cubicBezTo>
                  <a:pt x="570831" y="128040"/>
                  <a:pt x="442791" y="0"/>
                  <a:pt x="285416" y="0"/>
                </a:cubicBezTo>
                <a:close/>
                <a:moveTo>
                  <a:pt x="285416" y="499477"/>
                </a:moveTo>
                <a:cubicBezTo>
                  <a:pt x="167375" y="499477"/>
                  <a:pt x="71354" y="403456"/>
                  <a:pt x="71354" y="285416"/>
                </a:cubicBezTo>
                <a:cubicBezTo>
                  <a:pt x="71354" y="167375"/>
                  <a:pt x="167375" y="71354"/>
                  <a:pt x="285416" y="71354"/>
                </a:cubicBezTo>
                <a:cubicBezTo>
                  <a:pt x="403456" y="71354"/>
                  <a:pt x="499477" y="167375"/>
                  <a:pt x="499477" y="285416"/>
                </a:cubicBezTo>
                <a:cubicBezTo>
                  <a:pt x="499477" y="403456"/>
                  <a:pt x="403456" y="499477"/>
                  <a:pt x="285416" y="499477"/>
                </a:cubicBezTo>
                <a:close/>
              </a:path>
            </a:pathLst>
          </a:custGeom>
          <a:solidFill>
            <a:schemeClr val="accent1"/>
          </a:solidFill>
          <a:ln w="35123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  <p:sp>
        <p:nvSpPr>
          <p:cNvPr id="52" name="Forma libre 120">
            <a:extLst>
              <a:ext uri="{FF2B5EF4-FFF2-40B4-BE49-F238E27FC236}">
                <a16:creationId xmlns:a16="http://schemas.microsoft.com/office/drawing/2014/main" id="{C5A51B19-9924-8349-82FC-63E7F3DFD1BC}"/>
              </a:ext>
            </a:extLst>
          </p:cNvPr>
          <p:cNvSpPr/>
          <p:nvPr/>
        </p:nvSpPr>
        <p:spPr>
          <a:xfrm>
            <a:off x="5857019" y="1992749"/>
            <a:ext cx="222990" cy="95567"/>
          </a:xfrm>
          <a:custGeom>
            <a:avLst/>
            <a:gdLst>
              <a:gd name="connsiteX0" fmla="*/ 124874 w 249738"/>
              <a:gd name="connsiteY0" fmla="*/ 9 h 107030"/>
              <a:gd name="connsiteX1" fmla="*/ 5 w 249738"/>
              <a:gd name="connsiteY1" fmla="*/ 107040 h 107030"/>
              <a:gd name="connsiteX2" fmla="*/ 249743 w 249738"/>
              <a:gd name="connsiteY2" fmla="*/ 107040 h 107030"/>
              <a:gd name="connsiteX3" fmla="*/ 124874 w 249738"/>
              <a:gd name="connsiteY3" fmla="*/ 9 h 10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738" h="107030">
                <a:moveTo>
                  <a:pt x="124874" y="9"/>
                </a:moveTo>
                <a:cubicBezTo>
                  <a:pt x="55911" y="9"/>
                  <a:pt x="5" y="47928"/>
                  <a:pt x="5" y="107040"/>
                </a:cubicBezTo>
                <a:lnTo>
                  <a:pt x="249743" y="107040"/>
                </a:lnTo>
                <a:cubicBezTo>
                  <a:pt x="249743" y="47928"/>
                  <a:pt x="193837" y="9"/>
                  <a:pt x="124874" y="9"/>
                </a:cubicBezTo>
                <a:close/>
              </a:path>
            </a:pathLst>
          </a:custGeom>
          <a:solidFill>
            <a:schemeClr val="accent1"/>
          </a:solidFill>
          <a:ln w="35123" cap="flat">
            <a:noFill/>
            <a:prstDash val="solid"/>
            <a:miter/>
          </a:ln>
        </p:spPr>
        <p:txBody>
          <a:bodyPr rtlCol="0" anchor="ctr"/>
          <a:lstStyle/>
          <a:p>
            <a:pPr defTabSz="914217"/>
            <a:endParaRPr lang="es-MX">
              <a:solidFill>
                <a:srgbClr val="989998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13701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810A7A-B973-7EAF-67D1-4250DF62269D}"/>
              </a:ext>
            </a:extLst>
          </p:cNvPr>
          <p:cNvSpPr/>
          <p:nvPr/>
        </p:nvSpPr>
        <p:spPr>
          <a:xfrm>
            <a:off x="3463407" y="2302309"/>
            <a:ext cx="413542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53E95-3DB1-F525-5E4E-B8421775734C}"/>
              </a:ext>
            </a:extLst>
          </p:cNvPr>
          <p:cNvSpPr txBox="1"/>
          <p:nvPr/>
        </p:nvSpPr>
        <p:spPr>
          <a:xfrm>
            <a:off x="8456761" y="4754594"/>
            <a:ext cx="3336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US Accidents (2016 - 2023)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BC3E3-4566-90E8-C382-E111018289C6}"/>
              </a:ext>
            </a:extLst>
          </p:cNvPr>
          <p:cNvSpPr txBox="1"/>
          <p:nvPr/>
        </p:nvSpPr>
        <p:spPr>
          <a:xfrm>
            <a:off x="8525773" y="5235915"/>
            <a:ext cx="265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Tableau_Dashboad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8915F-BBD0-4B68-D880-85C7C60A3FC4}"/>
              </a:ext>
            </a:extLst>
          </p:cNvPr>
          <p:cNvSpPr txBox="1"/>
          <p:nvPr/>
        </p:nvSpPr>
        <p:spPr>
          <a:xfrm>
            <a:off x="8456761" y="5721071"/>
            <a:ext cx="3430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4"/>
              </a:rPr>
              <a:t>sameer-marwadi</a:t>
            </a:r>
            <a:r>
              <a:rPr lang="en-US" dirty="0">
                <a:hlinkClick r:id="rId4"/>
              </a:rPr>
              <a:t>/AI_Capstone_1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DE152-FEB0-8E95-9036-9CF51E5749D2}"/>
              </a:ext>
            </a:extLst>
          </p:cNvPr>
          <p:cNvSpPr txBox="1"/>
          <p:nvPr/>
        </p:nvSpPr>
        <p:spPr>
          <a:xfrm>
            <a:off x="5917721" y="4269438"/>
            <a:ext cx="405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Reference Links: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C2445E-D908-1B93-347A-298490ABC0FC}"/>
              </a:ext>
            </a:extLst>
          </p:cNvPr>
          <p:cNvSpPr/>
          <p:nvPr/>
        </p:nvSpPr>
        <p:spPr>
          <a:xfrm>
            <a:off x="5986732" y="4754594"/>
            <a:ext cx="2426898" cy="4118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B4D16-91DE-6557-CE3D-F136DEF7E5AB}"/>
              </a:ext>
            </a:extLst>
          </p:cNvPr>
          <p:cNvSpPr/>
          <p:nvPr/>
        </p:nvSpPr>
        <p:spPr>
          <a:xfrm>
            <a:off x="5986732" y="5235915"/>
            <a:ext cx="2426898" cy="4118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1E10A5-91E9-0976-AE72-A96F1C18A7A0}"/>
              </a:ext>
            </a:extLst>
          </p:cNvPr>
          <p:cNvSpPr/>
          <p:nvPr/>
        </p:nvSpPr>
        <p:spPr>
          <a:xfrm>
            <a:off x="5986732" y="5699822"/>
            <a:ext cx="2426898" cy="4118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06896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414">
      <a:dk1>
        <a:srgbClr val="999999"/>
      </a:dk1>
      <a:lt1>
        <a:srgbClr val="FFFFFF"/>
      </a:lt1>
      <a:dk2>
        <a:srgbClr val="364556"/>
      </a:dk2>
      <a:lt2>
        <a:srgbClr val="FFFFFF"/>
      </a:lt2>
      <a:accent1>
        <a:srgbClr val="1E81CA"/>
      </a:accent1>
      <a:accent2>
        <a:srgbClr val="4BDCED"/>
      </a:accent2>
      <a:accent3>
        <a:srgbClr val="06548F"/>
      </a:accent3>
      <a:accent4>
        <a:srgbClr val="1E81CA"/>
      </a:accent4>
      <a:accent5>
        <a:srgbClr val="4BDCED"/>
      </a:accent5>
      <a:accent6>
        <a:srgbClr val="06548F"/>
      </a:accent6>
      <a:hlink>
        <a:srgbClr val="9FD368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2_Office Theme">
  <a:themeElements>
    <a:clrScheme name="Health 2">
      <a:dk1>
        <a:srgbClr val="989998"/>
      </a:dk1>
      <a:lt1>
        <a:srgbClr val="FFFFFF"/>
      </a:lt1>
      <a:dk2>
        <a:srgbClr val="353E49"/>
      </a:dk2>
      <a:lt2>
        <a:srgbClr val="FDFFFE"/>
      </a:lt2>
      <a:accent1>
        <a:srgbClr val="60B5B2"/>
      </a:accent1>
      <a:accent2>
        <a:srgbClr val="FCBB47"/>
      </a:accent2>
      <a:accent3>
        <a:srgbClr val="358DDC"/>
      </a:accent3>
      <a:accent4>
        <a:srgbClr val="E87532"/>
      </a:accent4>
      <a:accent5>
        <a:srgbClr val="153D68"/>
      </a:accent5>
      <a:accent6>
        <a:srgbClr val="474747"/>
      </a:accent6>
      <a:hlink>
        <a:srgbClr val="CCCCFF"/>
      </a:hlink>
      <a:folHlink>
        <a:srgbClr val="B2B2B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3_Office Theme">
  <a:themeElements>
    <a:clrScheme name="Custom 637">
      <a:dk1>
        <a:srgbClr val="999999"/>
      </a:dk1>
      <a:lt1>
        <a:srgbClr val="FFFFFF"/>
      </a:lt1>
      <a:dk2>
        <a:srgbClr val="494949"/>
      </a:dk2>
      <a:lt2>
        <a:srgbClr val="FFFFFF"/>
      </a:lt2>
      <a:accent1>
        <a:srgbClr val="A1CC1C"/>
      </a:accent1>
      <a:accent2>
        <a:srgbClr val="56C1B8"/>
      </a:accent2>
      <a:accent3>
        <a:srgbClr val="7E94B9"/>
      </a:accent3>
      <a:accent4>
        <a:srgbClr val="DBDE6C"/>
      </a:accent4>
      <a:accent5>
        <a:srgbClr val="FFC000"/>
      </a:accent5>
      <a:accent6>
        <a:srgbClr val="A1CC1C"/>
      </a:accent6>
      <a:hlink>
        <a:srgbClr val="F9F98F"/>
      </a:hlink>
      <a:folHlink>
        <a:srgbClr val="FFC0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4_Office Theme">
  <a:themeElements>
    <a:clrScheme name="Custom 474">
      <a:dk1>
        <a:srgbClr val="999999"/>
      </a:dk1>
      <a:lt1>
        <a:srgbClr val="FFFFFF"/>
      </a:lt1>
      <a:dk2>
        <a:srgbClr val="494949"/>
      </a:dk2>
      <a:lt2>
        <a:srgbClr val="FFFFFF"/>
      </a:lt2>
      <a:accent1>
        <a:srgbClr val="F84244"/>
      </a:accent1>
      <a:accent2>
        <a:srgbClr val="4A47DC"/>
      </a:accent2>
      <a:accent3>
        <a:srgbClr val="367FFD"/>
      </a:accent3>
      <a:accent4>
        <a:srgbClr val="99A2C9"/>
      </a:accent4>
      <a:accent5>
        <a:srgbClr val="F84244"/>
      </a:accent5>
      <a:accent6>
        <a:srgbClr val="4B47F3"/>
      </a:accent6>
      <a:hlink>
        <a:srgbClr val="F33B48"/>
      </a:hlink>
      <a:folHlink>
        <a:srgbClr val="FFC0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6.xml><?xml version="1.0" encoding="utf-8"?>
<a:theme xmlns:a="http://schemas.openxmlformats.org/drawingml/2006/main" name="5_Office Theme">
  <a:themeElements>
    <a:clrScheme name="Circle Infographics">
      <a:dk1>
        <a:srgbClr val="7F7A7E"/>
      </a:dk1>
      <a:lt1>
        <a:srgbClr val="FFFFFF"/>
      </a:lt1>
      <a:dk2>
        <a:srgbClr val="001C5E"/>
      </a:dk2>
      <a:lt2>
        <a:srgbClr val="FFFFFF"/>
      </a:lt2>
      <a:accent1>
        <a:srgbClr val="16ABBA"/>
      </a:accent1>
      <a:accent2>
        <a:srgbClr val="F76466"/>
      </a:accent2>
      <a:accent3>
        <a:srgbClr val="FEA998"/>
      </a:accent3>
      <a:accent4>
        <a:srgbClr val="FFAB69"/>
      </a:accent4>
      <a:accent5>
        <a:srgbClr val="F8E146"/>
      </a:accent5>
      <a:accent6>
        <a:srgbClr val="15ABB9"/>
      </a:accent6>
      <a:hlink>
        <a:srgbClr val="F76366"/>
      </a:hlink>
      <a:folHlink>
        <a:srgbClr val="FEA898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</TotalTime>
  <Words>1316</Words>
  <Application>Microsoft Office PowerPoint</Application>
  <PresentationFormat>Widescreen</PresentationFormat>
  <Paragraphs>192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15</vt:i4>
      </vt:variant>
    </vt:vector>
  </HeadingPairs>
  <TitlesOfParts>
    <vt:vector size="31" baseType="lpstr">
      <vt:lpstr>Arial</vt:lpstr>
      <vt:lpstr>Calibri</vt:lpstr>
      <vt:lpstr>Calibri Light</vt:lpstr>
      <vt:lpstr>Lato Light</vt:lpstr>
      <vt:lpstr>LatoWeb</vt:lpstr>
      <vt:lpstr>Montserrat Light</vt:lpstr>
      <vt:lpstr>Poppins</vt:lpstr>
      <vt:lpstr>Poppins Medium</vt:lpstr>
      <vt:lpstr>Poppins SemiBold</vt:lpstr>
      <vt:lpstr>Roboto Medium</vt:lpstr>
      <vt:lpstr>Office Theme</vt:lpstr>
      <vt:lpstr>1_Office Theme</vt:lpstr>
      <vt:lpstr>2_Office Theme</vt:lpstr>
      <vt:lpstr>3_Office Theme</vt:lpstr>
      <vt:lpstr>4_Office Theme</vt:lpstr>
      <vt:lpstr>5_Office Theme</vt:lpstr>
      <vt:lpstr>US Accident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Sameer Marwadi</dc:creator>
  <cp:lastModifiedBy>Sameer Marwadi</cp:lastModifiedBy>
  <cp:revision>14</cp:revision>
  <dcterms:created xsi:type="dcterms:W3CDTF">2025-12-09T04:32:55Z</dcterms:created>
  <dcterms:modified xsi:type="dcterms:W3CDTF">2025-12-11T21:02:59Z</dcterms:modified>
</cp:coreProperties>
</file>